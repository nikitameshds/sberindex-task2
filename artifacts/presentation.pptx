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slides/charts/chart4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slides/charts/chart5.xml" ContentType="application/vnd.openxmlformats-officedocument.drawingml.chart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slides/charts/chart6.xml" ContentType="application/vnd.openxmlformats-officedocument.drawingml.chart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984604aaf054ef6" /><Relationship Type="http://schemas.openxmlformats.org/officeDocument/2006/relationships/extended-properties" Target="/docProps/app.xml" Id="R1df4753996b94422" /><Relationship Type="http://schemas.openxmlformats.org/officeDocument/2006/relationships/officeDocument" Target="/ppt/presentation.xml" Id="R1b93d04269bc4a9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c7e7d2928fa4e20"/>
  </p:sldMasterIdLst>
  <p:notesMasterIdLst>
    <p:notesMasterId xmlns:r="http://schemas.openxmlformats.org/officeDocument/2006/relationships" r:id="R0c92a5ab789743be"/>
  </p:notesMasterIdLst>
  <p:sldIdLst>
    <p:sldId xmlns:r="http://schemas.openxmlformats.org/officeDocument/2006/relationships" id="256" r:id="Rdd0b1771827c4eb6"/>
    <p:sldId xmlns:r="http://schemas.openxmlformats.org/officeDocument/2006/relationships" id="257" r:id="R528689f63080452e"/>
    <p:sldId xmlns:r="http://schemas.openxmlformats.org/officeDocument/2006/relationships" id="258" r:id="Re8e1728634734800"/>
    <p:sldId xmlns:r="http://schemas.openxmlformats.org/officeDocument/2006/relationships" id="259" r:id="R5b7d03fa755d4767"/>
    <p:sldId xmlns:r="http://schemas.openxmlformats.org/officeDocument/2006/relationships" id="260" r:id="R22f80406ce204296"/>
    <p:sldId xmlns:r="http://schemas.openxmlformats.org/officeDocument/2006/relationships" id="261" r:id="Rf11c78988a3847b3"/>
    <p:sldId xmlns:r="http://schemas.openxmlformats.org/officeDocument/2006/relationships" id="262" r:id="R076844d28bda4cee"/>
    <p:sldId xmlns:r="http://schemas.openxmlformats.org/officeDocument/2006/relationships" id="263" r:id="R21c8f8d9a6f94e66"/>
    <p:sldId xmlns:r="http://schemas.openxmlformats.org/officeDocument/2006/relationships" id="264" r:id="Ra2235403e02b4579"/>
    <p:sldId xmlns:r="http://schemas.openxmlformats.org/officeDocument/2006/relationships" id="265" r:id="Rc8c232c0b931452c"/>
    <p:sldId xmlns:r="http://schemas.openxmlformats.org/officeDocument/2006/relationships" id="266" r:id="Rebf4944cdcd84f5f"/>
    <p:sldId xmlns:r="http://schemas.openxmlformats.org/officeDocument/2006/relationships" id="267" r:id="R1852a9ea7e8f4e69"/>
    <p:sldId xmlns:r="http://schemas.openxmlformats.org/officeDocument/2006/relationships" id="268" r:id="Rd7c2ad14052e4986"/>
    <p:sldId xmlns:r="http://schemas.openxmlformats.org/officeDocument/2006/relationships" id="269" r:id="Rc74a251e7fb34178"/>
    <p:sldId xmlns:r="http://schemas.openxmlformats.org/officeDocument/2006/relationships" id="270" r:id="Rbd72c80095ea4638"/>
    <p:sldId xmlns:r="http://schemas.openxmlformats.org/officeDocument/2006/relationships" id="271" r:id="R4e202b32bde643be"/>
    <p:sldId xmlns:r="http://schemas.openxmlformats.org/officeDocument/2006/relationships" id="272" r:id="Ra202f9c1572d443d"/>
    <p:sldId xmlns:r="http://schemas.openxmlformats.org/officeDocument/2006/relationships" id="273" r:id="Rac3e482d46d34ac7"/>
    <p:sldId xmlns:r="http://schemas.openxmlformats.org/officeDocument/2006/relationships" id="274" r:id="R18454d994fd34d4f"/>
    <p:sldId xmlns:r="http://schemas.openxmlformats.org/officeDocument/2006/relationships" id="275" r:id="Radd40b418c21405f"/>
    <p:sldId xmlns:r="http://schemas.openxmlformats.org/officeDocument/2006/relationships" id="276" r:id="R41e3bfe151f5405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821fce4a0f64151" /><Relationship Type="http://schemas.openxmlformats.org/officeDocument/2006/relationships/slideMaster" Target="/ppt/slideMasters/slideMaster1.xml" Id="R4c7e7d2928fa4e20" /><Relationship Type="http://schemas.openxmlformats.org/officeDocument/2006/relationships/notesMaster" Target="/ppt/notesMasters/notesMaster1.xml" Id="R0c92a5ab789743be" /><Relationship Type="http://schemas.openxmlformats.org/officeDocument/2006/relationships/presProps" Target="/ppt/presProps.xml" Id="Rd2026e0a8ad74a67" /><Relationship Type="http://schemas.openxmlformats.org/officeDocument/2006/relationships/tableStyles" Target="/ppt/tableStyles.xml" Id="Rdfb8bd3229c242ee" /><Relationship Type="http://schemas.openxmlformats.org/officeDocument/2006/relationships/slide" Target="/ppt/slides/slide1.xml" Id="Rdd0b1771827c4eb6" /><Relationship Type="http://schemas.openxmlformats.org/officeDocument/2006/relationships/slide" Target="/ppt/slides/slide2.xml" Id="R528689f63080452e" /><Relationship Type="http://schemas.openxmlformats.org/officeDocument/2006/relationships/slide" Target="/ppt/slides/slide3.xml" Id="Re8e1728634734800" /><Relationship Type="http://schemas.openxmlformats.org/officeDocument/2006/relationships/slide" Target="/ppt/slides/slide4.xml" Id="R5b7d03fa755d4767" /><Relationship Type="http://schemas.openxmlformats.org/officeDocument/2006/relationships/slide" Target="/ppt/slides/slide5.xml" Id="R22f80406ce204296" /><Relationship Type="http://schemas.openxmlformats.org/officeDocument/2006/relationships/slide" Target="/ppt/slides/slide6.xml" Id="Rf11c78988a3847b3" /><Relationship Type="http://schemas.openxmlformats.org/officeDocument/2006/relationships/slide" Target="/ppt/slides/slide7.xml" Id="R076844d28bda4cee" /><Relationship Type="http://schemas.openxmlformats.org/officeDocument/2006/relationships/slide" Target="/ppt/slides/slide8.xml" Id="R21c8f8d9a6f94e66" /><Relationship Type="http://schemas.openxmlformats.org/officeDocument/2006/relationships/slide" Target="/ppt/slides/slide9.xml" Id="Ra2235403e02b4579" /><Relationship Type="http://schemas.openxmlformats.org/officeDocument/2006/relationships/slide" Target="/ppt/slides/slide10.xml" Id="Rc8c232c0b931452c" /><Relationship Type="http://schemas.openxmlformats.org/officeDocument/2006/relationships/slide" Target="/ppt/slides/slide11.xml" Id="Rebf4944cdcd84f5f" /><Relationship Type="http://schemas.openxmlformats.org/officeDocument/2006/relationships/slide" Target="/ppt/slides/slide12.xml" Id="R1852a9ea7e8f4e69" /><Relationship Type="http://schemas.openxmlformats.org/officeDocument/2006/relationships/slide" Target="/ppt/slides/slide13.xml" Id="Rd7c2ad14052e4986" /><Relationship Type="http://schemas.openxmlformats.org/officeDocument/2006/relationships/slide" Target="/ppt/slides/slide14.xml" Id="Rc74a251e7fb34178" /><Relationship Type="http://schemas.openxmlformats.org/officeDocument/2006/relationships/slide" Target="/ppt/slides/slide15.xml" Id="Rbd72c80095ea4638" /><Relationship Type="http://schemas.openxmlformats.org/officeDocument/2006/relationships/slide" Target="/ppt/slides/slide16.xml" Id="R4e202b32bde643be" /><Relationship Type="http://schemas.openxmlformats.org/officeDocument/2006/relationships/slide" Target="/ppt/slides/slide17.xml" Id="Ra202f9c1572d443d" /><Relationship Type="http://schemas.openxmlformats.org/officeDocument/2006/relationships/slide" Target="/ppt/slides/slide18.xml" Id="Rac3e482d46d34ac7" /><Relationship Type="http://schemas.openxmlformats.org/officeDocument/2006/relationships/slide" Target="/ppt/slides/slide19.xml" Id="R18454d994fd34d4f" /><Relationship Type="http://schemas.openxmlformats.org/officeDocument/2006/relationships/slide" Target="/ppt/slides/slide20.xml" Id="Radd40b418c21405f" /><Relationship Type="http://schemas.openxmlformats.org/officeDocument/2006/relationships/slide" Target="/ppt/slides/slide21.xml" Id="R41e3bfe151f5405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1b7af493df840b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4e56f33693d46de" /><Relationship Type="http://schemas.openxmlformats.org/officeDocument/2006/relationships/notesMaster" Target="/ppt/notesMasters/notesMaster1.xml" Id="Rb6209c86459043b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57ab5cfad624c42" /><Relationship Type="http://schemas.openxmlformats.org/officeDocument/2006/relationships/notesMaster" Target="/ppt/notesMasters/notesMaster1.xml" Id="R958596398c66429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978b3b645a6405c" /><Relationship Type="http://schemas.openxmlformats.org/officeDocument/2006/relationships/notesMaster" Target="/ppt/notesMasters/notesMaster1.xml" Id="R9d30938f8416483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2e268626e0345fb" /><Relationship Type="http://schemas.openxmlformats.org/officeDocument/2006/relationships/notesMaster" Target="/ppt/notesMasters/notesMaster1.xml" Id="R60af4a70c5534d9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34fc8e05c4e4f27" /><Relationship Type="http://schemas.openxmlformats.org/officeDocument/2006/relationships/notesMaster" Target="/ppt/notesMasters/notesMaster1.xml" Id="Ra4e25ef06bfd4ab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e165730951c416d" /><Relationship Type="http://schemas.openxmlformats.org/officeDocument/2006/relationships/notesMaster" Target="/ppt/notesMasters/notesMaster1.xml" Id="R323c13e93e164e1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64d2ecffc5040b2" /><Relationship Type="http://schemas.openxmlformats.org/officeDocument/2006/relationships/notesMaster" Target="/ppt/notesMasters/notesMaster1.xml" Id="R62f7b0d7b98448f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a10ae2fedc34922" /><Relationship Type="http://schemas.openxmlformats.org/officeDocument/2006/relationships/notesMaster" Target="/ppt/notesMasters/notesMaster1.xml" Id="R8682feb36f19475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e36f8799d5a4212" /><Relationship Type="http://schemas.openxmlformats.org/officeDocument/2006/relationships/notesMaster" Target="/ppt/notesMasters/notesMaster1.xml" Id="R71d0fd380588474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fa0c4bd358845c4" /><Relationship Type="http://schemas.openxmlformats.org/officeDocument/2006/relationships/notesMaster" Target="/ppt/notesMasters/notesMaster1.xml" Id="Re5cea3482de8472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05216158f3746dc" /><Relationship Type="http://schemas.openxmlformats.org/officeDocument/2006/relationships/notesMaster" Target="/ppt/notesMasters/notesMaster1.xml" Id="Rca379d5423ea471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aa10d1e6fd84199" /><Relationship Type="http://schemas.openxmlformats.org/officeDocument/2006/relationships/notesMaster" Target="/ppt/notesMasters/notesMaster1.xml" Id="R94ab1f4981b74af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881ea6f859d4bd5" /><Relationship Type="http://schemas.openxmlformats.org/officeDocument/2006/relationships/notesMaster" Target="/ppt/notesMasters/notesMaster1.xml" Id="R49ea8cee9fb0475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9226824bedd43a7" /><Relationship Type="http://schemas.openxmlformats.org/officeDocument/2006/relationships/notesMaster" Target="/ppt/notesMasters/notesMaster1.xml" Id="R47560037d0f844f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37d0c8941254ae2" /><Relationship Type="http://schemas.openxmlformats.org/officeDocument/2006/relationships/notesMaster" Target="/ppt/notesMasters/notesMaster1.xml" Id="Raa48e4d84a1c403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d00c1a23e5343f7" /><Relationship Type="http://schemas.openxmlformats.org/officeDocument/2006/relationships/notesMaster" Target="/ppt/notesMasters/notesMaster1.xml" Id="Rb69827edac3041f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704e4f839664fcd" /><Relationship Type="http://schemas.openxmlformats.org/officeDocument/2006/relationships/notesMaster" Target="/ppt/notesMasters/notesMaster1.xml" Id="Rc10f8f023f5a40f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c39da22b2ba4aab" /><Relationship Type="http://schemas.openxmlformats.org/officeDocument/2006/relationships/notesMaster" Target="/ppt/notesMasters/notesMaster1.xml" Id="Ra8764bf1cf824733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18ea44080aa4cb1" /><Relationship Type="http://schemas.openxmlformats.org/officeDocument/2006/relationships/notesMaster" Target="/ppt/notesMasters/notesMaster1.xml" Id="R7c6d488ed85a493e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152fd728d9c04e19" /><Relationship Type="http://schemas.openxmlformats.org/officeDocument/2006/relationships/notesMaster" Target="/ppt/notesMasters/notesMaster1.xml" Id="R205e8d56149c4a85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f7fa1f8aebf14196" /><Relationship Type="http://schemas.openxmlformats.org/officeDocument/2006/relationships/notesMaster" Target="/ppt/notesMasters/notesMaster1.xml" Id="Rb2a85f86554247f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Team identity provided by the user: MISIS X; participants Мещеряков Никита and Соколова Юлия. QR and native hyperlink target the public single-root submission repository. Viewer hyperlink targets GitHub Pages. Private research repository history is not published. Sources: jury_guide.json andreport. Retrospectivearchive2024, no independent2025facts.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Criterionweightsfromcompetition total100percent. Exactgainvsfixedpooled41.5339/23.3389/28.4866/55.7996; displayrounded42/23/28/56. h12bestdisabledcontrol54.53 retainedreport. EWMAevaluationonsetF1.646650, FAR2/4320*100=.0463. Foundationcompareactualsavedtables, notbenchmarkbreadthscore. Newsquoteclassificationnotspendingcausality. Slides19numbering andreportsectionmapping verifiedinpackagingaudit.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data/consumption.parquet; reports/full_cohort_review/coverage.csv; data_sources.json; growthsource officialpublication. Cohorteligibility determined onlyfrom2023. Geography2024snapshot availability unverified. Rawpanel2190IDs vs2075eligible vsvariable2031scored. No independent new-year test.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src/sberindex/forecasting/growth_bridge_review.py; configs/growth_bridge_review.json; reports/growth_bridge_review/selection.json. https://rosstat.gov.ru/storage/mediabank/osn-11-2023.pdf; https://rosstat.gov.ru/central-news?page=52&amp;per_page=10&amp;print=1. Source available from28Dec2023 scenario, search-index extraction, immutability unverified. Choice rule defined after inspection2024; no independent holdout.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reports/foundation_expansion_review/fullpanel_summary.csv/fullpanel_matched_predictions.parquet; same60700pairs full eligiblepanel, 2031/2031/2029/2023MO. Earlier251MOtable is superseded here. MainfullcohortselectedMAE932/1272/1371/1321 in report; This table and grouped-bar chart use the full matched panel. Bar control is the fixed Prophet pooled profile at every horizon, matching slides2/6 and README; h12 control2989 and gain55.8percent. directHGBh12 onlyfallback excluded. Covariate rowchronos2_profile notgroupedmodel; separate grouped2177to1589sourcefoundation_covariate_review. WithinMO R2pooledSSE overwithinactualvariation, notmeanlocalR2, notYoYR2. h12 denominator0, no R2.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forecast_uncertainty_review/cluster_intervals.csv, temporal_tests.csv. PaireddatebalancedMAE; slide uses fixed pooled comparator all horizons; h12 gain55.80 CIregion50.52to60.97; besttestedh12disabled54.53 separately in report. Crosssectional CIconditional2024, nottemporal CI; postselection tests exploratory. DM h1T12/h3T10, HACBartlett h-1, HLN,tT-1,Holm6tests none5%; requested posthoc two pooled-horizon family h1 p=.03406, h3 p=.30684, not preregistered. h6 numericpossiblebutwithheld byauditminT=max(8,2h+1), h12T1 undefined.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fullpanel_summary.csv selectedh1 MAE932.296 WAPE3.040075 R2within.818567 =1-SSE/sum((actual-meanactualperMO)^2). No claim of variance of firstdifferences or82percent of all changes correctlypredicted. Mean comparator uses evaluationfacts and is descriptive,notoperationalforecast. WAPE ratio rows3.04notdirectMAEmeanratio due dateweighting. SyntheticF1/FAR/delay andrealmonitoringburden different populations, delay420matched excludes300misses. CI conditional2024,nottemporal.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presentation_claim_checks/evidence.json andgrid_check.csv. Convexbound: k0/1 forecastsaffineing, date-balancedMAE convex, endpointmaxat7%/17% strictlybelowbesttestedProphetallh. This isfixed diagnosticnot newgselection. NovCPI7.48released8Dec2023 admissible; annualDecCPI7.4released12Jan2024 excludedfromasofslide, retainedreportexpost. Groupcohortfull60700pairs, not251modeltable.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category_growth_review/full_pooled_summary.csv. Exactpairswithineachcategory, eligibility2023only, fixedg17.2 andweight.5, frozen pooledProphet asprimarynewcategorycontrol chosenpriorresults. Totalall3Prophetcached separately; no percategory tuning. Marketplace losesh3/h6/h12; g0ablationfullcategoryresults retained.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foundation_expansion_review/summary.csv, bolt_epoch1_training.json,provenance.json. New3modelsall3modes exactly7532keys; causalratio, fixedensemble50/50 nottuned. FullBoltcontextJanJun2023/trainJulSep/validationOctDec, fixed1epoch17batches,no2024selection. Mainnewcheckpointdateslater2024 contaminationunknown. TiRexupstreamGitdynamicpadding; TimesFM2.5torchCPU notMLX3.0.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foundation_expansion_review/summary.csv andfoundation_covariate_review/summary.csv. TimesFM 1-1146.59/2078.02=.4482; Bolt epoch1 1-1885.67/2416.25=.2196; groupedChronos MAE2176.66to1589 from251MO h1 earliercontrolledreview. h12range foundationvariantsincludingseasonalratio4966.17/selected1357.02=3.6596 to12612.81/1357.02=9.2945. NewMO meanszero-shot with history,notcoldstartzeroobservations. No claim benefit universally orallmodeslonghorizons.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Source:presentation_comparison_cases/case_months.csv/calibration.csv/evidence.json. Ufa fixednamedcapital, low2023expensemunicipaldistrictfixedby2023proxy notpopulation norerrors, Orskfixedstresscase. Allcurves selectedhierarchy05_growth_bridge samecachedpoints. AprDecplot onlysinceJanMarinsufficientprevious3months. Forecastissuetargetstart assumedlag0 includespreviousmonthknownthen. Bandsnewposthocillustrative80rankglobalnormalizedresidualquantile, notoldblendbands orformalcoverageguarantee; serialdependence. Tables sourceincludesJanMarwithoutbands. Values rub/consumer, eachyaxisownscale, notsingleyearaheadforecast.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reports/presentation_claim_checks/evidence.json, short_history/comparison.csv/series_metrics.csv. Selectionfixedbeforeevaluation, eligibilitybestonlineonsetF1notfastest. Offlinetwoshadedrowsfullfuturesequencecannotcompareonline delay. FARdenominator4320nullmomonths/2alarms EWMA. EWMArecall420/720=.583. Delayonlytp±1monthmatchedfirstonsetmax(0,pred-onset), missesexcluded. Othermethodsfastdelaydoesnotimplyhighrecall.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reports/peer_residual_review/monitoring_burden.csv; protocol. Leave-one-outregionalmedian nofuturetimeinputs. Snapshot2024nottruehistoricalgeography. Thresholdssyntheticfrozen, noOrsktuning. Localchannelcanremovecommonregionalshock; retain ownchannel separately. Reducedburden doesnotprovebetterrecall.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reports/peer_residual_review/case_yoy.csv, alarm_panel.csv/REPORT.md. Orsk1673 Orenburg1665. Paireddifference notdifference-in-differencescausality design, Orenburgalsoaffected. All4frozenmethods no2024alarm. Paymentsandrepairplausiblehypothesis; municipalMFC announcesrentsupportMay2inMay6post, notindividualpaymentslinktoaggregateexpense.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Forecast: reports/news_interval_review/summary.csv news_pairs.csv audit.json configs/news_interval_review.json; identical18pairs9MO6dates, originalMCHSregistry, availableatforecast, prior3month80pct residualintervals,2023scale, lag0. Pointunchanged, fixedfactor1.5posthoc; coverage17/18 unchanged width2852.307to4278.461 IS3236.925to4361.646(alpha.2), notimprovement; notappliedtomainmodel. Negative +/-3pct preservedreport. Detection: expandedrecoveredquotedcorpus,differentcoverage fromforecast, source news_body_recovery_20261007 audit/monitoringburden. Commands requirefullarchiveandinstalledpackage. Metadatahistoricalversionunconfirmed. ISsourcehttps://journals.plos.org/ploscompbiol/article?id=10.1371/journal.pcbi.1008618 section2.2.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docs/ARCHITECTURE.md; existingCLIscientificpipeline. Nativeeditablearchitecture. Analystinterfaceisproposedrole/output notclaimeddeployedUI. Selectedpointforecastnonewsnumericfeature; eventcontextonlyuntilcoveragequalified. Controlleddatejoin beforeactualsignalinterpretation. CommandsavailableREADME, intentionallynotonslides.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selected_model_holdout_20261007/freeze_manifest.json and adaptive_growth_holdout_20261007/freeze_manifest.json, growth_rates.csv, change_from_fixed.csv. Both8092rows2023MO origDec2024+h1/3/6/12. Candidate g median ofthree monthly regional medians ofMOYoY, &gt;=10 valid2023eligiblepairs eachmonth. Otherwise lastdocumentedavailable macro17.2; no updatedmacroseriesclaimed. Profile2023 weight.5 unchanged. Median14.79427%, medianforecastchange-2.05267%, individualrange-6.01104to+3.161909%. Both2024diagnosticsidentical because allcrossingsorigDec2023 fallback. Candidateproposedafter2024review anduser2025aggregatecontext, notblind or preregistered. No2025municipalfacts; noindependentmetrics. Lag0assumption. Originalfreezeand75/25preserved.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Unchangedscientificlimitsfromreportsection9 andpreviousslide16. NegativecaseOrsknoalarm retained. Conditionalconfidenceandposthocselectionnotindependenttemporalvalidation. Availabilitylag0scenario. No future shock success or publicdeploymentclaim.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Usefuloutputsareimplementedresearchartifactsandcachedviewer, notliveforecastservice. No new scientificresultorcontestscore. Verifychecksfilesonly,noMAEretraining. Fullarchive required; weightsnotincluded. Finalbenefitsslidefollowslimitationsasrequested.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yoy_shift_review/monitoring_burden.csv, protocol. logyoyleaveoneoutregionalmedian, JanMarcalibration99percentile, AprDec18201targets, nofuturethresholdinputsbutcasesknown. NoOrskAprJunalarm; realFARunknown dueunlabeledabsence. Dashboardofflinecachedresults only, notlivepredictionsorconfirmedfuturealerts.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7c14f54ea44cf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04f3761bcf247f9" /><Relationship Type="http://schemas.openxmlformats.org/officeDocument/2006/relationships/slideLayout" Target="/ppt/slideLayouts/slideLayout1.xml" Id="R9b4d6219b5d74a9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b4d6219b5d74a9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aa29815d794b37" /><Relationship Type="http://schemas.openxmlformats.org/officeDocument/2006/relationships/hyperlink" Target="https://github.com/NikitaMeshDS/sberindex-task2" TargetMode="External" Id="R48d84175b0864ed1" /><Relationship Type="http://schemas.openxmlformats.org/officeDocument/2006/relationships/hyperlink" Target="https://NikitaMeshDS.github.io/sberindex-task2/" TargetMode="External" Id="R1417d7490870419a" /><Relationship Type="http://schemas.openxmlformats.org/officeDocument/2006/relationships/image" Target="/ppt/media/image.png" Id="Re09aa9e4fcbb4a48" /><Relationship Type="http://schemas.openxmlformats.org/officeDocument/2006/relationships/notesSlide" Target="/ppt/notesSlides/notesSlide1.xml" Id="Rc7f95ed487d445f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9a68f2287e46db" /><Relationship Type="http://schemas.openxmlformats.org/officeDocument/2006/relationships/notesSlide" Target="/ppt/notesSlides/notesSlide2.xml" Id="Rc5951b1506c3480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1483ca70f1429a" /><Relationship Type="http://schemas.openxmlformats.org/officeDocument/2006/relationships/notesSlide" Target="/ppt/notesSlides/notesSlide3.xml" Id="R497663ce492d4d4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7aab2fb94c4aea" /><Relationship Type="http://schemas.openxmlformats.org/officeDocument/2006/relationships/image" Target="/ppt/media/image2.png" Id="R3b70dd7262fa4aba" /><Relationship Type="http://schemas.openxmlformats.org/officeDocument/2006/relationships/notesSlide" Target="/ppt/notesSlides/notesSlide4.xml" Id="Rf796ada60cd04b1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8347e7b78f434f" /><Relationship Type="http://schemas.openxmlformats.org/officeDocument/2006/relationships/chart" Target="/ppt/slides/charts/chart1.xml" Id="R350faa30c2924a4b" /><Relationship Type="http://schemas.openxmlformats.org/officeDocument/2006/relationships/notesSlide" Target="/ppt/notesSlides/notesSlide5.xml" Id="R8941372fc47242b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23f6d66181471c" /><Relationship Type="http://schemas.openxmlformats.org/officeDocument/2006/relationships/notesSlide" Target="/ppt/notesSlides/notesSlide6.xml" Id="Rba9d66329a3340b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d20f2793c1419d" /><Relationship Type="http://schemas.openxmlformats.org/officeDocument/2006/relationships/notesSlide" Target="/ppt/notesSlides/notesSlide7.xml" Id="R64540bdd4df34ba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35ff510f4248ca" /><Relationship Type="http://schemas.openxmlformats.org/officeDocument/2006/relationships/notesSlide" Target="/ppt/notesSlides/notesSlide8.xml" Id="R6073cc095ee3481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7baa3e0aae4b25" /><Relationship Type="http://schemas.openxmlformats.org/officeDocument/2006/relationships/notesSlide" Target="/ppt/notesSlides/notesSlide9.xml" Id="Ra596c57f76b14c8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ccc030620e4bf1" /><Relationship Type="http://schemas.openxmlformats.org/officeDocument/2006/relationships/notesSlide" Target="/ppt/notesSlides/notesSlide10.xml" Id="R3255d04c561d41d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a004c195a64aa3" /><Relationship Type="http://schemas.openxmlformats.org/officeDocument/2006/relationships/notesSlide" Target="/ppt/notesSlides/notesSlide11.xml" Id="Re39099412887454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bbae67a4274f6f" /><Relationship Type="http://schemas.openxmlformats.org/officeDocument/2006/relationships/chart" Target="/ppt/slides/charts/chart2.xml" Id="Rd765b13eea1347b7" /><Relationship Type="http://schemas.openxmlformats.org/officeDocument/2006/relationships/chart" Target="/ppt/slides/charts/chart3.xml" Id="R059fbba1b00642a2" /><Relationship Type="http://schemas.openxmlformats.org/officeDocument/2006/relationships/chart" Target="/ppt/slides/charts/chart4.xml" Id="Rfff43c597ec04674" /><Relationship Type="http://schemas.openxmlformats.org/officeDocument/2006/relationships/notesSlide" Target="/ppt/notesSlides/notesSlide12.xml" Id="Rb0251fdd242f4cf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b185e31c0d4e6f" /><Relationship Type="http://schemas.openxmlformats.org/officeDocument/2006/relationships/chart" Target="/ppt/slides/charts/chart5.xml" Id="R2bbd0ad31a6c4053" /><Relationship Type="http://schemas.openxmlformats.org/officeDocument/2006/relationships/notesSlide" Target="/ppt/notesSlides/notesSlide13.xml" Id="R764316301b70471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631b7aa7714119" /><Relationship Type="http://schemas.openxmlformats.org/officeDocument/2006/relationships/image" Target="/ppt/media/image3.png" Id="R7054a5eb35514b35" /><Relationship Type="http://schemas.openxmlformats.org/officeDocument/2006/relationships/notesSlide" Target="/ppt/notesSlides/notesSlide14.xml" Id="R4ee3fb4ec69943b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7b8281b28a4537" /><Relationship Type="http://schemas.openxmlformats.org/officeDocument/2006/relationships/chart" Target="/ppt/slides/charts/chart6.xml" Id="Rcf8c9088f89b4150" /><Relationship Type="http://schemas.openxmlformats.org/officeDocument/2006/relationships/notesSlide" Target="/ppt/notesSlides/notesSlide15.xml" Id="R46ef817b2673447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d5f9abdee34391" /><Relationship Type="http://schemas.openxmlformats.org/officeDocument/2006/relationships/notesSlide" Target="/ppt/notesSlides/notesSlide16.xml" Id="R59adededbce0451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70d782a1774ef9" /><Relationship Type="http://schemas.openxmlformats.org/officeDocument/2006/relationships/notesSlide" Target="/ppt/notesSlides/notesSlide17.xml" Id="Ra3b394d30c83413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9a222f7c5c4f01" /><Relationship Type="http://schemas.openxmlformats.org/officeDocument/2006/relationships/notesSlide" Target="/ppt/notesSlides/notesSlide18.xml" Id="R81527d7a16af493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164440a7f34298" /><Relationship Type="http://schemas.openxmlformats.org/officeDocument/2006/relationships/notesSlide" Target="/ppt/notesSlides/notesSlide19.xml" Id="R89d72a894778420e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c2ee058a4747dc" /><Relationship Type="http://schemas.openxmlformats.org/officeDocument/2006/relationships/notesSlide" Target="/ppt/notesSlides/notesSlide20.xml" Id="R936276b4c5cd42e1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ccc02746ba4dad" /><Relationship Type="http://schemas.openxmlformats.org/officeDocument/2006/relationships/notesSlide" Target="/ppt/notesSlides/notesSlide21.xml" Id="R240ccd0f967b4524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_rels/chart6.xml.rels><Relationships xmlns="http://schemas.openxmlformats.org/package/2006/relationships"><Relationship Id="rIdChartSnapshot1" Type="http://schemas.openxmlformats.org/officeDocument/2006/relationships/package" Target="../../embeddings/chart-data-snapshot-006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Выбранная модель</c:v>
          </c:tx>
          <c:spPr>
            <a:solidFill xmlns:a="http://schemas.openxmlformats.org/drawingml/2006/main">
              <a:srgbClr val="0C825D"/>
            </a:solidFill>
          </c:spPr>
          <c:dLbls>
            <c:dLbl>
              <c:idx val="0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425">
                        <a:latin typeface="Noto Sans"/>
                        <a:ea typeface="Noto Sans"/>
                        <a:cs typeface="Noto Sans"/>
                      </a:rPr>
                      <a:t>932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425">
                      <a:latin typeface="Noto Sans"/>
                      <a:ea typeface="Noto Sans"/>
                      <a:cs typeface="Noto Sans"/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425">
                        <a:latin typeface="Noto Sans"/>
                        <a:ea typeface="Noto Sans"/>
                        <a:cs typeface="Noto Sans"/>
                      </a:rPr>
                      <a:t>1 272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425">
                      <a:latin typeface="Noto Sans"/>
                      <a:ea typeface="Noto Sans"/>
                      <a:cs typeface="Noto Sans"/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425">
                        <a:latin typeface="Noto Sans"/>
                        <a:ea typeface="Noto Sans"/>
                        <a:cs typeface="Noto Sans"/>
                      </a:rPr>
                      <a:t>1 371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425">
                      <a:latin typeface="Noto Sans"/>
                      <a:ea typeface="Noto Sans"/>
                      <a:cs typeface="Noto Sans"/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425">
                        <a:latin typeface="Noto Sans"/>
                        <a:ea typeface="Noto Sans"/>
                        <a:cs typeface="Noto Sans"/>
                      </a:rPr>
                      <a:t>1 321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425">
                      <a:latin typeface="Noto Sans"/>
                      <a:ea typeface="Noto Sans"/>
                      <a:cs typeface="Noto Sans"/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Ref>
              <c:f>'Chart Data'!$A$2:$A$5</c:f>
              <c:strCache>
                <c:ptCount val="4"/>
                <c:pt idx="0">
                  <c:v>h1</c:v>
                </c:pt>
                <c:pt idx="1">
                  <c:v>h3</c:v>
                </c:pt>
                <c:pt idx="2">
                  <c:v>h6</c:v>
                </c:pt>
                <c:pt idx="3">
                  <c:v>h12</c:v>
                </c:pt>
              </c:strCache>
            </c:strRef>
          </c:cat>
          <c:val>
            <c:numRef>
              <c:f>'Chart Data'!$B$2:$B$5</c:f>
              <c:numCache>
                <c:formatCode>0</c:formatCode>
                <c:ptCount val="4"/>
                <c:pt idx="0">
                  <c:v>932.296</c:v>
                </c:pt>
                <c:pt idx="1">
                  <c:v>1272.19</c:v>
                </c:pt>
                <c:pt idx="2">
                  <c:v>1370.661</c:v>
                </c:pt>
                <c:pt idx="3">
                  <c:v>1321.264</c:v>
                </c:pt>
              </c:numCache>
            </c:numRef>
          </c:val>
        </c:ser>
        <c:ser>
          <c:idx val="1"/>
          <c:order val="1"/>
          <c:tx>
            <c:v>Prophet с профилем</c:v>
          </c:tx>
          <c:spPr>
            <a:solidFill xmlns:a="http://schemas.openxmlformats.org/drawingml/2006/main">
              <a:srgbClr val="52718A"/>
            </a:solidFill>
          </c:spPr>
          <c:dLbls>
            <c:dLbl>
              <c:idx val="0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425">
                        <a:latin typeface="Noto Sans"/>
                        <a:ea typeface="Noto Sans"/>
                        <a:cs typeface="Noto Sans"/>
                      </a:rPr>
                      <a:t>1 595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425">
                      <a:latin typeface="Noto Sans"/>
                      <a:ea typeface="Noto Sans"/>
                      <a:cs typeface="Noto Sans"/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425">
                        <a:latin typeface="Noto Sans"/>
                        <a:ea typeface="Noto Sans"/>
                        <a:cs typeface="Noto Sans"/>
                      </a:rPr>
                      <a:t>1 659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425">
                      <a:latin typeface="Noto Sans"/>
                      <a:ea typeface="Noto Sans"/>
                      <a:cs typeface="Noto Sans"/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425">
                        <a:latin typeface="Noto Sans"/>
                        <a:ea typeface="Noto Sans"/>
                        <a:cs typeface="Noto Sans"/>
                      </a:rPr>
                      <a:t>1 917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425">
                      <a:latin typeface="Noto Sans"/>
                      <a:ea typeface="Noto Sans"/>
                      <a:cs typeface="Noto Sans"/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425">
                        <a:latin typeface="Noto Sans"/>
                        <a:ea typeface="Noto Sans"/>
                        <a:cs typeface="Noto Sans"/>
                      </a:rPr>
                      <a:t>2 989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425">
                      <a:latin typeface="Noto Sans"/>
                      <a:ea typeface="Noto Sans"/>
                      <a:cs typeface="Noto Sans"/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Ref>
              <c:f>'Chart Data'!$C$2:$C$5</c:f>
              <c:strCache>
                <c:ptCount val="4"/>
                <c:pt idx="0">
                  <c:v>h1</c:v>
                </c:pt>
                <c:pt idx="1">
                  <c:v>h3</c:v>
                </c:pt>
                <c:pt idx="2">
                  <c:v>h6</c:v>
                </c:pt>
                <c:pt idx="3">
                  <c:v>h12</c:v>
                </c:pt>
              </c:strCache>
            </c:strRef>
          </c:cat>
          <c:val>
            <c:numRef>
              <c:f>'Chart Data'!$D$2:$D$5</c:f>
              <c:numCache>
                <c:formatCode>0</c:formatCode>
                <c:ptCount val="4"/>
                <c:pt idx="0">
                  <c:v>1594.593</c:v>
                </c:pt>
                <c:pt idx="1">
                  <c:v>1659.498</c:v>
                </c:pt>
                <c:pt idx="2">
                  <c:v>1916.648</c:v>
                </c:pt>
                <c:pt idx="3">
                  <c:v>2989.26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latin typeface="Noto Sans"/>
                  <a:ea typeface="Noto Sans"/>
                  <a:cs typeface="Noto San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Noto Sans"/>
                <a:ea typeface="Noto Sans"/>
                <a:cs typeface="Noto Sans"/>
              </a:defRPr>
            </a:pPr>
          </a:p>
        </c:txPr>
        <c:crossAx val="48672768"/>
      </c:catAx>
      <c:valAx>
        <c:axId val="48672768"/>
        <c:scaling>
          <c:orientation val="minMax"/>
          <c:max val="3500"/>
          <c:min val="0"/>
        </c:scaling>
        <c:delete val="0"/>
        <c:axPos val="l"/>
        <c:majorGridlines>
          <c:spPr>
            <a:ln xmlns:a="http://schemas.openxmlformats.org/drawingml/2006/main" w="7620">
              <a:solidFill>
                <a:srgbClr val="DCE6DD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Noto Sans"/>
                <a:ea typeface="Noto Sans"/>
                <a:cs typeface="Noto Sans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AFCF9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latin typeface="Noto Sans"/>
              <a:ea typeface="Noto Sans"/>
              <a:cs typeface="Noto Sans"/>
            </a:defRPr>
          </a:pPr>
        </a:p>
      </c:txPr>
    </c:legend>
    <c:plotVisOnly val="1"/>
  </c:chart>
  <c:spPr>
    <a:solidFill xmlns:a="http://schemas.openxmlformats.org/drawingml/2006/main">
      <a:srgbClr val="FAFCF9"/>
    </a:solidFill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Верхняя граница 80%</c:v>
          </c:tx>
          <c:spPr>
            <a:ln xmlns:a="http://schemas.openxmlformats.org/drawingml/2006/main" w="13335">
              <a:solidFill>
                <a:srgbClr val="9DBEAC"/>
              </a:solidFill>
            </a:ln>
          </c:spPr>
          <c:marker>
            <c:symbol val="none"/>
          </c:marker>
          <c:cat>
            <c:numRef>
              <c:f>'Chart Data'!$A$2:$A$10</c:f>
              <c:numCache>
                <c:formatCode>General</c:formatCode>
                <c:ptCount val="9"/>
                <c:pt idx="0">
                  <c:v>04</c:v>
                </c:pt>
                <c:pt idx="1">
                  <c:v>05</c:v>
                </c:pt>
                <c:pt idx="2">
                  <c:v>06</c:v>
                </c:pt>
                <c:pt idx="3">
                  <c:v>07</c:v>
                </c:pt>
                <c:pt idx="4">
                  <c:v>08</c:v>
                </c:pt>
                <c:pt idx="5">
                  <c:v>09</c:v>
                </c:pt>
                <c:pt idx="6">
                  <c:v>10</c:v>
                </c:pt>
                <c:pt idx="7">
                  <c:v>11</c:v>
                </c:pt>
                <c:pt idx="8">
                  <c:v>12</c:v>
                </c:pt>
              </c:numCache>
            </c:numRef>
          </c:cat>
          <c:val>
            <c:numRef>
              <c:f>'Chart Data'!$B$2:$B$10</c:f>
              <c:numCache>
                <c:formatCode>0</c:formatCode>
                <c:ptCount val="9"/>
                <c:pt idx="0">
                  <c:v>36822.749</c:v>
                </c:pt>
                <c:pt idx="1">
                  <c:v>38981.084</c:v>
                </c:pt>
                <c:pt idx="2">
                  <c:v>37541.528</c:v>
                </c:pt>
                <c:pt idx="3">
                  <c:v>39530.635</c:v>
                </c:pt>
                <c:pt idx="4">
                  <c:v>38812.274</c:v>
                </c:pt>
                <c:pt idx="5">
                  <c:v>36166.86</c:v>
                </c:pt>
                <c:pt idx="6">
                  <c:v>37760.719</c:v>
                </c:pt>
                <c:pt idx="7">
                  <c:v>38630.906</c:v>
                </c:pt>
                <c:pt idx="8">
                  <c:v>45272.807</c:v>
                </c:pt>
              </c:numCache>
            </c:numRef>
          </c:val>
          <c:smooth val="0"/>
        </c:ser>
        <c:ser>
          <c:idx val="1"/>
          <c:order val="1"/>
          <c:tx>
            <c:v>Нижняя граница 80%</c:v>
          </c:tx>
          <c:spPr>
            <a:ln xmlns:a="http://schemas.openxmlformats.org/drawingml/2006/main" w="13335">
              <a:solidFill>
                <a:srgbClr val="9DBEAC"/>
              </a:solidFill>
            </a:ln>
          </c:spPr>
          <c:marker>
            <c:symbol val="none"/>
          </c:marker>
          <c:cat>
            <c:numRef>
              <c:f>'Chart Data'!$C$2:$C$10</c:f>
              <c:numCache>
                <c:formatCode>General</c:formatCode>
                <c:ptCount val="9"/>
                <c:pt idx="0">
                  <c:v>04</c:v>
                </c:pt>
                <c:pt idx="1">
                  <c:v>05</c:v>
                </c:pt>
                <c:pt idx="2">
                  <c:v>06</c:v>
                </c:pt>
                <c:pt idx="3">
                  <c:v>07</c:v>
                </c:pt>
                <c:pt idx="4">
                  <c:v>08</c:v>
                </c:pt>
                <c:pt idx="5">
                  <c:v>09</c:v>
                </c:pt>
                <c:pt idx="6">
                  <c:v>10</c:v>
                </c:pt>
                <c:pt idx="7">
                  <c:v>11</c:v>
                </c:pt>
                <c:pt idx="8">
                  <c:v>12</c:v>
                </c:pt>
              </c:numCache>
            </c:numRef>
          </c:cat>
          <c:val>
            <c:numRef>
              <c:f>'Chart Data'!$D$2:$D$10</c:f>
              <c:numCache>
                <c:formatCode>0</c:formatCode>
                <c:ptCount val="9"/>
                <c:pt idx="0">
                  <c:v>31605.144</c:v>
                </c:pt>
                <c:pt idx="1">
                  <c:v>34825.552</c:v>
                </c:pt>
                <c:pt idx="2">
                  <c:v>33755.532</c:v>
                </c:pt>
                <c:pt idx="3">
                  <c:v>35690.82</c:v>
                </c:pt>
                <c:pt idx="4">
                  <c:v>35866.091</c:v>
                </c:pt>
                <c:pt idx="5">
                  <c:v>33418.894</c:v>
                </c:pt>
                <c:pt idx="6">
                  <c:v>34950.431</c:v>
                </c:pt>
                <c:pt idx="7">
                  <c:v>35855.007</c:v>
                </c:pt>
                <c:pt idx="8">
                  <c:v>42184.93</c:v>
                </c:pt>
              </c:numCache>
            </c:numRef>
          </c:val>
          <c:smooth val="0"/>
        </c:ser>
        <c:ser>
          <c:idx val="2"/>
          <c:order val="2"/>
          <c:tx>
            <c:v>Факт</c:v>
          </c:tx>
          <c:spPr>
            <a:noFill xmlns:a="http://schemas.openxmlformats.org/drawingml/2006/main"/>
            <a:ln xmlns:a="http://schemas.openxmlformats.org/drawingml/2006/main" w="23813">
              <a:solidFill>
                <a:srgbClr val="183B32"/>
              </a:solidFill>
            </a:ln>
          </c:spPr>
          <c:marker>
            <c:symbol val="none"/>
          </c:marker>
          <c:cat>
            <c:numRef>
              <c:f>'Chart Data'!$E$2:$E$10</c:f>
              <c:numCache>
                <c:formatCode>General</c:formatCode>
                <c:ptCount val="9"/>
                <c:pt idx="0">
                  <c:v>04</c:v>
                </c:pt>
                <c:pt idx="1">
                  <c:v>05</c:v>
                </c:pt>
                <c:pt idx="2">
                  <c:v>06</c:v>
                </c:pt>
                <c:pt idx="3">
                  <c:v>07</c:v>
                </c:pt>
                <c:pt idx="4">
                  <c:v>08</c:v>
                </c:pt>
                <c:pt idx="5">
                  <c:v>09</c:v>
                </c:pt>
                <c:pt idx="6">
                  <c:v>10</c:v>
                </c:pt>
                <c:pt idx="7">
                  <c:v>11</c:v>
                </c:pt>
                <c:pt idx="8">
                  <c:v>12</c:v>
                </c:pt>
              </c:numCache>
            </c:numRef>
          </c:cat>
          <c:val>
            <c:numRef>
              <c:f>'Chart Data'!$F$2:$F$10</c:f>
              <c:numCache>
                <c:formatCode>0</c:formatCode>
                <c:ptCount val="9"/>
                <c:pt idx="0">
                  <c:v>35833</c:v>
                </c:pt>
                <c:pt idx="1">
                  <c:v>35615</c:v>
                </c:pt>
                <c:pt idx="2">
                  <c:v>35988</c:v>
                </c:pt>
                <c:pt idx="3">
                  <c:v>36788</c:v>
                </c:pt>
                <c:pt idx="4">
                  <c:v>37597</c:v>
                </c:pt>
                <c:pt idx="5">
                  <c:v>34999</c:v>
                </c:pt>
                <c:pt idx="6">
                  <c:v>36530</c:v>
                </c:pt>
                <c:pt idx="7">
                  <c:v>37011</c:v>
                </c:pt>
                <c:pt idx="8">
                  <c:v>42485</c:v>
                </c:pt>
              </c:numCache>
            </c:numRef>
          </c:val>
          <c:smooth val="0"/>
        </c:ser>
        <c:ser>
          <c:idx val="3"/>
          <c:order val="3"/>
          <c:tx>
            <c:v>Прогноз h1</c:v>
          </c:tx>
          <c:spPr>
            <a:noFill xmlns:a="http://schemas.openxmlformats.org/drawingml/2006/main"/>
            <a:ln xmlns:a="http://schemas.openxmlformats.org/drawingml/2006/main" w="23813">
              <a:solidFill>
                <a:srgbClr val="0C825D"/>
              </a:solidFill>
            </a:ln>
          </c:spPr>
          <c:marker>
            <c:symbol val="none"/>
          </c:marker>
          <c:cat>
            <c:numRef>
              <c:f>'Chart Data'!$G$2:$G$10</c:f>
              <c:numCache>
                <c:formatCode>General</c:formatCode>
                <c:ptCount val="9"/>
                <c:pt idx="0">
                  <c:v>04</c:v>
                </c:pt>
                <c:pt idx="1">
                  <c:v>05</c:v>
                </c:pt>
                <c:pt idx="2">
                  <c:v>06</c:v>
                </c:pt>
                <c:pt idx="3">
                  <c:v>07</c:v>
                </c:pt>
                <c:pt idx="4">
                  <c:v>08</c:v>
                </c:pt>
                <c:pt idx="5">
                  <c:v>09</c:v>
                </c:pt>
                <c:pt idx="6">
                  <c:v>10</c:v>
                </c:pt>
                <c:pt idx="7">
                  <c:v>11</c:v>
                </c:pt>
                <c:pt idx="8">
                  <c:v>12</c:v>
                </c:pt>
              </c:numCache>
            </c:numRef>
          </c:cat>
          <c:val>
            <c:numRef>
              <c:f>'Chart Data'!$H$2:$H$10</c:f>
              <c:numCache>
                <c:formatCode>0</c:formatCode>
                <c:ptCount val="9"/>
                <c:pt idx="0">
                  <c:v>34213.947</c:v>
                </c:pt>
                <c:pt idx="1">
                  <c:v>36903.318</c:v>
                </c:pt>
                <c:pt idx="2">
                  <c:v>35648.53</c:v>
                </c:pt>
                <c:pt idx="3">
                  <c:v>37610.728</c:v>
                </c:pt>
                <c:pt idx="4">
                  <c:v>37339.182</c:v>
                </c:pt>
                <c:pt idx="5">
                  <c:v>34792.877</c:v>
                </c:pt>
                <c:pt idx="6">
                  <c:v>36355.575</c:v>
                </c:pt>
                <c:pt idx="7">
                  <c:v>37242.957</c:v>
                </c:pt>
                <c:pt idx="8">
                  <c:v>43728.868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Noto Sans"/>
                  <a:ea typeface="Noto Sans"/>
                  <a:cs typeface="Noto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Noto Sans"/>
                <a:ea typeface="Noto Sans"/>
                <a:cs typeface="Noto Sans"/>
              </a:defRPr>
            </a:pPr>
          </a:p>
        </c:txPr>
        <c:crossAx val="48672768"/>
      </c:catAx>
      <c:valAx>
        <c:axId val="48672768"/>
        <c:scaling>
          <c:orientation val="minMax"/>
          <c:max val="46000"/>
          <c:min val="30000"/>
        </c:scaling>
        <c:delete val="0"/>
        <c:axPos val="l"/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Noto Sans"/>
                <a:ea typeface="Noto Sans"/>
                <a:cs typeface="Noto Sans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AFCF9"/>
        </a:solidFill>
      </c:spPr>
    </c:plotArea>
    <c:plotVisOnly val="1"/>
  </c:chart>
  <c:spPr>
    <a:solidFill xmlns:a="http://schemas.openxmlformats.org/drawingml/2006/main">
      <a:srgbClr val="FAFCF9"/>
    </a:solidFill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Верхняя граница 80%</c:v>
          </c:tx>
          <c:spPr>
            <a:ln xmlns:a="http://schemas.openxmlformats.org/drawingml/2006/main" w="13335">
              <a:solidFill>
                <a:srgbClr val="9DBEAC"/>
              </a:solidFill>
            </a:ln>
          </c:spPr>
          <c:marker>
            <c:symbol val="none"/>
          </c:marker>
          <c:cat>
            <c:numRef>
              <c:f>'Chart Data'!$A$2:$A$10</c:f>
              <c:numCache>
                <c:formatCode>General</c:formatCode>
                <c:ptCount val="9"/>
                <c:pt idx="0">
                  <c:v>04</c:v>
                </c:pt>
                <c:pt idx="1">
                  <c:v>05</c:v>
                </c:pt>
                <c:pt idx="2">
                  <c:v>06</c:v>
                </c:pt>
                <c:pt idx="3">
                  <c:v>07</c:v>
                </c:pt>
                <c:pt idx="4">
                  <c:v>08</c:v>
                </c:pt>
                <c:pt idx="5">
                  <c:v>09</c:v>
                </c:pt>
                <c:pt idx="6">
                  <c:v>10</c:v>
                </c:pt>
                <c:pt idx="7">
                  <c:v>11</c:v>
                </c:pt>
                <c:pt idx="8">
                  <c:v>12</c:v>
                </c:pt>
              </c:numCache>
            </c:numRef>
          </c:cat>
          <c:val>
            <c:numRef>
              <c:f>'Chart Data'!$B$2:$B$10</c:f>
              <c:numCache>
                <c:formatCode>0</c:formatCode>
                <c:ptCount val="9"/>
                <c:pt idx="0">
                  <c:v>14067.784</c:v>
                </c:pt>
                <c:pt idx="1">
                  <c:v>16363.875</c:v>
                </c:pt>
                <c:pt idx="2">
                  <c:v>15911.483</c:v>
                </c:pt>
                <c:pt idx="3">
                  <c:v>17170.687</c:v>
                </c:pt>
                <c:pt idx="4">
                  <c:v>15716.203</c:v>
                </c:pt>
                <c:pt idx="5">
                  <c:v>13971.597</c:v>
                </c:pt>
                <c:pt idx="6">
                  <c:v>14609.469</c:v>
                </c:pt>
                <c:pt idx="7">
                  <c:v>14533.667</c:v>
                </c:pt>
                <c:pt idx="8">
                  <c:v>16343.253</c:v>
                </c:pt>
              </c:numCache>
            </c:numRef>
          </c:val>
          <c:smooth val="0"/>
        </c:ser>
        <c:ser>
          <c:idx val="1"/>
          <c:order val="1"/>
          <c:tx>
            <c:v>Нижняя граница 80%</c:v>
          </c:tx>
          <c:spPr>
            <a:ln xmlns:a="http://schemas.openxmlformats.org/drawingml/2006/main" w="13335">
              <a:solidFill>
                <a:srgbClr val="9DBEAC"/>
              </a:solidFill>
            </a:ln>
          </c:spPr>
          <c:marker>
            <c:symbol val="none"/>
          </c:marker>
          <c:cat>
            <c:numRef>
              <c:f>'Chart Data'!$C$2:$C$10</c:f>
              <c:numCache>
                <c:formatCode>General</c:formatCode>
                <c:ptCount val="9"/>
                <c:pt idx="0">
                  <c:v>04</c:v>
                </c:pt>
                <c:pt idx="1">
                  <c:v>05</c:v>
                </c:pt>
                <c:pt idx="2">
                  <c:v>06</c:v>
                </c:pt>
                <c:pt idx="3">
                  <c:v>07</c:v>
                </c:pt>
                <c:pt idx="4">
                  <c:v>08</c:v>
                </c:pt>
                <c:pt idx="5">
                  <c:v>09</c:v>
                </c:pt>
                <c:pt idx="6">
                  <c:v>10</c:v>
                </c:pt>
                <c:pt idx="7">
                  <c:v>11</c:v>
                </c:pt>
                <c:pt idx="8">
                  <c:v>12</c:v>
                </c:pt>
              </c:numCache>
            </c:numRef>
          </c:cat>
          <c:val>
            <c:numRef>
              <c:f>'Chart Data'!$D$2:$D$10</c:f>
              <c:numCache>
                <c:formatCode>0</c:formatCode>
                <c:ptCount val="9"/>
                <c:pt idx="0">
                  <c:v>11792.567</c:v>
                </c:pt>
                <c:pt idx="1">
                  <c:v>14551.791</c:v>
                </c:pt>
                <c:pt idx="2">
                  <c:v>14260.542</c:v>
                </c:pt>
                <c:pt idx="3">
                  <c:v>15496.277</c:v>
                </c:pt>
                <c:pt idx="4">
                  <c:v>14431.475</c:v>
                </c:pt>
                <c:pt idx="5">
                  <c:v>12773.305</c:v>
                </c:pt>
                <c:pt idx="6">
                  <c:v>13384</c:v>
                </c:pt>
                <c:pt idx="7">
                  <c:v>13323.193</c:v>
                </c:pt>
                <c:pt idx="8">
                  <c:v>14996.737</c:v>
                </c:pt>
              </c:numCache>
            </c:numRef>
          </c:val>
          <c:smooth val="0"/>
        </c:ser>
        <c:ser>
          <c:idx val="2"/>
          <c:order val="2"/>
          <c:tx>
            <c:v>Факт</c:v>
          </c:tx>
          <c:spPr>
            <a:noFill xmlns:a="http://schemas.openxmlformats.org/drawingml/2006/main"/>
            <a:ln xmlns:a="http://schemas.openxmlformats.org/drawingml/2006/main" w="23813">
              <a:solidFill>
                <a:srgbClr val="183B32"/>
              </a:solidFill>
            </a:ln>
          </c:spPr>
          <c:marker>
            <c:symbol val="none"/>
          </c:marker>
          <c:cat>
            <c:numRef>
              <c:f>'Chart Data'!$E$2:$E$10</c:f>
              <c:numCache>
                <c:formatCode>General</c:formatCode>
                <c:ptCount val="9"/>
                <c:pt idx="0">
                  <c:v>04</c:v>
                </c:pt>
                <c:pt idx="1">
                  <c:v>05</c:v>
                </c:pt>
                <c:pt idx="2">
                  <c:v>06</c:v>
                </c:pt>
                <c:pt idx="3">
                  <c:v>07</c:v>
                </c:pt>
                <c:pt idx="4">
                  <c:v>08</c:v>
                </c:pt>
                <c:pt idx="5">
                  <c:v>09</c:v>
                </c:pt>
                <c:pt idx="6">
                  <c:v>10</c:v>
                </c:pt>
                <c:pt idx="7">
                  <c:v>11</c:v>
                </c:pt>
                <c:pt idx="8">
                  <c:v>12</c:v>
                </c:pt>
              </c:numCache>
            </c:numRef>
          </c:cat>
          <c:val>
            <c:numRef>
              <c:f>'Chart Data'!$F$2:$F$10</c:f>
              <c:numCache>
                <c:formatCode>0</c:formatCode>
                <c:ptCount val="9"/>
                <c:pt idx="0">
                  <c:v>14938</c:v>
                </c:pt>
                <c:pt idx="1">
                  <c:v>15129</c:v>
                </c:pt>
                <c:pt idx="2">
                  <c:v>15545</c:v>
                </c:pt>
                <c:pt idx="3">
                  <c:v>14994</c:v>
                </c:pt>
                <c:pt idx="4">
                  <c:v>14221</c:v>
                </c:pt>
                <c:pt idx="5">
                  <c:v>13597</c:v>
                </c:pt>
                <c:pt idx="6">
                  <c:v>13561</c:v>
                </c:pt>
                <c:pt idx="7">
                  <c:v>13350</c:v>
                </c:pt>
                <c:pt idx="8">
                  <c:v>16864</c:v>
                </c:pt>
              </c:numCache>
            </c:numRef>
          </c:val>
          <c:smooth val="0"/>
        </c:ser>
        <c:ser>
          <c:idx val="3"/>
          <c:order val="3"/>
          <c:tx>
            <c:v>Прогноз h1</c:v>
          </c:tx>
          <c:spPr>
            <a:noFill xmlns:a="http://schemas.openxmlformats.org/drawingml/2006/main"/>
            <a:ln xmlns:a="http://schemas.openxmlformats.org/drawingml/2006/main" w="23813">
              <a:solidFill>
                <a:srgbClr val="0C825D"/>
              </a:solidFill>
            </a:ln>
          </c:spPr>
          <c:marker>
            <c:symbol val="none"/>
          </c:marker>
          <c:cat>
            <c:numRef>
              <c:f>'Chart Data'!$G$2:$G$10</c:f>
              <c:numCache>
                <c:formatCode>General</c:formatCode>
                <c:ptCount val="9"/>
                <c:pt idx="0">
                  <c:v>04</c:v>
                </c:pt>
                <c:pt idx="1">
                  <c:v>05</c:v>
                </c:pt>
                <c:pt idx="2">
                  <c:v>06</c:v>
                </c:pt>
                <c:pt idx="3">
                  <c:v>07</c:v>
                </c:pt>
                <c:pt idx="4">
                  <c:v>08</c:v>
                </c:pt>
                <c:pt idx="5">
                  <c:v>09</c:v>
                </c:pt>
                <c:pt idx="6">
                  <c:v>10</c:v>
                </c:pt>
                <c:pt idx="7">
                  <c:v>11</c:v>
                </c:pt>
                <c:pt idx="8">
                  <c:v>12</c:v>
                </c:pt>
              </c:numCache>
            </c:numRef>
          </c:cat>
          <c:val>
            <c:numRef>
              <c:f>'Chart Data'!$H$2:$H$10</c:f>
              <c:numCache>
                <c:formatCode>0</c:formatCode>
                <c:ptCount val="9"/>
                <c:pt idx="0">
                  <c:v>12930.176</c:v>
                </c:pt>
                <c:pt idx="1">
                  <c:v>15457.833</c:v>
                </c:pt>
                <c:pt idx="2">
                  <c:v>15086.012</c:v>
                </c:pt>
                <c:pt idx="3">
                  <c:v>16333.482</c:v>
                </c:pt>
                <c:pt idx="4">
                  <c:v>15073.839</c:v>
                </c:pt>
                <c:pt idx="5">
                  <c:v>13372.451</c:v>
                </c:pt>
                <c:pt idx="6">
                  <c:v>13996.734</c:v>
                </c:pt>
                <c:pt idx="7">
                  <c:v>13928.43</c:v>
                </c:pt>
                <c:pt idx="8">
                  <c:v>15669.995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Noto Sans"/>
                  <a:ea typeface="Noto Sans"/>
                  <a:cs typeface="Noto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Noto Sans"/>
                <a:ea typeface="Noto Sans"/>
                <a:cs typeface="Noto Sans"/>
              </a:defRPr>
            </a:pPr>
          </a:p>
        </c:txPr>
        <c:crossAx val="48672768"/>
      </c:catAx>
      <c:valAx>
        <c:axId val="48672768"/>
        <c:scaling>
          <c:orientation val="minMax"/>
          <c:max val="18000"/>
          <c:min val="11000"/>
        </c:scaling>
        <c:delete val="0"/>
        <c:axPos val="l"/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Noto Sans"/>
                <a:ea typeface="Noto Sans"/>
                <a:cs typeface="Noto Sans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AFCF9"/>
        </a:solidFill>
      </c:spPr>
    </c:plotArea>
    <c:plotVisOnly val="1"/>
  </c:chart>
  <c:spPr>
    <a:solidFill xmlns:a="http://schemas.openxmlformats.org/drawingml/2006/main">
      <a:srgbClr val="FAFCF9"/>
    </a:solidFill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Верхняя граница 80%</c:v>
          </c:tx>
          <c:spPr>
            <a:ln xmlns:a="http://schemas.openxmlformats.org/drawingml/2006/main" w="13335">
              <a:solidFill>
                <a:srgbClr val="9DBEAC"/>
              </a:solidFill>
            </a:ln>
          </c:spPr>
          <c:marker>
            <c:symbol val="none"/>
          </c:marker>
          <c:cat>
            <c:numRef>
              <c:f>'Chart Data'!$A$2:$A$10</c:f>
              <c:numCache>
                <c:formatCode>General</c:formatCode>
                <c:ptCount val="9"/>
                <c:pt idx="0">
                  <c:v>04</c:v>
                </c:pt>
                <c:pt idx="1">
                  <c:v>05</c:v>
                </c:pt>
                <c:pt idx="2">
                  <c:v>06</c:v>
                </c:pt>
                <c:pt idx="3">
                  <c:v>07</c:v>
                </c:pt>
                <c:pt idx="4">
                  <c:v>08</c:v>
                </c:pt>
                <c:pt idx="5">
                  <c:v>09</c:v>
                </c:pt>
                <c:pt idx="6">
                  <c:v>10</c:v>
                </c:pt>
                <c:pt idx="7">
                  <c:v>11</c:v>
                </c:pt>
                <c:pt idx="8">
                  <c:v>12</c:v>
                </c:pt>
              </c:numCache>
            </c:numRef>
          </c:cat>
          <c:val>
            <c:numRef>
              <c:f>'Chart Data'!$B$2:$B$10</c:f>
              <c:numCache>
                <c:formatCode>0</c:formatCode>
                <c:ptCount val="9"/>
                <c:pt idx="0">
                  <c:v>30685.047</c:v>
                </c:pt>
                <c:pt idx="1">
                  <c:v>32900.297</c:v>
                </c:pt>
                <c:pt idx="2">
                  <c:v>34529.318</c:v>
                </c:pt>
                <c:pt idx="3">
                  <c:v>35309.227</c:v>
                </c:pt>
                <c:pt idx="4">
                  <c:v>34195.408</c:v>
                </c:pt>
                <c:pt idx="5">
                  <c:v>31637.478</c:v>
                </c:pt>
                <c:pt idx="6">
                  <c:v>32438.633</c:v>
                </c:pt>
                <c:pt idx="7">
                  <c:v>34701.699</c:v>
                </c:pt>
                <c:pt idx="8">
                  <c:v>40660.538</c:v>
                </c:pt>
              </c:numCache>
            </c:numRef>
          </c:val>
          <c:smooth val="0"/>
        </c:ser>
        <c:ser>
          <c:idx val="1"/>
          <c:order val="1"/>
          <c:tx>
            <c:v>Нижняя граница 80%</c:v>
          </c:tx>
          <c:spPr>
            <a:ln xmlns:a="http://schemas.openxmlformats.org/drawingml/2006/main" w="13335">
              <a:solidFill>
                <a:srgbClr val="9DBEAC"/>
              </a:solidFill>
            </a:ln>
          </c:spPr>
          <c:marker>
            <c:symbol val="none"/>
          </c:marker>
          <c:cat>
            <c:numRef>
              <c:f>'Chart Data'!$C$2:$C$10</c:f>
              <c:numCache>
                <c:formatCode>General</c:formatCode>
                <c:ptCount val="9"/>
                <c:pt idx="0">
                  <c:v>04</c:v>
                </c:pt>
                <c:pt idx="1">
                  <c:v>05</c:v>
                </c:pt>
                <c:pt idx="2">
                  <c:v>06</c:v>
                </c:pt>
                <c:pt idx="3">
                  <c:v>07</c:v>
                </c:pt>
                <c:pt idx="4">
                  <c:v>08</c:v>
                </c:pt>
                <c:pt idx="5">
                  <c:v>09</c:v>
                </c:pt>
                <c:pt idx="6">
                  <c:v>10</c:v>
                </c:pt>
                <c:pt idx="7">
                  <c:v>11</c:v>
                </c:pt>
                <c:pt idx="8">
                  <c:v>12</c:v>
                </c:pt>
              </c:numCache>
            </c:numRef>
          </c:cat>
          <c:val>
            <c:numRef>
              <c:f>'Chart Data'!$D$2:$D$10</c:f>
              <c:numCache>
                <c:formatCode>0</c:formatCode>
                <c:ptCount val="9"/>
                <c:pt idx="0">
                  <c:v>26377.361</c:v>
                </c:pt>
                <c:pt idx="1">
                  <c:v>29469.464</c:v>
                </c:pt>
                <c:pt idx="2">
                  <c:v>31403.578</c:v>
                </c:pt>
                <c:pt idx="3">
                  <c:v>32139.053</c:v>
                </c:pt>
                <c:pt idx="4">
                  <c:v>31763.022</c:v>
                </c:pt>
                <c:pt idx="5">
                  <c:v>29368.741</c:v>
                </c:pt>
                <c:pt idx="6">
                  <c:v>30118.443</c:v>
                </c:pt>
                <c:pt idx="7">
                  <c:v>32409.9</c:v>
                </c:pt>
                <c:pt idx="8">
                  <c:v>38111.168</c:v>
                </c:pt>
              </c:numCache>
            </c:numRef>
          </c:val>
          <c:smooth val="0"/>
        </c:ser>
        <c:ser>
          <c:idx val="2"/>
          <c:order val="2"/>
          <c:tx>
            <c:v>Факт</c:v>
          </c:tx>
          <c:spPr>
            <a:noFill xmlns:a="http://schemas.openxmlformats.org/drawingml/2006/main"/>
            <a:ln xmlns:a="http://schemas.openxmlformats.org/drawingml/2006/main" w="23813">
              <a:solidFill>
                <a:srgbClr val="183B32"/>
              </a:solidFill>
            </a:ln>
          </c:spPr>
          <c:marker>
            <c:symbol val="none"/>
          </c:marker>
          <c:cat>
            <c:numRef>
              <c:f>'Chart Data'!$E$2:$E$10</c:f>
              <c:numCache>
                <c:formatCode>General</c:formatCode>
                <c:ptCount val="9"/>
                <c:pt idx="0">
                  <c:v>04</c:v>
                </c:pt>
                <c:pt idx="1">
                  <c:v>05</c:v>
                </c:pt>
                <c:pt idx="2">
                  <c:v>06</c:v>
                </c:pt>
                <c:pt idx="3">
                  <c:v>07</c:v>
                </c:pt>
                <c:pt idx="4">
                  <c:v>08</c:v>
                </c:pt>
                <c:pt idx="5">
                  <c:v>09</c:v>
                </c:pt>
                <c:pt idx="6">
                  <c:v>10</c:v>
                </c:pt>
                <c:pt idx="7">
                  <c:v>11</c:v>
                </c:pt>
                <c:pt idx="8">
                  <c:v>12</c:v>
                </c:pt>
              </c:numCache>
            </c:numRef>
          </c:cat>
          <c:val>
            <c:numRef>
              <c:f>'Chart Data'!$F$2:$F$10</c:f>
              <c:numCache>
                <c:formatCode>0</c:formatCode>
                <c:ptCount val="9"/>
                <c:pt idx="0">
                  <c:v>30327</c:v>
                </c:pt>
                <c:pt idx="1">
                  <c:v>32831</c:v>
                </c:pt>
                <c:pt idx="2">
                  <c:v>32257</c:v>
                </c:pt>
                <c:pt idx="3">
                  <c:v>32470</c:v>
                </c:pt>
                <c:pt idx="4">
                  <c:v>32637</c:v>
                </c:pt>
                <c:pt idx="5">
                  <c:v>30287</c:v>
                </c:pt>
                <c:pt idx="6">
                  <c:v>32665</c:v>
                </c:pt>
                <c:pt idx="7">
                  <c:v>33299</c:v>
                </c:pt>
                <c:pt idx="8">
                  <c:v>37851</c:v>
                </c:pt>
              </c:numCache>
            </c:numRef>
          </c:val>
          <c:smooth val="0"/>
        </c:ser>
        <c:ser>
          <c:idx val="3"/>
          <c:order val="3"/>
          <c:tx>
            <c:v>Прогноз h1</c:v>
          </c:tx>
          <c:spPr>
            <a:noFill xmlns:a="http://schemas.openxmlformats.org/drawingml/2006/main"/>
            <a:ln xmlns:a="http://schemas.openxmlformats.org/drawingml/2006/main" w="23813">
              <a:solidFill>
                <a:srgbClr val="0C825D"/>
              </a:solidFill>
            </a:ln>
          </c:spPr>
          <c:marker>
            <c:symbol val="none"/>
          </c:marker>
          <c:cat>
            <c:numRef>
              <c:f>'Chart Data'!$G$2:$G$10</c:f>
              <c:numCache>
                <c:formatCode>General</c:formatCode>
                <c:ptCount val="9"/>
                <c:pt idx="0">
                  <c:v>04</c:v>
                </c:pt>
                <c:pt idx="1">
                  <c:v>05</c:v>
                </c:pt>
                <c:pt idx="2">
                  <c:v>06</c:v>
                </c:pt>
                <c:pt idx="3">
                  <c:v>07</c:v>
                </c:pt>
                <c:pt idx="4">
                  <c:v>08</c:v>
                </c:pt>
                <c:pt idx="5">
                  <c:v>09</c:v>
                </c:pt>
                <c:pt idx="6">
                  <c:v>10</c:v>
                </c:pt>
                <c:pt idx="7">
                  <c:v>11</c:v>
                </c:pt>
                <c:pt idx="8">
                  <c:v>12</c:v>
                </c:pt>
              </c:numCache>
            </c:numRef>
          </c:cat>
          <c:val>
            <c:numRef>
              <c:f>'Chart Data'!$H$2:$H$10</c:f>
              <c:numCache>
                <c:formatCode>0</c:formatCode>
                <c:ptCount val="9"/>
                <c:pt idx="0">
                  <c:v>28531.204</c:v>
                </c:pt>
                <c:pt idx="1">
                  <c:v>31184.88</c:v>
                </c:pt>
                <c:pt idx="2">
                  <c:v>32966.448</c:v>
                </c:pt>
                <c:pt idx="3">
                  <c:v>33724.14</c:v>
                </c:pt>
                <c:pt idx="4">
                  <c:v>32979.215</c:v>
                </c:pt>
                <c:pt idx="5">
                  <c:v>30503.11</c:v>
                </c:pt>
                <c:pt idx="6">
                  <c:v>31278.538</c:v>
                </c:pt>
                <c:pt idx="7">
                  <c:v>33555.799</c:v>
                </c:pt>
                <c:pt idx="8">
                  <c:v>39385.853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Noto Sans"/>
                  <a:ea typeface="Noto Sans"/>
                  <a:cs typeface="Noto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Noto Sans"/>
                <a:ea typeface="Noto Sans"/>
                <a:cs typeface="Noto Sans"/>
              </a:defRPr>
            </a:pPr>
          </a:p>
        </c:txPr>
        <c:crossAx val="48672768"/>
      </c:catAx>
      <c:valAx>
        <c:axId val="48672768"/>
        <c:scaling>
          <c:orientation val="minMax"/>
          <c:max val="41000"/>
          <c:min val="25000"/>
        </c:scaling>
        <c:delete val="0"/>
        <c:axPos val="l"/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Noto Sans"/>
                <a:ea typeface="Noto Sans"/>
                <a:cs typeface="Noto Sans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AFCF9"/>
        </a:solidFill>
      </c:spPr>
    </c:plotArea>
    <c:plotVisOnly val="1"/>
  </c:chart>
  <c:spPr>
    <a:solidFill xmlns:a="http://schemas.openxmlformats.org/drawingml/2006/main">
      <a:srgbClr val="FAFCF9"/>
    </a:solidFill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marker"/>
        <c:ser>
          <c:idx val="0"/>
          <c:order val="0"/>
          <c:tx>
            <c:v>EWMA</c:v>
          </c:tx>
          <c:spPr>
            <a:solidFill xmlns:a="http://schemas.openxmlformats.org/drawingml/2006/main">
              <a:srgbClr val="0C825D"/>
            </a:solidFill>
            <a:ln xmlns:a="http://schemas.openxmlformats.org/drawingml/2006/main" w="9525">
              <a:solidFill>
                <a:srgbClr val="0C825D"/>
              </a:solidFill>
            </a:ln>
          </c:spPr>
          <c:marker>
            <c:symbol val="circle"/>
            <c:size val="14"/>
            <c:spPr>
              <a:solidFill xmlns:a="http://schemas.openxmlformats.org/drawingml/2006/main">
                <a:srgbClr val="0C825D"/>
              </a:solidFill>
            </c:spPr>
          </c:marker>
          <c:dLbls>
            <c:dLbl>
              <c:idx val="0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425" b="1">
                        <a:solidFill>
                          <a:srgbClr val="183B32"/>
                        </a:solidFill>
                        <a:latin typeface="Noto Sans"/>
                        <a:ea typeface="Noto Sans"/>
                        <a:cs typeface="Noto Sans"/>
                      </a:rPr>
                      <a:t>EWMA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425" b="1">
                      <a:solidFill>
                        <a:srgbClr val="183B32"/>
                      </a:solidFill>
                      <a:latin typeface="Noto Sans"/>
                      <a:ea typeface="Noto Sans"/>
                      <a:cs typeface="Noto Sans"/>
                    </a:defRPr>
                  </a:pPr>
                </a:p>
              </c:txPr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xVal>
            <c:numRef>
              <c:f>'Chart Data'!$A$2:$A$2</c:f>
              <c:numCache>
                <c:formatCode>General</c:formatCode>
                <c:ptCount val="1"/>
                <c:pt idx="0">
                  <c:v>0.046296</c:v>
                </c:pt>
              </c:numCache>
            </c:numRef>
          </c:xVal>
          <c:yVal>
            <c:numRef>
              <c:f>'Chart Data'!$B$2:$B$2</c:f>
              <c:numCache>
                <c:formatCode>0.0</c:formatCode>
                <c:ptCount val="1"/>
                <c:pt idx="0">
                  <c:v>0.647</c:v>
                </c:pt>
              </c:numCache>
            </c:numRef>
          </c:yVal>
        </c:ser>
        <c:ser>
          <c:idx val="1"/>
          <c:order val="1"/>
          <c:tx>
            <c:v>CUSUM</c:v>
          </c:tx>
          <c:spPr>
            <a:solidFill xmlns:a="http://schemas.openxmlformats.org/drawingml/2006/main">
              <a:srgbClr val="52718A"/>
            </a:solidFill>
            <a:ln xmlns:a="http://schemas.openxmlformats.org/drawingml/2006/main" w="9525">
              <a:solidFill>
                <a:srgbClr val="52718A"/>
              </a:solidFill>
            </a:ln>
          </c:spPr>
          <c:marker>
            <c:symbol val="circle"/>
            <c:size val="10"/>
            <c:spPr>
              <a:solidFill xmlns:a="http://schemas.openxmlformats.org/drawingml/2006/main">
                <a:srgbClr val="52718A"/>
              </a:solidFill>
            </c:spPr>
          </c:marker>
          <c:dLbls>
            <c:dLbl>
              <c:idx val="0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425" b="0">
                        <a:solidFill>
                          <a:srgbClr val="183B32"/>
                        </a:solidFill>
                        <a:latin typeface="Noto Sans"/>
                        <a:ea typeface="Noto Sans"/>
                        <a:cs typeface="Noto Sans"/>
                      </a:rPr>
                      <a:t>CUSUM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425" b="0">
                      <a:solidFill>
                        <a:srgbClr val="183B32"/>
                      </a:solidFill>
                      <a:latin typeface="Noto Sans"/>
                      <a:ea typeface="Noto Sans"/>
                      <a:cs typeface="Noto Sans"/>
                    </a:defRPr>
                  </a:pPr>
                </a:p>
              </c:txPr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xVal>
            <c:numRef>
              <c:f>'Chart Data'!$C$2:$C$2</c:f>
              <c:numCache>
                <c:formatCode>General</c:formatCode>
                <c:ptCount val="1"/>
                <c:pt idx="0">
                  <c:v>0.069444</c:v>
                </c:pt>
              </c:numCache>
            </c:numRef>
          </c:xVal>
          <c:yVal>
            <c:numRef>
              <c:f>'Chart Data'!$D$2:$D$2</c:f>
              <c:numCache>
                <c:formatCode>0.0</c:formatCode>
                <c:ptCount val="1"/>
                <c:pt idx="0">
                  <c:v>0.602</c:v>
                </c:pt>
              </c:numCache>
            </c:numRef>
          </c:yVal>
        </c:ser>
        <c:ser>
          <c:idx val="2"/>
          <c:order val="2"/>
          <c:tx>
            <c:v>CUSUM +</c:v>
          </c:tx>
          <c:spPr>
            <a:solidFill xmlns:a="http://schemas.openxmlformats.org/drawingml/2006/main">
              <a:srgbClr val="52718A"/>
            </a:solidFill>
            <a:ln xmlns:a="http://schemas.openxmlformats.org/drawingml/2006/main" w="9525">
              <a:solidFill>
                <a:srgbClr val="52718A"/>
              </a:solidFill>
            </a:ln>
          </c:spPr>
          <c:marker>
            <c:symbol val="circle"/>
            <c:size val="10"/>
            <c:spPr>
              <a:solidFill xmlns:a="http://schemas.openxmlformats.org/drawingml/2006/main">
                <a:srgbClr val="52718A"/>
              </a:solidFill>
            </c:spPr>
          </c:marker>
          <c:dLbls>
            <c:dLbl>
              <c:idx val="0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425" b="0">
                        <a:solidFill>
                          <a:srgbClr val="183B32"/>
                        </a:solidFill>
                        <a:latin typeface="Noto Sans"/>
                        <a:ea typeface="Noto Sans"/>
                        <a:cs typeface="Noto Sans"/>
                      </a:rPr>
                      <a:t>CUSUM +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425" b="0">
                      <a:solidFill>
                        <a:srgbClr val="183B32"/>
                      </a:solidFill>
                      <a:latin typeface="Noto Sans"/>
                      <a:ea typeface="Noto Sans"/>
                      <a:cs typeface="Noto Sans"/>
                    </a:defRPr>
                  </a:pPr>
                </a:p>
              </c:txPr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xVal>
            <c:numRef>
              <c:f>'Chart Data'!$E$2:$E$2</c:f>
              <c:numCache>
                <c:formatCode>General</c:formatCode>
                <c:ptCount val="1"/>
                <c:pt idx="0">
                  <c:v>0.092593</c:v>
                </c:pt>
              </c:numCache>
            </c:numRef>
          </c:xVal>
          <c:yVal>
            <c:numRef>
              <c:f>'Chart Data'!$F$2:$F$2</c:f>
              <c:numCache>
                <c:formatCode>0.0</c:formatCode>
                <c:ptCount val="1"/>
                <c:pt idx="0">
                  <c:v>0.598</c:v>
                </c:pt>
              </c:numCache>
            </c:numRef>
          </c:yVal>
        </c:ser>
        <c:ser>
          <c:idx val="3"/>
          <c:order val="3"/>
          <c:tx>
            <c:v>Разовый порог</c:v>
          </c:tx>
          <c:spPr>
            <a:solidFill xmlns:a="http://schemas.openxmlformats.org/drawingml/2006/main">
              <a:srgbClr val="52718A"/>
            </a:solidFill>
            <a:ln xmlns:a="http://schemas.openxmlformats.org/drawingml/2006/main" w="9525">
              <a:solidFill>
                <a:srgbClr val="52718A"/>
              </a:solidFill>
            </a:ln>
          </c:spPr>
          <c:marker>
            <c:symbol val="circle"/>
            <c:size val="10"/>
            <c:spPr>
              <a:solidFill xmlns:a="http://schemas.openxmlformats.org/drawingml/2006/main">
                <a:srgbClr val="52718A"/>
              </a:solidFill>
            </c:spPr>
          </c:marker>
          <c:dLbls>
            <c:dLbl>
              <c:idx val="0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425" b="0">
                        <a:solidFill>
                          <a:srgbClr val="183B32"/>
                        </a:solidFill>
                        <a:latin typeface="Noto Sans"/>
                        <a:ea typeface="Noto Sans"/>
                        <a:cs typeface="Noto Sans"/>
                      </a:rPr>
                      <a:t>Порог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425" b="0">
                      <a:solidFill>
                        <a:srgbClr val="183B32"/>
                      </a:solidFill>
                      <a:latin typeface="Noto Sans"/>
                      <a:ea typeface="Noto Sans"/>
                      <a:cs typeface="Noto Sans"/>
                    </a:defRPr>
                  </a:pPr>
                </a:p>
              </c:txPr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xVal>
            <c:numRef>
              <c:f>'Chart Data'!$G$2:$G$2</c:f>
              <c:numCache>
                <c:formatCode>General</c:formatCode>
                <c:ptCount val="1"/>
                <c:pt idx="0">
                  <c:v>0.069444</c:v>
                </c:pt>
              </c:numCache>
            </c:numRef>
          </c:xVal>
          <c:yVal>
            <c:numRef>
              <c:f>'Chart Data'!$H$2:$H$2</c:f>
              <c:numCache>
                <c:formatCode>0.0</c:formatCode>
                <c:ptCount val="1"/>
                <c:pt idx="0">
                  <c:v>0.525</c:v>
                </c:pt>
              </c:numCache>
            </c:numRef>
          </c:yVal>
        </c:ser>
        <c:ser>
          <c:idx val="4"/>
          <c:order val="4"/>
          <c:tx>
            <c:v>Среднее 3 мес.</c:v>
          </c:tx>
          <c:spPr>
            <a:solidFill xmlns:a="http://schemas.openxmlformats.org/drawingml/2006/main">
              <a:srgbClr val="52718A"/>
            </a:solidFill>
            <a:ln xmlns:a="http://schemas.openxmlformats.org/drawingml/2006/main" w="9525">
              <a:solidFill>
                <a:srgbClr val="52718A"/>
              </a:solidFill>
            </a:ln>
          </c:spPr>
          <c:marker>
            <c:symbol val="circle"/>
            <c:size val="10"/>
            <c:spPr>
              <a:solidFill xmlns:a="http://schemas.openxmlformats.org/drawingml/2006/main">
                <a:srgbClr val="52718A"/>
              </a:solidFill>
            </c:spPr>
          </c:marker>
          <c:dLbls>
            <c:dLbl>
              <c:idx val="0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425" b="0">
                        <a:solidFill>
                          <a:srgbClr val="183B32"/>
                        </a:solidFill>
                        <a:latin typeface="Noto Sans"/>
                        <a:ea typeface="Noto Sans"/>
                        <a:cs typeface="Noto Sans"/>
                      </a:rPr>
                      <a:t>Среднее 3 мес.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425" b="0">
                      <a:solidFill>
                        <a:srgbClr val="183B32"/>
                      </a:solidFill>
                      <a:latin typeface="Noto Sans"/>
                      <a:ea typeface="Noto Sans"/>
                      <a:cs typeface="Noto Sans"/>
                    </a:defRPr>
                  </a:pPr>
                </a:p>
              </c:txPr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xVal>
            <c:numRef>
              <c:f>'Chart Data'!$I$2:$I$2</c:f>
              <c:numCache>
                <c:formatCode>General</c:formatCode>
                <c:ptCount val="1"/>
                <c:pt idx="0">
                  <c:v>0.069444</c:v>
                </c:pt>
              </c:numCache>
            </c:numRef>
          </c:xVal>
          <c:yVal>
            <c:numRef>
              <c:f>'Chart Data'!$J$2:$J$2</c:f>
              <c:numCache>
                <c:formatCode>0.0</c:formatCode>
                <c:ptCount val="1"/>
                <c:pt idx="0">
                  <c:v>0.344</c:v>
                </c:pt>
              </c:numCache>
            </c:numRef>
          </c:yVal>
        </c:ser>
        <c:ser>
          <c:idx val="5"/>
          <c:order val="5"/>
          <c:tx>
            <c:v>BOCPD</c:v>
          </c:tx>
          <c:spPr>
            <a:solidFill xmlns:a="http://schemas.openxmlformats.org/drawingml/2006/main">
              <a:srgbClr val="52718A"/>
            </a:solidFill>
            <a:ln xmlns:a="http://schemas.openxmlformats.org/drawingml/2006/main" w="9525">
              <a:solidFill>
                <a:srgbClr val="52718A"/>
              </a:solidFill>
            </a:ln>
          </c:spPr>
          <c:marker>
            <c:symbol val="circle"/>
            <c:size val="10"/>
            <c:spPr>
              <a:solidFill xmlns:a="http://schemas.openxmlformats.org/drawingml/2006/main">
                <a:srgbClr val="52718A"/>
              </a:solidFill>
            </c:spPr>
          </c:marker>
          <c:dLbls>
            <c:dLbl>
              <c:idx val="0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425" b="0">
                        <a:solidFill>
                          <a:srgbClr val="183B32"/>
                        </a:solidFill>
                        <a:latin typeface="Noto Sans"/>
                        <a:ea typeface="Noto Sans"/>
                        <a:cs typeface="Noto Sans"/>
                      </a:rPr>
                      <a:t>BOCPD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425" b="0">
                      <a:solidFill>
                        <a:srgbClr val="183B32"/>
                      </a:solidFill>
                      <a:latin typeface="Noto Sans"/>
                      <a:ea typeface="Noto Sans"/>
                      <a:cs typeface="Noto Sans"/>
                    </a:defRPr>
                  </a:pPr>
                </a:p>
              </c:txPr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xVal>
            <c:numRef>
              <c:f>'Chart Data'!$K$2:$K$2</c:f>
              <c:numCache>
                <c:formatCode>General</c:formatCode>
                <c:ptCount val="1"/>
                <c:pt idx="0">
                  <c:v>0.092593</c:v>
                </c:pt>
              </c:numCache>
            </c:numRef>
          </c:xVal>
          <c:yVal>
            <c:numRef>
              <c:f>'Chart Data'!$L$2:$L$2</c:f>
              <c:numCache>
                <c:formatCode>0.0</c:formatCode>
                <c:ptCount val="1"/>
                <c:pt idx="0">
                  <c:v>0.092</c:v>
                </c:pt>
              </c:numCache>
            </c:numRef>
          </c:yVal>
        </c:ser>
        <c:ser>
          <c:idx val="6"/>
          <c:order val="6"/>
          <c:tx>
            <c:v>PELT (офлайн)</c:v>
          </c:tx>
          <c:spPr>
            <a:solidFill xmlns:a="http://schemas.openxmlformats.org/drawingml/2006/main">
              <a:srgbClr val="919A96"/>
            </a:solidFill>
            <a:ln xmlns:a="http://schemas.openxmlformats.org/drawingml/2006/main" w="9525">
              <a:solidFill>
                <a:srgbClr val="919A96"/>
              </a:solidFill>
            </a:ln>
          </c:spPr>
          <c:marker>
            <c:symbol val="diamond"/>
            <c:size val="10"/>
            <c:spPr>
              <a:solidFill xmlns:a="http://schemas.openxmlformats.org/drawingml/2006/main">
                <a:srgbClr val="919A96"/>
              </a:solidFill>
            </c:spPr>
          </c:marker>
          <c:dLbls>
            <c:dLbl>
              <c:idx val="0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425" b="0">
                        <a:solidFill>
                          <a:srgbClr val="62706C"/>
                        </a:solidFill>
                        <a:latin typeface="Noto Sans"/>
                        <a:ea typeface="Noto Sans"/>
                        <a:cs typeface="Noto Sans"/>
                      </a:rPr>
                      <a:t>PELT (офлайн)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425" b="0">
                      <a:solidFill>
                        <a:srgbClr val="62706C"/>
                      </a:solidFill>
                      <a:latin typeface="Noto Sans"/>
                      <a:ea typeface="Noto Sans"/>
                      <a:cs typeface="Noto Sans"/>
                    </a:defRPr>
                  </a:pPr>
                </a:p>
              </c:txPr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xVal>
            <c:numRef>
              <c:f>'Chart Data'!$M$2:$M$2</c:f>
              <c:numCache>
                <c:formatCode>General</c:formatCode>
                <c:ptCount val="1"/>
                <c:pt idx="0">
                  <c:v>0.138889</c:v>
                </c:pt>
              </c:numCache>
            </c:numRef>
          </c:xVal>
          <c:yVal>
            <c:numRef>
              <c:f>'Chart Data'!$N$2:$N$2</c:f>
              <c:numCache>
                <c:formatCode>0.0</c:formatCode>
                <c:ptCount val="1"/>
                <c:pt idx="0">
                  <c:v>0.722</c:v>
                </c:pt>
              </c:numCache>
            </c:numRef>
          </c:yVal>
        </c:ser>
        <c:ser>
          <c:idx val="7"/>
          <c:order val="7"/>
          <c:tx>
            <c:v>Kernel (офлайн)</c:v>
          </c:tx>
          <c:spPr>
            <a:solidFill xmlns:a="http://schemas.openxmlformats.org/drawingml/2006/main">
              <a:srgbClr val="919A96"/>
            </a:solidFill>
            <a:ln xmlns:a="http://schemas.openxmlformats.org/drawingml/2006/main" w="9525">
              <a:solidFill>
                <a:srgbClr val="919A96"/>
              </a:solidFill>
            </a:ln>
          </c:spPr>
          <c:marker>
            <c:symbol val="diamond"/>
            <c:size val="10"/>
            <c:spPr>
              <a:solidFill xmlns:a="http://schemas.openxmlformats.org/drawingml/2006/main">
                <a:srgbClr val="919A96"/>
              </a:solidFill>
            </c:spPr>
          </c:marker>
          <c:dLbls>
            <c:dLbl>
              <c:idx val="0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425" b="0">
                        <a:solidFill>
                          <a:srgbClr val="62706C"/>
                        </a:solidFill>
                        <a:latin typeface="Noto Sans"/>
                        <a:ea typeface="Noto Sans"/>
                        <a:cs typeface="Noto Sans"/>
                      </a:rPr>
                      <a:t>Kernel (офлайн)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425" b="0">
                      <a:solidFill>
                        <a:srgbClr val="62706C"/>
                      </a:solidFill>
                      <a:latin typeface="Noto Sans"/>
                      <a:ea typeface="Noto Sans"/>
                      <a:cs typeface="Noto Sans"/>
                    </a:defRPr>
                  </a:pPr>
                </a:p>
              </c:txPr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xVal>
            <c:numRef>
              <c:f>'Chart Data'!$O$2:$O$2</c:f>
              <c:numCache>
                <c:formatCode>General</c:formatCode>
                <c:ptCount val="1"/>
                <c:pt idx="0">
                  <c:v>0.023148</c:v>
                </c:pt>
              </c:numCache>
            </c:numRef>
          </c:xVal>
          <c:yVal>
            <c:numRef>
              <c:f>'Chart Data'!$P$2:$P$2</c:f>
              <c:numCache>
                <c:formatCode>0.0</c:formatCode>
                <c:ptCount val="1"/>
                <c:pt idx="0">
                  <c:v>0.188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latin typeface="Noto Sans"/>
                  <a:ea typeface="Noto Sans"/>
                  <a:cs typeface="Noto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0.85"/>
          <c:min val="0"/>
        </c:scaling>
        <c:delete val="0"/>
        <c:axPos val="l"/>
        <c:majorGridlines>
          <c:spPr>
            <a:ln xmlns:a="http://schemas.openxmlformats.org/drawingml/2006/main" w="7620">
              <a:solidFill>
                <a:srgbClr val="DCE6DD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latin typeface="Noto Sans"/>
                    <a:ea typeface="Noto Sans"/>
                    <a:cs typeface="Noto Sans"/>
                  </a:rPr>
                  <a:t>F1 начала шока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latin typeface="Noto Sans"/>
                  <a:ea typeface="Noto Sans"/>
                  <a:cs typeface="Noto Sans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Noto Sans"/>
                <a:ea typeface="Noto Sans"/>
                <a:cs typeface="Noto Sans"/>
              </a:defRPr>
            </a:pPr>
          </a:p>
        </c:txPr>
        <c:crossAx val="48650112"/>
        <c:majorUnit val="0.2"/>
      </c:valAx>
      <c:valAx>
        <c:axId val="48650112"/>
        <c:scaling>
          <c:orientation val="minMax"/>
          <c:max val="0.17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latin typeface="Noto Sans"/>
                    <a:ea typeface="Noto Sans"/>
                    <a:cs typeface="Noto Sans"/>
                  </a:rPr>
                  <a:t>FAR: ложные тревоги / 100 МО-месяцев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latin typeface="Noto Sans"/>
                  <a:ea typeface="Noto Sans"/>
                  <a:cs typeface="Noto Sans"/>
                </a:defRPr>
              </a:pPr>
            </a:p>
          </c:txPr>
        </c:title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Noto Sans"/>
                <a:ea typeface="Noto Sans"/>
                <a:cs typeface="Noto Sans"/>
              </a:defRPr>
            </a:pPr>
          </a:p>
        </c:txPr>
        <c:crossAx val="48672768"/>
        <c:majorUnit val="0.04"/>
      </c:valAx>
      <c:spPr>
        <a:solidFill xmlns:a="http://schemas.openxmlformats.org/drawingml/2006/main">
          <a:srgbClr val="FAFCF9"/>
        </a:solidFill>
      </c:spPr>
    </c:plotArea>
    <c:plotVisOnly val="1"/>
  </c:chart>
  <c:spPr>
    <a:solidFill xmlns:a="http://schemas.openxmlformats.org/drawingml/2006/main">
      <a:srgbClr val="FAFCF9"/>
    </a:solidFill>
  </c:spPr>
  <c:externalData r:id="rIdChartSnapshot1">
    <c:autoUpdate val="0"/>
  </c:externalData>
</c:chartSpace>
</file>

<file path=ppt/slides/charts/chart6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Орск минус Оренбург, п.п.</c:v>
          </c:tx>
          <c:spPr>
            <a:ln xmlns:a="http://schemas.openxmlformats.org/drawingml/2006/main" w="28575">
              <a:solidFill>
                <a:srgbClr val="0C825D"/>
              </a:solidFill>
            </a:ln>
          </c:spPr>
          <c:marker>
            <c:symbol val="none"/>
          </c:marker>
          <c:cat>
            <c:numRef>
              <c:f>'Chart Data'!$A$2:$A$13</c:f>
              <c:numCache>
                <c:formatCode>General</c:formatCode>
                <c:ptCount val="12"/>
                <c:pt idx="0">
                  <c:v>01</c:v>
                </c:pt>
                <c:pt idx="1">
                  <c:v>02</c:v>
                </c:pt>
                <c:pt idx="2">
                  <c:v>03</c:v>
                </c:pt>
                <c:pt idx="3">
                  <c:v>04</c:v>
                </c:pt>
                <c:pt idx="4">
                  <c:v>05</c:v>
                </c:pt>
                <c:pt idx="5">
                  <c:v>06</c:v>
                </c:pt>
                <c:pt idx="6">
                  <c:v>07</c:v>
                </c:pt>
                <c:pt idx="7">
                  <c:v>08</c:v>
                </c:pt>
                <c:pt idx="8">
                  <c:v>09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cat>
          <c:val>
            <c:numRef>
              <c:f>'Chart Data'!$B$2:$B$13</c:f>
              <c:numCache>
                <c:formatCode>0.0</c:formatCode>
                <c:ptCount val="12"/>
                <c:pt idx="0">
                  <c:v>2.68</c:v>
                </c:pt>
                <c:pt idx="1">
                  <c:v>2.031</c:v>
                </c:pt>
                <c:pt idx="2">
                  <c:v>1.836</c:v>
                </c:pt>
                <c:pt idx="3">
                  <c:v>3.15</c:v>
                </c:pt>
                <c:pt idx="4">
                  <c:v>9.194</c:v>
                </c:pt>
                <c:pt idx="5">
                  <c:v>6.232</c:v>
                </c:pt>
                <c:pt idx="6">
                  <c:v>6.109</c:v>
                </c:pt>
                <c:pt idx="7">
                  <c:v>4.339</c:v>
                </c:pt>
                <c:pt idx="8">
                  <c:v>4.175</c:v>
                </c:pt>
                <c:pt idx="9">
                  <c:v>6.009</c:v>
                </c:pt>
                <c:pt idx="10">
                  <c:v>3.509</c:v>
                </c:pt>
                <c:pt idx="11">
                  <c:v>2.397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Noto Sans"/>
                  <a:ea typeface="Noto Sans"/>
                  <a:cs typeface="Noto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Noto Sans"/>
                    <a:ea typeface="Noto Sans"/>
                    <a:cs typeface="Noto Sans"/>
                  </a:rPr>
                  <a:t>Месяц 2024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Noto Sans"/>
                  <a:ea typeface="Noto Sans"/>
                  <a:cs typeface="Noto San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Noto Sans"/>
                <a:ea typeface="Noto Sans"/>
                <a:cs typeface="Noto Sans"/>
              </a:defRPr>
            </a:pPr>
          </a:p>
        </c:txPr>
        <c:crossAx val="48672768"/>
      </c:catAx>
      <c:valAx>
        <c:axId val="48672768"/>
        <c:scaling>
          <c:orientation val="minMax"/>
          <c:max val="11"/>
          <c:min val="0"/>
        </c:scaling>
        <c:delete val="0"/>
        <c:axPos val="l"/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Noto Sans"/>
                <a:ea typeface="Noto Sans"/>
                <a:cs typeface="Noto Sans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AFCF9"/>
        </a:solidFill>
      </c:spPr>
    </c:plotArea>
    <c:plotVisOnly val="1"/>
  </c:chart>
  <c:spPr>
    <a:solidFill xmlns:a="http://schemas.openxmlformats.org/drawingml/2006/main">
      <a:srgbClr val="FAFCF9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C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708A03-320E-40EF-A73C-2A929D62C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B32"/>
                </a:solidFill>
                <a:latin typeface="Noto Sans"/>
                <a:ea typeface="Noto Sans"/>
                <a:cs typeface="Noto Sans"/>
              </a:defRPr>
            </a:pPr>
            <a:r>
              <a:rPr sz="3300" b="1">
                <a:solidFill>
                  <a:srgbClr val="183B32"/>
                </a:solidFill>
                <a:latin typeface="Noto Sans"/>
                <a:ea typeface="Noto Sans"/>
                <a:cs typeface="Noto Sans"/>
              </a:rPr>
              <a:t>Расходы муниципалитетов</a:t>
            </a:r>
          </a:p>
          <a:p xmlns:a="http://schemas.openxmlformats.org/drawingml/2006/main">
            <a:pPr>
              <a:defRPr sz="3300" b="1">
                <a:solidFill>
                  <a:srgbClr val="183B32"/>
                </a:solidFill>
                <a:latin typeface="Noto Sans"/>
                <a:ea typeface="Noto Sans"/>
                <a:cs typeface="Noto Sans"/>
              </a:defRPr>
            </a:pPr>
            <a:r>
              <a:rPr sz="3300" b="1">
                <a:solidFill>
                  <a:srgbClr val="183B32"/>
                </a:solidFill>
                <a:latin typeface="Noto Sans"/>
                <a:ea typeface="Noto Sans"/>
                <a:cs typeface="Noto Sans"/>
              </a:rPr>
              <a:t>и сигналы изменений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B58016-07B8-41FF-82FD-6E78AA247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362700"/>
            <a:ext cx="819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2706C"/>
                </a:solidFill>
                <a:latin typeface="Noto Sans"/>
                <a:ea typeface="Noto Sans"/>
                <a:cs typeface="Noto Sans"/>
              </a:defRPr>
            </a:pPr>
            <a:r>
              <a:rPr sz="1275" b="0">
                <a:solidFill>
                  <a:srgbClr val="62706C"/>
                </a:solidFill>
                <a:latin typeface="Noto Sans"/>
                <a:ea typeface="Noto Sans"/>
                <a:cs typeface="Noto Sans"/>
              </a:rPr>
              <a:t>1 / 21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C27D95-0E2F-437D-B363-823C18F2B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885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0C825D"/>
                </a:solidFill>
                <a:latin typeface="Noto Sans"/>
                <a:ea typeface="Noto Sans"/>
                <a:cs typeface="Noto Sans"/>
              </a:defRPr>
            </a:pPr>
            <a:r>
              <a:rPr sz="2100" b="0">
                <a:solidFill>
                  <a:srgbClr val="0C825D"/>
                </a:solidFill>
                <a:latin typeface="Noto Sans"/>
                <a:ea typeface="Noto Sans"/>
                <a:cs typeface="Noto Sans"/>
              </a:rPr>
              <a:t>СберИндекс · задача №2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D1B231-A66E-47F0-8C41-2E668740E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885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83B32"/>
                </a:solidFill>
                <a:latin typeface="Noto Sans"/>
                <a:ea typeface="Noto Sans"/>
                <a:cs typeface="Noto Sans"/>
              </a:defRPr>
            </a:pPr>
            <a:r>
              <a:rPr sz="2100" b="1">
                <a:solidFill>
                  <a:srgbClr val="183B32"/>
                </a:solidFill>
                <a:latin typeface="Noto Sans"/>
                <a:ea typeface="Noto Sans"/>
                <a:cs typeface="Noto Sans"/>
              </a:rPr>
              <a:t>Команда MISIS X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59652C-3200-411D-ABFE-8A8DE2BD3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33675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83B32"/>
                </a:solidFill>
                <a:latin typeface="Noto Sans"/>
                <a:ea typeface="Noto Sans"/>
                <a:cs typeface="Noto Sans"/>
              </a:defRPr>
            </a:pPr>
            <a:r>
              <a:rPr sz="1725" b="0">
                <a:solidFill>
                  <a:srgbClr val="183B32"/>
                </a:solidFill>
                <a:latin typeface="Noto Sans"/>
                <a:ea typeface="Noto Sans"/>
                <a:cs typeface="Noto Sans"/>
              </a:rPr>
              <a:t>Участники: Мещеряков Никита · Соколова Юлия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E1326D-8F78-44C2-8E8D-7EE0AFFEE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33725"/>
            <a:ext cx="8858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3B32"/>
                </a:solidFill>
                <a:latin typeface="Noto Sans"/>
                <a:ea typeface="Noto Sans"/>
                <a:cs typeface="Noto Sans"/>
              </a:defRPr>
            </a:pPr>
            <a:r>
              <a:rPr sz="2700" b="1">
                <a:solidFill>
                  <a:srgbClr val="183B32"/>
                </a:solidFill>
                <a:latin typeface="Noto Sans"/>
                <a:ea typeface="Noto Sans"/>
                <a:cs typeface="Noto Sans"/>
              </a:rPr>
              <a:t>Прогноз на 1, 3, 6 и 12 месяцев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5A2CE8-5EC6-4B7E-B11B-D77B26460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3825"/>
            <a:ext cx="88582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3B32"/>
                </a:solidFill>
                <a:latin typeface="Noto Sans"/>
                <a:ea typeface="Noto Sans"/>
                <a:cs typeface="Noto Sans"/>
              </a:defRPr>
            </a:pPr>
            <a:r>
              <a:rPr sz="2100" b="0">
                <a:solidFill>
                  <a:srgbClr val="183B32"/>
                </a:solidFill>
                <a:latin typeface="Noto Sans"/>
                <a:ea typeface="Noto Sans"/>
                <a:cs typeface="Noto Sans"/>
              </a:rPr>
              <a:t>Сезонная модель с поправкой роста</a:t>
            </a:r>
          </a:p>
          <a:p xmlns:a="http://schemas.openxmlformats.org/drawingml/2006/main">
            <a:pPr>
              <a:defRPr sz="2100" b="0">
                <a:solidFill>
                  <a:srgbClr val="183B32"/>
                </a:solidFill>
                <a:latin typeface="Noto Sans"/>
                <a:ea typeface="Noto Sans"/>
                <a:cs typeface="Noto Sans"/>
              </a:defRPr>
            </a:pPr>
            <a:r>
              <a:rPr sz="2100" b="0">
                <a:solidFill>
                  <a:srgbClr val="183B32"/>
                </a:solidFill>
                <a:latin typeface="Noto Sans"/>
                <a:ea typeface="Noto Sans"/>
                <a:cs typeface="Noto Sans"/>
              </a:rPr>
              <a:t>и обнаружение изменений методом EWMA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C6D402-6A3C-4C45-888F-E75D53D59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57775"/>
            <a:ext cx="9191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C825D"/>
                </a:solidFill>
                <a:latin typeface="Noto Sans"/>
                <a:ea typeface="Noto Sans"/>
                <a:cs typeface="Noto Sans"/>
              </a:defRPr>
            </a:pPr>
            <a:r>
              <a:rPr sz="1725" b="0">
                <a:solidFill>
                  <a:srgbClr val="0C825D"/>
                </a:solidFill>
                <a:latin typeface="Noto Sans"/>
                <a:ea typeface="Noto Sans"/>
                <a:cs typeface="Noto Sans"/>
                <a:hlinkClick xmlns:r="http://schemas.openxmlformats.org/officeDocument/2006/relationships" r:id="R48d84175b0864ed1"/>
              </a:rPr>
              <a:t>github.com/NikitaMeshDS/sberindex-task2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583243-40DF-4BB5-A4F2-020382499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14975"/>
            <a:ext cx="9191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C825D"/>
                </a:solidFill>
                <a:latin typeface="Noto Sans"/>
                <a:ea typeface="Noto Sans"/>
                <a:cs typeface="Noto Sans"/>
              </a:defRPr>
            </a:pPr>
            <a:r>
              <a:rPr sz="1725" b="0">
                <a:solidFill>
                  <a:srgbClr val="0C825D"/>
                </a:solidFill>
                <a:latin typeface="Noto Sans"/>
                <a:ea typeface="Noto Sans"/>
                <a:cs typeface="Noto Sans"/>
                <a:hlinkClick xmlns:r="http://schemas.openxmlformats.org/officeDocument/2006/relationships" r:id="R1417d7490870419a"/>
              </a:rPr>
              <a:t>nikitameshds.github.io/sberindex-task2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9aa9e4fcbb4a48"/>
          <a:stretch xmlns:a="http://schemas.openxmlformats.org/drawingml/2006/main"/>
        </p:blipFill>
        <p:spPr>
          <a:xfrm xmlns:a="http://schemas.openxmlformats.org/drawingml/2006/main">
            <a:off x="9525000" y="1809750"/>
            <a:ext cx="1981200" cy="19812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D00252-13B9-47DF-9875-1B87A8993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3905250"/>
            <a:ext cx="22193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2706C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62706C"/>
                </a:solidFill>
                <a:latin typeface="Noto Sans"/>
                <a:ea typeface="Noto Sans"/>
                <a:cs typeface="Noto Sans"/>
              </a:rPr>
              <a:t>GitHub: открытый доступ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C6A4A1-5478-4FE7-906B-B61C8C64D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962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2706C"/>
                </a:solidFill>
                <a:latin typeface="Noto Sans"/>
                <a:ea typeface="Noto Sans"/>
                <a:cs typeface="Noto Sans"/>
              </a:defRPr>
            </a:pPr>
            <a:r>
              <a:rPr sz="1575" b="0">
                <a:solidFill>
                  <a:srgbClr val="62706C"/>
                </a:solidFill>
                <a:latin typeface="Noto Sans"/>
                <a:ea typeface="Noto Sans"/>
                <a:cs typeface="Noto Sans"/>
              </a:rPr>
              <a:t>Данные 2023–2024 · готовые материалы для самостоятельной проверки</a:t>
            </a:r>
          </a:p>
        </p:txBody>
      </p:sp>
    </p:spTree>
    <p:extLst>
      <p:ext uri="{BB962C8B-B14F-4D97-AF65-F5344CB8AC3E}">
        <p14:creationId xmlns:p14="http://schemas.microsoft.com/office/powerpoint/2010/main" val="63303213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C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0A99B0-A042-4426-A760-ECA0AF6C4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B32"/>
                </a:solidFill>
                <a:latin typeface="Noto Sans"/>
                <a:ea typeface="Noto Sans"/>
                <a:cs typeface="Noto Sans"/>
              </a:defRPr>
            </a:pPr>
            <a:r>
              <a:rPr sz="3300" b="1">
                <a:solidFill>
                  <a:srgbClr val="183B32"/>
                </a:solidFill>
                <a:latin typeface="Noto Sans"/>
                <a:ea typeface="Noto Sans"/>
                <a:cs typeface="Noto Sans"/>
              </a:rPr>
              <a:t>Итоги и карта семи критериев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CA4569-833D-4F1E-BECB-04D13D3BD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362700"/>
            <a:ext cx="819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2706C"/>
                </a:solidFill>
                <a:latin typeface="Noto Sans"/>
                <a:ea typeface="Noto Sans"/>
                <a:cs typeface="Noto Sans"/>
              </a:defRPr>
            </a:pPr>
            <a:r>
              <a:rPr sz="1275" b="0">
                <a:solidFill>
                  <a:srgbClr val="62706C"/>
                </a:solidFill>
                <a:latin typeface="Noto Sans"/>
                <a:ea typeface="Noto Sans"/>
                <a:cs typeface="Noto Sans"/>
              </a:rPr>
              <a:t>2 / 21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C50577-73E6-4A0B-8A77-C3C64C918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2706C"/>
                </a:solidFill>
                <a:latin typeface="Noto Sans"/>
                <a:ea typeface="Noto Sans"/>
                <a:cs typeface="Noto Sans"/>
              </a:defRPr>
            </a:pPr>
            <a:r>
              <a:rPr sz="1425" b="0">
                <a:solidFill>
                  <a:srgbClr val="62706C"/>
                </a:solidFill>
                <a:latin typeface="Noto Sans"/>
                <a:ea typeface="Noto Sans"/>
                <a:cs typeface="Noto Sans"/>
              </a:rPr>
              <a:t>¹ К одному Prophet с профилем; интервалы условны на 2024. ² Ложные тревоги / 100 МО-месяцев на синтетике.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CA83B2-0D98-411B-94AC-A6666EA01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C825D"/>
                </a:solidFill>
                <a:latin typeface="Noto Sans"/>
                <a:ea typeface="Noto Sans"/>
                <a:cs typeface="Noto Sans"/>
              </a:defRPr>
            </a:pPr>
            <a:r>
              <a:rPr sz="2325" b="1">
                <a:solidFill>
                  <a:srgbClr val="0C825D"/>
                </a:solidFill>
                <a:latin typeface="Noto Sans"/>
                <a:ea typeface="Noto Sans"/>
                <a:cs typeface="Noto Sans"/>
              </a:rPr>
              <a:t>MAE −42 / −23 / −28 / −56%¹ · EWMA F1 0,647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981200"/>
          <a:ext xmlns:a="http://schemas.openxmlformats.org/drawingml/2006/main" cx="10972800" cy="378142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286000"/>
                <a:gridCol w="762000"/>
                <a:gridCol w="5429250"/>
                <a:gridCol w="2495550"/>
              </a:tblGrid>
              <a:tr h="472678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"/>
                          <a:ea typeface="Noto Sans"/>
                          <a:cs typeface="Noto Sans"/>
                        </a:rPr>
                        <a:t>Критерий</a:t>
                      </a:r>
                    </a:p>
                  </a:txBody>
                  <a:tcPr marL="91440" marR="91440" marT="45720" marB="45720">
                    <a:solidFill>
                      <a:srgbClr val="183B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"/>
                          <a:ea typeface="Noto Sans"/>
                          <a:cs typeface="Noto Sans"/>
                        </a:rPr>
                        <a:t>Вес</a:t>
                      </a:r>
                    </a:p>
                  </a:txBody>
                  <a:tcPr marL="91440" marR="91440" marT="45720" marB="45720">
                    <a:solidFill>
                      <a:srgbClr val="183B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"/>
                          <a:ea typeface="Noto Sans"/>
                          <a:cs typeface="Noto Sans"/>
                        </a:rPr>
                        <a:t>Доказательство</a:t>
                      </a:r>
                    </a:p>
                  </a:txBody>
                  <a:tcPr marL="91440" marR="91440" marT="45720" marB="45720">
                    <a:solidFill>
                      <a:srgbClr val="183B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"/>
                          <a:ea typeface="Noto Sans"/>
                          <a:cs typeface="Noto Sans"/>
                        </a:rPr>
                        <a:t>Слайды / отчёт</a:t>
                      </a:r>
                    </a:p>
                  </a:txBody>
                  <a:tcPr marL="91440" marR="91440" marT="45720" marB="45720">
                    <a:solidFill>
                      <a:srgbClr val="183B32"/>
                    </a:solidFill>
                  </a:tcPr>
                </a:tc>
              </a:tr>
              <a:tr h="47267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Методология</a:t>
                      </a:r>
                    </a:p>
                  </a:txBody>
                  <a:tcPr marL="91440" marR="91440" marT="45720" marB="45720">
                    <a:solidFill>
                      <a:srgbClr val="F0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10%</a:t>
                      </a:r>
                    </a:p>
                  </a:txBody>
                  <a:tcPr marL="91440" marR="91440" marT="45720" marB="45720">
                    <a:solidFill>
                      <a:srgbClr val="F0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Формула и объяснение словами</a:t>
                      </a:r>
                    </a:p>
                  </a:txBody>
                  <a:tcPr marL="91440" marR="91440" marT="45720" marB="45720">
                    <a:solidFill>
                      <a:srgbClr val="F0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4 / §1 и 3</a:t>
                      </a:r>
                    </a:p>
                  </a:txBody>
                  <a:tcPr marL="91440" marR="91440" marT="45720" marB="45720">
                    <a:solidFill>
                      <a:srgbClr val="F0F6F1"/>
                    </a:solidFill>
                  </a:tcPr>
                </a:tc>
              </a:tr>
              <a:tr h="47267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Прогноз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20%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10 моделей, 4 горизонта и выбор по MAE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5–9 / §3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7267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Детекторы</a:t>
                      </a:r>
                    </a:p>
                  </a:txBody>
                  <a:tcPr marL="91440" marR="91440" marT="45720" marB="45720">
                    <a:solidFill>
                      <a:srgbClr val="F0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20%</a:t>
                      </a:r>
                    </a:p>
                  </a:txBody>
                  <a:tcPr marL="91440" marR="91440" marT="45720" marB="45720">
                    <a:solidFill>
                      <a:srgbClr val="F0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8 методов, точность и ложные тревоги</a:t>
                      </a:r>
                    </a:p>
                  </a:txBody>
                  <a:tcPr marL="91440" marR="91440" marT="45720" marB="45720">
                    <a:solidFill>
                      <a:srgbClr val="F0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13–15 / §5</a:t>
                      </a:r>
                    </a:p>
                  </a:txBody>
                  <a:tcPr marL="91440" marR="91440" marT="45720" marB="45720">
                    <a:solidFill>
                      <a:srgbClr val="F0F6F1"/>
                    </a:solidFill>
                  </a:tcPr>
                </a:tc>
              </a:tr>
              <a:tr h="47267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Готовые модели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15%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Сравнение, преимущества и ограничения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5, 10–11 / §4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7267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Новости</a:t>
                      </a:r>
                    </a:p>
                  </a:txBody>
                  <a:tcPr marL="91440" marR="91440" marT="45720" marB="45720">
                    <a:solidFill>
                      <a:srgbClr val="F0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15%</a:t>
                      </a:r>
                    </a:p>
                  </a:txBody>
                  <a:tcPr marL="91440" marR="91440" marT="45720" marB="45720">
                    <a:solidFill>
                      <a:srgbClr val="F0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Два канала: прогноз и поиск изменений</a:t>
                      </a:r>
                    </a:p>
                  </a:txBody>
                  <a:tcPr marL="91440" marR="91440" marT="45720" marB="45720">
                    <a:solidFill>
                      <a:srgbClr val="F0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16 / §6</a:t>
                      </a:r>
                    </a:p>
                  </a:txBody>
                  <a:tcPr marL="91440" marR="91440" marT="45720" marB="45720">
                    <a:solidFill>
                      <a:srgbClr val="F0F6F1"/>
                    </a:solidFill>
                  </a:tcPr>
                </a:tc>
              </a:tr>
              <a:tr h="47267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Метрики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10%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MAE, R² и объяснение каждой метрики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5–7 / §3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7267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Интерпретация</a:t>
                      </a:r>
                    </a:p>
                  </a:txBody>
                  <a:tcPr marL="91440" marR="91440" marT="45720" marB="45720">
                    <a:solidFill>
                      <a:srgbClr val="F0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10%</a:t>
                      </a:r>
                    </a:p>
                  </a:txBody>
                  <a:tcPr marL="91440" marR="91440" marT="45720" marB="45720">
                    <a:solidFill>
                      <a:srgbClr val="F0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Примеры МО и воспроизведение</a:t>
                      </a:r>
                    </a:p>
                  </a:txBody>
                  <a:tcPr marL="91440" marR="91440" marT="45720" marB="45720">
                    <a:solidFill>
                      <a:srgbClr val="F0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12, 15, 17, 20 / §7–8</a:t>
                      </a:r>
                    </a:p>
                  </a:txBody>
                  <a:tcPr marL="91440" marR="91440" marT="45720" marB="45720">
                    <a:solidFill>
                      <a:srgbClr val="F0F6F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8022602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C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4BAF46-5865-4AE6-BF83-9C76CF67F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B32"/>
                </a:solidFill>
                <a:latin typeface="Noto Sans"/>
                <a:ea typeface="Noto Sans"/>
                <a:cs typeface="Noto Sans"/>
              </a:defRPr>
            </a:pPr>
            <a:r>
              <a:rPr sz="3300" b="1">
                <a:solidFill>
                  <a:srgbClr val="183B32"/>
                </a:solidFill>
                <a:latin typeface="Noto Sans"/>
                <a:ea typeface="Noto Sans"/>
                <a:cs typeface="Noto Sans"/>
              </a:rPr>
              <a:t>Данные и временная проверка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1CE4A2-7B9C-4EDF-816C-096BD328D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362700"/>
            <a:ext cx="819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2706C"/>
                </a:solidFill>
                <a:latin typeface="Noto Sans"/>
                <a:ea typeface="Noto Sans"/>
                <a:cs typeface="Noto Sans"/>
              </a:defRPr>
            </a:pPr>
            <a:r>
              <a:rPr sz="1275" b="0">
                <a:solidFill>
                  <a:srgbClr val="62706C"/>
                </a:solidFill>
                <a:latin typeface="Noto Sans"/>
                <a:ea typeface="Noto Sans"/>
                <a:cs typeface="Noto Sans"/>
              </a:rPr>
              <a:t>3 / 21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3A81C1-3BC0-4C34-9DD0-9D3345DAE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2706C"/>
                </a:solidFill>
                <a:latin typeface="Noto Sans"/>
                <a:ea typeface="Noto Sans"/>
                <a:cs typeface="Noto Sans"/>
              </a:defRPr>
            </a:pPr>
            <a:r>
              <a:rPr sz="1425" b="0">
                <a:solidFill>
                  <a:srgbClr val="62706C"/>
                </a:solidFill>
                <a:latin typeface="Noto Sans"/>
                <a:ea typeface="Noto Sans"/>
                <a:cs typeface="Noto Sans"/>
              </a:rPr>
              <a:t>Исторические версии данных и сроки выпуска расходов неизвестны. Расчёт использует сценарий лага 0.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324AF3-26C3-43D5-A6C8-7ED970826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3524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83B32"/>
                </a:solidFill>
                <a:latin typeface="Noto Sans"/>
                <a:ea typeface="Noto Sans"/>
                <a:cs typeface="Noto Sans"/>
              </a:defRPr>
            </a:pPr>
            <a:r>
              <a:rPr sz="2175" b="1">
                <a:solidFill>
                  <a:srgbClr val="183B32"/>
                </a:solidFill>
                <a:latin typeface="Noto Sans"/>
                <a:ea typeface="Noto Sans"/>
                <a:cs typeface="Noto Sans"/>
              </a:rPr>
              <a:t>СберИндекс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660DD4-F421-44E0-8FAD-85E57EAEB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19350"/>
            <a:ext cx="3524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525" b="1">
                <a:solidFill>
                  <a:srgbClr val="0C825D"/>
                </a:solidFill>
                <a:latin typeface="Noto Sans"/>
                <a:ea typeface="Noto Sans"/>
                <a:cs typeface="Noto Sans"/>
              </a:defRPr>
            </a:pPr>
            <a:r>
              <a:rPr sz="3525" b="1">
                <a:solidFill>
                  <a:srgbClr val="0C825D"/>
                </a:solidFill>
                <a:latin typeface="Noto Sans"/>
                <a:ea typeface="Noto Sans"/>
                <a:cs typeface="Noto Sans"/>
              </a:rPr>
              <a:t>2 190 ID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AC3E14-3923-43E0-8F6A-D64895819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9950"/>
            <a:ext cx="3476625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3B32"/>
                </a:solidFill>
                <a:latin typeface="Noto Sans"/>
                <a:ea typeface="Noto Sans"/>
                <a:cs typeface="Noto Sans"/>
              </a:defRPr>
            </a:pPr>
            <a:r>
              <a:rPr sz="1875" b="0">
                <a:solidFill>
                  <a:srgbClr val="183B32"/>
                </a:solidFill>
                <a:latin typeface="Noto Sans"/>
                <a:ea typeface="Noto Sans"/>
                <a:cs typeface="Noto Sans"/>
              </a:rPr>
              <a:t>24 месяца · 6 категорий</a:t>
            </a:r>
          </a:p>
          <a:p xmlns:a="http://schemas.openxmlformats.org/drawingml/2006/main">
            <a:pPr>
              <a:defRPr sz="1875" b="0">
                <a:solidFill>
                  <a:srgbClr val="183B32"/>
                </a:solidFill>
                <a:latin typeface="Noto Sans"/>
                <a:ea typeface="Noto Sans"/>
                <a:cs typeface="Noto Sans"/>
              </a:defRPr>
            </a:pPr>
            <a:r>
              <a:rPr sz="1875" b="0">
                <a:solidFill>
                  <a:srgbClr val="183B32"/>
                </a:solidFill>
                <a:latin typeface="Noto Sans"/>
                <a:ea typeface="Noto Sans"/>
                <a:cs typeface="Noto Sans"/>
              </a:rPr>
              <a:t>Средние расходы жителя, руб.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0459A4-31F8-44FD-AABC-4CD9A5132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657350"/>
            <a:ext cx="3524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83B32"/>
                </a:solidFill>
                <a:latin typeface="Noto Sans"/>
                <a:ea typeface="Noto Sans"/>
                <a:cs typeface="Noto Sans"/>
              </a:defRPr>
            </a:pPr>
            <a:r>
              <a:rPr sz="2175" b="1">
                <a:solidFill>
                  <a:srgbClr val="183B32"/>
                </a:solidFill>
                <a:latin typeface="Noto Sans"/>
                <a:ea typeface="Noto Sans"/>
                <a:cs typeface="Noto Sans"/>
              </a:rPr>
              <a:t>География и Росстат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4F0D18-D69B-4AE5-8F8F-97A43EDEE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419350"/>
            <a:ext cx="3524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525" b="1">
                <a:solidFill>
                  <a:srgbClr val="0C825D"/>
                </a:solidFill>
                <a:latin typeface="Noto Sans"/>
                <a:ea typeface="Noto Sans"/>
                <a:cs typeface="Noto Sans"/>
              </a:defRPr>
            </a:pPr>
            <a:r>
              <a:rPr sz="3525" b="1">
                <a:solidFill>
                  <a:srgbClr val="0C825D"/>
                </a:solidFill>
                <a:latin typeface="Noto Sans"/>
                <a:ea typeface="Noto Sans"/>
                <a:cs typeface="Noto Sans"/>
              </a:rPr>
              <a:t>2 075 МО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E30D09-2B17-48C1-A745-42410B364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409950"/>
            <a:ext cx="3476625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3B32"/>
                </a:solidFill>
                <a:latin typeface="Noto Sans"/>
                <a:ea typeface="Noto Sans"/>
                <a:cs typeface="Noto Sans"/>
              </a:defRPr>
            </a:pPr>
            <a:r>
              <a:rPr sz="1875" b="0">
                <a:solidFill>
                  <a:srgbClr val="183B32"/>
                </a:solidFill>
                <a:latin typeface="Noto Sans"/>
                <a:ea typeface="Noto Sans"/>
                <a:cs typeface="Noto Sans"/>
              </a:rPr>
              <a:t>Положительная история 2023</a:t>
            </a:r>
          </a:p>
          <a:p xmlns:a="http://schemas.openxmlformats.org/drawingml/2006/main">
            <a:pPr>
              <a:defRPr sz="1875" b="0">
                <a:solidFill>
                  <a:srgbClr val="183B32"/>
                </a:solidFill>
                <a:latin typeface="Noto Sans"/>
                <a:ea typeface="Noto Sans"/>
                <a:cs typeface="Noto Sans"/>
              </a:defRPr>
            </a:pPr>
            <a:r>
              <a:rPr sz="1875" b="0">
                <a:solidFill>
                  <a:srgbClr val="183B32"/>
                </a:solidFill>
                <a:latin typeface="Noto Sans"/>
                <a:ea typeface="Noto Sans"/>
                <a:cs typeface="Noto Sans"/>
              </a:rPr>
              <a:t>Рост зарплат: выпуск 27.12.2023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219601-3783-41D0-89B0-EEB115042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657350"/>
            <a:ext cx="3524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83B32"/>
                </a:solidFill>
                <a:latin typeface="Noto Sans"/>
                <a:ea typeface="Noto Sans"/>
                <a:cs typeface="Noto Sans"/>
              </a:defRPr>
            </a:pPr>
            <a:r>
              <a:rPr sz="2175" b="1">
                <a:solidFill>
                  <a:srgbClr val="183B32"/>
                </a:solidFill>
                <a:latin typeface="Noto Sans"/>
                <a:ea typeface="Noto Sans"/>
                <a:cs typeface="Noto Sans"/>
              </a:rPr>
              <a:t>Временная проверка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5EF0A9-4E60-4FAE-A6FB-29368AF65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419350"/>
            <a:ext cx="3524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525" b="1">
                <a:solidFill>
                  <a:srgbClr val="0C825D"/>
                </a:solidFill>
                <a:latin typeface="Noto Sans"/>
                <a:ea typeface="Noto Sans"/>
                <a:cs typeface="Noto Sans"/>
              </a:defRPr>
            </a:pPr>
            <a:r>
              <a:rPr sz="3525" b="1">
                <a:solidFill>
                  <a:srgbClr val="0C825D"/>
                </a:solidFill>
                <a:latin typeface="Noto Sans"/>
                <a:ea typeface="Noto Sans"/>
                <a:cs typeface="Noto Sans"/>
              </a:rPr>
              <a:t>1 / 3 / 6 / 12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18D6A6-0F43-4B5A-BFB8-A0FAF31A5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409950"/>
            <a:ext cx="3476625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3B32"/>
                </a:solidFill>
                <a:latin typeface="Noto Sans"/>
                <a:ea typeface="Noto Sans"/>
                <a:cs typeface="Noto Sans"/>
              </a:defRPr>
            </a:pPr>
            <a:r>
              <a:rPr sz="1875" b="0">
                <a:solidFill>
                  <a:srgbClr val="183B32"/>
                </a:solidFill>
                <a:latin typeface="Noto Sans"/>
                <a:ea typeface="Noto Sans"/>
                <a:cs typeface="Noto Sans"/>
              </a:rPr>
              <a:t>Горизонты в месяцах</a:t>
            </a:r>
          </a:p>
          <a:p xmlns:a="http://schemas.openxmlformats.org/drawingml/2006/main">
            <a:pPr>
              <a:defRPr sz="1875" b="0">
                <a:solidFill>
                  <a:srgbClr val="183B32"/>
                </a:solidFill>
                <a:latin typeface="Noto Sans"/>
                <a:ea typeface="Noto Sans"/>
                <a:cs typeface="Noto Sans"/>
              </a:defRPr>
            </a:pPr>
            <a:r>
              <a:rPr sz="1875" b="0">
                <a:solidFill>
                  <a:srgbClr val="183B32"/>
                </a:solidFill>
                <a:latin typeface="Noto Sans"/>
                <a:ea typeface="Noto Sans"/>
                <a:cs typeface="Noto Sans"/>
              </a:rPr>
              <a:t>Профили строим по 2023 году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696150-A368-4DF8-B671-D7F55CFAD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B32"/>
                </a:solidFill>
                <a:latin typeface="Noto Sans"/>
                <a:ea typeface="Noto Sans"/>
                <a:cs typeface="Noto Sans"/>
              </a:defRPr>
            </a:pPr>
            <a:r>
              <a:rPr sz="2025" b="0">
                <a:solidFill>
                  <a:srgbClr val="183B32"/>
                </a:solidFill>
                <a:latin typeface="Noto Sans"/>
                <a:ea typeface="Noto Sans"/>
                <a:cs typeface="Noto Sans"/>
              </a:rPr>
              <a:t>Факты для оценки: 2031 / 2031 / 2029 / 2023 МО</a:t>
            </a:r>
          </a:p>
          <a:p xmlns:a="http://schemas.openxmlformats.org/drawingml/2006/main">
            <a:pPr>
              <a:defRPr sz="2025" b="0">
                <a:solidFill>
                  <a:srgbClr val="183B32"/>
                </a:solidFill>
                <a:latin typeface="Noto Sans"/>
                <a:ea typeface="Noto Sans"/>
                <a:cs typeface="Noto Sans"/>
              </a:defRPr>
            </a:pPr>
            <a:r>
              <a:rPr sz="2025" b="0">
                <a:solidFill>
                  <a:srgbClr val="183B32"/>
                </a:solidFill>
                <a:latin typeface="Noto Sans"/>
                <a:ea typeface="Noto Sans"/>
                <a:cs typeface="Noto Sans"/>
              </a:rPr>
              <a:t>Внешние источники соединяем по дате доступности и территории</a:t>
            </a:r>
          </a:p>
        </p:txBody>
      </p:sp>
    </p:spTree>
    <p:extLst>
      <p:ext uri="{BB962C8B-B14F-4D97-AF65-F5344CB8AC3E}">
        <p14:creationId xmlns:p14="http://schemas.microsoft.com/office/powerpoint/2010/main" val="137750907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C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CC36A6-A38A-4120-AFF7-F48541E6A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B32"/>
                </a:solidFill>
                <a:latin typeface="Noto Sans"/>
                <a:ea typeface="Noto Sans"/>
                <a:cs typeface="Noto Sans"/>
              </a:defRPr>
            </a:pPr>
            <a:r>
              <a:rPr sz="3300" b="1">
                <a:solidFill>
                  <a:srgbClr val="183B32"/>
                </a:solidFill>
                <a:latin typeface="Noto Sans"/>
                <a:ea typeface="Noto Sans"/>
                <a:cs typeface="Noto Sans"/>
              </a:rPr>
              <a:t>Одна модель для четырёх горизонтов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9FE8A6-014C-4D34-9DA7-764BF8BBA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362700"/>
            <a:ext cx="819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2706C"/>
                </a:solidFill>
                <a:latin typeface="Noto Sans"/>
                <a:ea typeface="Noto Sans"/>
                <a:cs typeface="Noto Sans"/>
              </a:defRPr>
            </a:pPr>
            <a:r>
              <a:rPr sz="1275" b="0">
                <a:solidFill>
                  <a:srgbClr val="62706C"/>
                </a:solidFill>
                <a:latin typeface="Noto Sans"/>
                <a:ea typeface="Noto Sans"/>
                <a:cs typeface="Noto Sans"/>
              </a:rPr>
              <a:t>4 / 21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829C6C-99A9-449F-A4C0-12A5D4BB4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2706C"/>
                </a:solidFill>
                <a:latin typeface="Noto Sans"/>
                <a:ea typeface="Noto Sans"/>
                <a:cs typeface="Noto Sans"/>
              </a:defRPr>
            </a:pPr>
            <a:r>
              <a:rPr sz="1425" b="0">
                <a:solidFill>
                  <a:srgbClr val="62706C"/>
                </a:solidFill>
                <a:latin typeface="Noto Sans"/>
                <a:ea typeface="Noto Sans"/>
                <a:cs typeface="Noto Sans"/>
              </a:rPr>
              <a:t>17,2% — номинальный рост зарплат за октябрь 2023; опубликован 27.12.2023, затем заморожен.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70dd7262fa4aba"/>
          <a:stretch xmlns:a="http://schemas.openxmlformats.org/drawingml/2006/main"/>
        </p:blipFill>
        <p:spPr>
          <a:xfrm xmlns:a="http://schemas.openxmlformats.org/drawingml/2006/main">
            <a:off x="2576664" y="1514475"/>
            <a:ext cx="6543371" cy="100012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C426B9-4812-4C76-8AD3-4AE17E986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3B32"/>
                </a:solidFill>
                <a:latin typeface="Noto Sans"/>
                <a:ea typeface="Noto Sans"/>
                <a:cs typeface="Noto Sans"/>
              </a:defRPr>
            </a:pPr>
            <a:r>
              <a:rPr sz="2100" b="0">
                <a:solidFill>
                  <a:srgbClr val="183B32"/>
                </a:solidFill>
                <a:latin typeface="Noto Sans"/>
                <a:ea typeface="Noto Sans"/>
                <a:cs typeface="Noto Sans"/>
              </a:rPr>
              <a:t>Берём текущий уровень, сдвигаем по сезонному профилю;</a:t>
            </a:r>
          </a:p>
          <a:p xmlns:a="http://schemas.openxmlformats.org/drawingml/2006/main">
            <a:pPr>
              <a:defRPr sz="2100" b="0">
                <a:solidFill>
                  <a:srgbClr val="183B32"/>
                </a:solidFill>
                <a:latin typeface="Noto Sans"/>
                <a:ea typeface="Noto Sans"/>
                <a:cs typeface="Noto Sans"/>
              </a:defRPr>
            </a:pPr>
            <a:r>
              <a:rPr sz="2100" b="0">
                <a:solidFill>
                  <a:srgbClr val="183B32"/>
                </a:solidFill>
                <a:latin typeface="Noto Sans"/>
                <a:ea typeface="Noto Sans"/>
                <a:cs typeface="Noto Sans"/>
              </a:rPr>
              <a:t>при переходе через Новый год добавляем годовой рост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DC0E67-A85F-4BB9-9E20-6C09B8C1A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957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83B32"/>
                </a:solidFill>
                <a:latin typeface="Noto Sans"/>
                <a:ea typeface="Noto Sans"/>
                <a:cs typeface="Noto Sans"/>
              </a:defRPr>
            </a:pPr>
            <a:r>
              <a:rPr sz="1950" b="0">
                <a:solidFill>
                  <a:srgbClr val="183B32"/>
                </a:solidFill>
                <a:latin typeface="Noto Sans"/>
                <a:ea typeface="Noto Sans"/>
                <a:cs typeface="Noto Sans"/>
              </a:rPr>
              <a:t>Профиль = 0,5 × общий профиль + 0,5 × профиль региона</a:t>
            </a:r>
          </a:p>
          <a:p xmlns:a="http://schemas.openxmlformats.org/drawingml/2006/main">
            <a:pPr>
              <a:defRPr sz="1950" b="0">
                <a:solidFill>
                  <a:srgbClr val="183B32"/>
                </a:solidFill>
                <a:latin typeface="Noto Sans"/>
                <a:ea typeface="Noto Sans"/>
                <a:cs typeface="Noto Sans"/>
              </a:defRPr>
            </a:pPr>
            <a:r>
              <a:rPr sz="1950" b="0">
                <a:solidFill>
                  <a:srgbClr val="183B32"/>
                </a:solidFill>
                <a:latin typeface="Noto Sans"/>
                <a:ea typeface="Noto Sans"/>
                <a:cs typeface="Noto Sans"/>
              </a:rPr>
              <a:t>k — число переходов года; g = 0,172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EBE82B-5F47-48F1-9D24-351FA0D0F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149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3B32"/>
                </a:solidFill>
                <a:latin typeface="Noto Sans"/>
                <a:ea typeface="Noto Sans"/>
                <a:cs typeface="Noto Sans"/>
              </a:defRPr>
            </a:pPr>
            <a:r>
              <a:rPr sz="1875" b="0">
                <a:solidFill>
                  <a:srgbClr val="183B32"/>
                </a:solidFill>
                <a:latin typeface="Noto Sans"/>
                <a:ea typeface="Noto Sans"/>
                <a:cs typeface="Noto Sans"/>
              </a:rPr>
              <a:t>Выбор одной модели по MAE ранних целей h1 / h3 / h6</a:t>
            </a:r>
          </a:p>
          <a:p xmlns:a="http://schemas.openxmlformats.org/drawingml/2006/main">
            <a:pPr>
              <a:defRPr sz="1875" b="0">
                <a:solidFill>
                  <a:srgbClr val="183B32"/>
                </a:solidFill>
                <a:latin typeface="Noto Sans"/>
                <a:ea typeface="Noto Sans"/>
                <a:cs typeface="Noto Sans"/>
              </a:defRPr>
            </a:pPr>
            <a:r>
              <a:rPr sz="1875" b="0">
                <a:solidFill>
                  <a:srgbClr val="183B32"/>
                </a:solidFill>
                <a:latin typeface="Noto Sans"/>
                <a:ea typeface="Noto Sans"/>
                <a:cs typeface="Noto Sans"/>
              </a:rPr>
              <a:t>h12 не участвует в выборе; поздние цели показаны отдельно</a:t>
            </a:r>
          </a:p>
        </p:txBody>
      </p:sp>
    </p:spTree>
    <p:extLst>
      <p:ext uri="{BB962C8B-B14F-4D97-AF65-F5344CB8AC3E}">
        <p14:creationId xmlns:p14="http://schemas.microsoft.com/office/powerpoint/2010/main" val="92171441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C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ADF6C9-8BC2-42B5-B18D-B18A15AA7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B32"/>
                </a:solidFill>
                <a:latin typeface="Noto Sans"/>
                <a:ea typeface="Noto Sans"/>
                <a:cs typeface="Noto Sans"/>
              </a:defRPr>
            </a:pPr>
            <a:r>
              <a:rPr sz="3300" b="1">
                <a:solidFill>
                  <a:srgbClr val="183B32"/>
                </a:solidFill>
                <a:latin typeface="Noto Sans"/>
                <a:ea typeface="Noto Sans"/>
                <a:cs typeface="Noto Sans"/>
              </a:rPr>
              <a:t>Модель обходит Prophet на всех горизонтах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67FD39-288E-4D96-B648-513A4D1F8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362700"/>
            <a:ext cx="819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2706C"/>
                </a:solidFill>
                <a:latin typeface="Noto Sans"/>
                <a:ea typeface="Noto Sans"/>
                <a:cs typeface="Noto Sans"/>
              </a:defRPr>
            </a:pPr>
            <a:r>
              <a:rPr sz="1275" b="0">
                <a:solidFill>
                  <a:srgbClr val="62706C"/>
                </a:solidFill>
                <a:latin typeface="Noto Sans"/>
                <a:ea typeface="Noto Sans"/>
                <a:cs typeface="Noto Sans"/>
              </a:rPr>
              <a:t>5 / 21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677D80-8DB2-466F-B71C-DCD88404C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2706C"/>
                </a:solidFill>
                <a:latin typeface="Noto Sans"/>
                <a:ea typeface="Noto Sans"/>
                <a:cs typeface="Noto Sans"/>
              </a:defRPr>
            </a:pPr>
            <a:r>
              <a:rPr sz="1425" b="0">
                <a:solidFill>
                  <a:srgbClr val="62706C"/>
                </a:solidFill>
                <a:latin typeface="Noto Sans"/>
                <a:ea typeface="Noto Sans"/>
                <a:cs typeface="Noto Sans"/>
              </a:rPr>
              <a:t>MAE: руб./жителя. 2031 / 2031 / 2029 / 2023 МО; 12 / 10 / 7 / 1 дат. R² h1 — изменения внутри МО. HGB h12: нет обучаемых примеров.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BF0CDE-54B6-4B9D-8F32-6C8F15776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19225"/>
            <a:ext cx="5095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83B32"/>
                </a:solidFill>
                <a:latin typeface="Noto Sans"/>
                <a:ea typeface="Noto Sans"/>
                <a:cs typeface="Noto Sans"/>
              </a:defRPr>
            </a:pPr>
            <a:r>
              <a:rPr sz="1725" b="1">
                <a:solidFill>
                  <a:srgbClr val="183B32"/>
                </a:solidFill>
                <a:latin typeface="Noto Sans"/>
                <a:ea typeface="Noto Sans"/>
                <a:cs typeface="Noto Sans"/>
              </a:rPr>
              <a:t>MAE, руб./жителя</a:t>
            </a:r>
          </a:p>
        </p:txBody>
      </p:sp>
      <p:graphicFrame>
        <p:nvGraphicFramePr>
          <p:cNvPr id="13" name="Chart"/>
          <p:cNvGraphicFramePr/>
          <p:nvPr/>
        </p:nvGraphicFramePr>
        <p:xfrm>
          <a:off xmlns:a="http://schemas.openxmlformats.org/drawingml/2006/main" x="609600" y="1857375"/>
          <a:ext xmlns:a="http://schemas.openxmlformats.org/drawingml/2006/main" cx="5524500" cy="32670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50faa30c2924a4b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68522D-D4C5-478B-A5D6-C2DB48CEC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419225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83B32"/>
                </a:solidFill>
                <a:latin typeface="Noto Sans"/>
                <a:ea typeface="Noto Sans"/>
                <a:cs typeface="Noto Sans"/>
              </a:defRPr>
            </a:pPr>
            <a:r>
              <a:rPr sz="1725" b="1">
                <a:solidFill>
                  <a:srgbClr val="183B32"/>
                </a:solidFill>
                <a:latin typeface="Noto Sans"/>
                <a:ea typeface="Noto Sans"/>
                <a:cs typeface="Noto Sans"/>
              </a:rPr>
              <a:t>Полная панель: десять моделей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6324600" y="1895475"/>
          <a:ext xmlns:a="http://schemas.openxmlformats.org/drawingml/2006/main" cx="5257800" cy="320992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733550"/>
                <a:gridCol w="704850"/>
                <a:gridCol w="704850"/>
                <a:gridCol w="704850"/>
                <a:gridCol w="704850"/>
                <a:gridCol w="704850"/>
              </a:tblGrid>
              <a:tr h="291811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Noto Sans"/>
                          <a:ea typeface="Noto Sans"/>
                          <a:cs typeface="Noto Sans"/>
                        </a:rPr>
                        <a:t>Модель</a:t>
                      </a:r>
                    </a:p>
                  </a:txBody>
                  <a:tcPr marL="91440" marR="91440" marT="45720" marB="45720">
                    <a:solidFill>
                      <a:srgbClr val="183B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Noto Sans"/>
                          <a:ea typeface="Noto Sans"/>
                          <a:cs typeface="Noto Sans"/>
                        </a:rPr>
                        <a:t>h1</a:t>
                      </a:r>
                    </a:p>
                  </a:txBody>
                  <a:tcPr marL="91440" marR="91440" marT="45720" marB="45720">
                    <a:solidFill>
                      <a:srgbClr val="183B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Noto Sans"/>
                          <a:ea typeface="Noto Sans"/>
                          <a:cs typeface="Noto Sans"/>
                        </a:rPr>
                        <a:t>h3</a:t>
                      </a:r>
                    </a:p>
                  </a:txBody>
                  <a:tcPr marL="91440" marR="91440" marT="45720" marB="45720">
                    <a:solidFill>
                      <a:srgbClr val="183B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Noto Sans"/>
                          <a:ea typeface="Noto Sans"/>
                          <a:cs typeface="Noto Sans"/>
                        </a:rPr>
                        <a:t>h6</a:t>
                      </a:r>
                    </a:p>
                  </a:txBody>
                  <a:tcPr marL="91440" marR="91440" marT="45720" marB="45720">
                    <a:solidFill>
                      <a:srgbClr val="183B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Noto Sans"/>
                          <a:ea typeface="Noto Sans"/>
                          <a:cs typeface="Noto Sans"/>
                        </a:rPr>
                        <a:t>h12</a:t>
                      </a:r>
                    </a:p>
                  </a:txBody>
                  <a:tcPr marL="91440" marR="91440" marT="45720" marB="45720">
                    <a:solidFill>
                      <a:srgbClr val="183B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Noto Sans"/>
                          <a:ea typeface="Noto Sans"/>
                          <a:cs typeface="Noto Sans"/>
                        </a:rPr>
                        <a:t>R² h1</a:t>
                      </a:r>
                    </a:p>
                  </a:txBody>
                  <a:tcPr marL="91440" marR="91440" marT="45720" marB="45720">
                    <a:solidFill>
                      <a:srgbClr val="183B32"/>
                    </a:solidFill>
                  </a:tcPr>
                </a:tc>
              </a:tr>
              <a:tr h="291811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Seasonal naive</a:t>
                      </a:r>
                    </a:p>
                  </a:txBody>
                  <a:tcPr marL="91440" marR="91440" marT="45720" marB="45720">
                    <a:solidFill>
                      <a:srgbClr val="F0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4 086</a:t>
                      </a:r>
                    </a:p>
                  </a:txBody>
                  <a:tcPr marL="91440" marR="91440" marT="45720" marB="45720">
                    <a:solidFill>
                      <a:srgbClr val="F0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4 352</a:t>
                      </a:r>
                    </a:p>
                  </a:txBody>
                  <a:tcPr marL="91440" marR="91440" marT="45720" marB="45720">
                    <a:solidFill>
                      <a:srgbClr val="F0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4 359</a:t>
                      </a:r>
                    </a:p>
                  </a:txBody>
                  <a:tcPr marL="91440" marR="91440" marT="45720" marB="45720">
                    <a:solidFill>
                      <a:srgbClr val="F0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4 701</a:t>
                      </a:r>
                    </a:p>
                  </a:txBody>
                  <a:tcPr marL="91440" marR="91440" marT="45720" marB="45720">
                    <a:solidFill>
                      <a:srgbClr val="F0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-1.429</a:t>
                      </a:r>
                    </a:p>
                  </a:txBody>
                  <a:tcPr marL="91440" marR="91440" marT="45720" marB="45720">
                    <a:solidFill>
                      <a:srgbClr val="F0F6F1"/>
                    </a:solidFill>
                  </a:tcPr>
                </a:tc>
              </a:tr>
              <a:tr h="291811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Prophet: базовый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1 815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1 766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2 171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2 906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0.240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91811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Prophet: Fourier 3</a:t>
                      </a:r>
                    </a:p>
                  </a:txBody>
                  <a:tcPr marL="91440" marR="91440" marT="45720" marB="45720">
                    <a:solidFill>
                      <a:srgbClr val="F0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2 351</a:t>
                      </a:r>
                    </a:p>
                  </a:txBody>
                  <a:tcPr marL="91440" marR="91440" marT="45720" marB="45720">
                    <a:solidFill>
                      <a:srgbClr val="F0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2 467</a:t>
                      </a:r>
                    </a:p>
                  </a:txBody>
                  <a:tcPr marL="91440" marR="91440" marT="45720" marB="45720">
                    <a:solidFill>
                      <a:srgbClr val="F0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2 904</a:t>
                      </a:r>
                    </a:p>
                  </a:txBody>
                  <a:tcPr marL="91440" marR="91440" marT="45720" marB="45720">
                    <a:solidFill>
                      <a:srgbClr val="F0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7 433</a:t>
                      </a:r>
                    </a:p>
                  </a:txBody>
                  <a:tcPr marL="91440" marR="91440" marT="45720" marB="45720">
                    <a:solidFill>
                      <a:srgbClr val="F0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-0.832</a:t>
                      </a:r>
                    </a:p>
                  </a:txBody>
                  <a:tcPr marL="91440" marR="91440" marT="45720" marB="45720">
                    <a:solidFill>
                      <a:srgbClr val="F0F6F1"/>
                    </a:solidFill>
                  </a:tcPr>
                </a:tc>
              </a:tr>
              <a:tr h="291811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Prophet + проф.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1 595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1 659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1 917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2 989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0.451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91811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Сезонный</a:t>
                      </a:r>
                    </a:p>
                  </a:txBody>
                  <a:tcPr marL="91440" marR="91440" marT="45720" marB="45720">
                    <a:solidFill>
                      <a:srgbClr val="F0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984</a:t>
                      </a:r>
                    </a:p>
                  </a:txBody>
                  <a:tcPr marL="91440" marR="91440" marT="45720" marB="45720">
                    <a:solidFill>
                      <a:srgbClr val="F0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1 626</a:t>
                      </a:r>
                    </a:p>
                  </a:txBody>
                  <a:tcPr marL="91440" marR="91440" marT="45720" marB="45720">
                    <a:solidFill>
                      <a:srgbClr val="F0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1 922</a:t>
                      </a:r>
                    </a:p>
                  </a:txBody>
                  <a:tcPr marL="91440" marR="91440" marT="45720" marB="45720">
                    <a:solidFill>
                      <a:srgbClr val="F0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4 701</a:t>
                      </a:r>
                    </a:p>
                  </a:txBody>
                  <a:tcPr marL="91440" marR="91440" marT="45720" marB="45720">
                    <a:solidFill>
                      <a:srgbClr val="F0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0.782</a:t>
                      </a:r>
                    </a:p>
                  </a:txBody>
                  <a:tcPr marL="91440" marR="91440" marT="45720" marB="45720">
                    <a:solidFill>
                      <a:srgbClr val="F0F6F1"/>
                    </a:solidFill>
                  </a:tcPr>
                </a:tc>
              </a:tr>
              <a:tr h="291811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Иерархия 0,5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937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1 521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1 909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4 701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0.804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91811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Direct HGB</a:t>
                      </a:r>
                    </a:p>
                  </a:txBody>
                  <a:tcPr marL="91440" marR="91440" marT="45720" marB="45720">
                    <a:solidFill>
                      <a:srgbClr val="F0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2 147</a:t>
                      </a:r>
                    </a:p>
                  </a:txBody>
                  <a:tcPr marL="91440" marR="91440" marT="45720" marB="45720">
                    <a:solidFill>
                      <a:srgbClr val="F0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1 258</a:t>
                      </a:r>
                    </a:p>
                  </a:txBody>
                  <a:tcPr marL="91440" marR="91440" marT="45720" marB="45720">
                    <a:solidFill>
                      <a:srgbClr val="F0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3 176</a:t>
                      </a:r>
                    </a:p>
                  </a:txBody>
                  <a:tcPr marL="91440" marR="91440" marT="45720" marB="45720">
                    <a:solidFill>
                      <a:srgbClr val="F0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—</a:t>
                      </a:r>
                    </a:p>
                  </a:txBody>
                  <a:tcPr marL="91440" marR="91440" marT="45720" marB="45720">
                    <a:solidFill>
                      <a:srgbClr val="F0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-0.765</a:t>
                      </a:r>
                    </a:p>
                  </a:txBody>
                  <a:tcPr marL="91440" marR="91440" marT="45720" marB="45720">
                    <a:solidFill>
                      <a:srgbClr val="F0F6F1"/>
                    </a:solidFill>
                  </a:tcPr>
                </a:tc>
              </a:tr>
              <a:tr h="291811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Chronos-2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2 154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2 710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4 036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9 458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0.037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91811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Chronos + ков.</a:t>
                      </a:r>
                    </a:p>
                  </a:txBody>
                  <a:tcPr marL="91440" marR="91440" marT="45720" marB="45720">
                    <a:solidFill>
                      <a:srgbClr val="F0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1 924</a:t>
                      </a:r>
                    </a:p>
                  </a:txBody>
                  <a:tcPr marL="91440" marR="91440" marT="45720" marB="45720">
                    <a:solidFill>
                      <a:srgbClr val="F0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2 556</a:t>
                      </a:r>
                    </a:p>
                  </a:txBody>
                  <a:tcPr marL="91440" marR="91440" marT="45720" marB="45720">
                    <a:solidFill>
                      <a:srgbClr val="F0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3 588</a:t>
                      </a:r>
                    </a:p>
                  </a:txBody>
                  <a:tcPr marL="91440" marR="91440" marT="45720" marB="45720">
                    <a:solidFill>
                      <a:srgbClr val="F0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8 927</a:t>
                      </a:r>
                    </a:p>
                  </a:txBody>
                  <a:tcPr marL="91440" marR="91440" marT="45720" marB="45720">
                    <a:solidFill>
                      <a:srgbClr val="F0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0.262</a:t>
                      </a:r>
                    </a:p>
                  </a:txBody>
                  <a:tcPr marL="91440" marR="91440" marT="45720" marB="45720">
                    <a:solidFill>
                      <a:srgbClr val="F0F6F1"/>
                    </a:solidFill>
                  </a:tcPr>
                </a:tc>
              </a:tr>
              <a:tr h="291811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Иерархия + рост</a:t>
                      </a:r>
                    </a:p>
                  </a:txBody>
                  <a:tcPr marL="91440" marR="91440" marT="45720" marB="45720">
                    <a:solidFill>
                      <a:srgbClr val="D9EE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932</a:t>
                      </a:r>
                    </a:p>
                  </a:txBody>
                  <a:tcPr marL="91440" marR="91440" marT="45720" marB="45720">
                    <a:solidFill>
                      <a:srgbClr val="D9EE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1 272</a:t>
                      </a:r>
                    </a:p>
                  </a:txBody>
                  <a:tcPr marL="91440" marR="91440" marT="45720" marB="45720">
                    <a:solidFill>
                      <a:srgbClr val="D9EE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1 371</a:t>
                      </a:r>
                    </a:p>
                  </a:txBody>
                  <a:tcPr marL="91440" marR="91440" marT="45720" marB="45720">
                    <a:solidFill>
                      <a:srgbClr val="D9EE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1 321</a:t>
                      </a:r>
                    </a:p>
                  </a:txBody>
                  <a:tcPr marL="91440" marR="91440" marT="45720" marB="45720">
                    <a:solidFill>
                      <a:srgbClr val="D9EE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0.819</a:t>
                      </a:r>
                    </a:p>
                  </a:txBody>
                  <a:tcPr marL="91440" marR="91440" marT="45720" marB="45720">
                    <a:solidFill>
                      <a:srgbClr val="D9EEE2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4234CA-A5A5-41F9-ABA6-14121840A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4827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0C825D"/>
                </a:solidFill>
                <a:latin typeface="Noto Sans"/>
                <a:ea typeface="Noto Sans"/>
                <a:cs typeface="Noto Sans"/>
              </a:defRPr>
            </a:pPr>
            <a:r>
              <a:rPr sz="1650" b="0">
                <a:solidFill>
                  <a:srgbClr val="0C825D"/>
                </a:solidFill>
                <a:latin typeface="Noto Sans"/>
                <a:ea typeface="Noto Sans"/>
                <a:cs typeface="Noto Sans"/>
              </a:rPr>
              <a:t>Единый контроль на графике и в интервалах: Prophet с сезонным профилем.</a:t>
            </a:r>
          </a:p>
          <a:p xmlns:a="http://schemas.openxmlformats.org/drawingml/2006/main">
            <a:pPr>
              <a:defRPr sz="1650" b="0">
                <a:solidFill>
                  <a:srgbClr val="0C825D"/>
                </a:solidFill>
                <a:latin typeface="Noto Sans"/>
                <a:ea typeface="Noto Sans"/>
                <a:cs typeface="Noto Sans"/>
              </a:defRPr>
            </a:pPr>
            <a:r>
              <a:rPr sz="1650" b="0">
                <a:solidFill>
                  <a:srgbClr val="0C825D"/>
                </a:solidFill>
                <a:latin typeface="Noto Sans"/>
                <a:ea typeface="Noto Sans"/>
                <a:cs typeface="Noto Sans"/>
              </a:rPr>
              <a:t>Снижение MAE: 42 / 23 / 28 / 56% на горизонтах 1 / 3 / 6 / 12 месяцев.</a:t>
            </a:r>
          </a:p>
        </p:txBody>
      </p:sp>
    </p:spTree>
    <p:extLst>
      <p:ext uri="{BB962C8B-B14F-4D97-AF65-F5344CB8AC3E}">
        <p14:creationId xmlns:p14="http://schemas.microsoft.com/office/powerpoint/2010/main" val="13845576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C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C1B4E6-45BA-4290-97E8-2468B3EB8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B32"/>
                </a:solidFill>
                <a:latin typeface="Noto Sans"/>
                <a:ea typeface="Noto Sans"/>
                <a:cs typeface="Noto Sans"/>
              </a:defRPr>
            </a:pPr>
            <a:r>
              <a:rPr sz="3300" b="1">
                <a:solidFill>
                  <a:srgbClr val="183B32"/>
                </a:solidFill>
                <a:latin typeface="Noto Sans"/>
                <a:ea typeface="Noto Sans"/>
                <a:cs typeface="Noto Sans"/>
              </a:rPr>
              <a:t>Неопределённость выигрыша прогноза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B47063-6AE5-40B8-992D-2160A5F89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362700"/>
            <a:ext cx="819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2706C"/>
                </a:solidFill>
                <a:latin typeface="Noto Sans"/>
                <a:ea typeface="Noto Sans"/>
                <a:cs typeface="Noto Sans"/>
              </a:defRPr>
            </a:pPr>
            <a:r>
              <a:rPr sz="1275" b="0">
                <a:solidFill>
                  <a:srgbClr val="62706C"/>
                </a:solidFill>
                <a:latin typeface="Noto Sans"/>
                <a:ea typeface="Noto Sans"/>
                <a:cs typeface="Noto Sans"/>
              </a:rPr>
              <a:t>6 / 21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F952B9-4CF1-439C-A037-E686ED474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2706C"/>
                </a:solidFill>
                <a:latin typeface="Noto Sans"/>
                <a:ea typeface="Noto Sans"/>
                <a:cs typeface="Noto Sans"/>
              </a:defRPr>
            </a:pPr>
            <a:r>
              <a:rPr sz="1425" b="0">
                <a:solidFill>
                  <a:srgbClr val="62706C"/>
                </a:solidFill>
                <a:latin typeface="Noto Sans"/>
                <a:ea typeface="Noto Sans"/>
                <a:cs typeface="Noto Sans"/>
              </a:rPr>
              <a:t>Интервалы выигрыша не содержат ноль. Узкое семейство h1/h3 исследовательское и добавлено после просмотра результатов.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619250"/>
          <a:ext xmlns:a="http://schemas.openxmlformats.org/drawingml/2006/main" cx="10972800" cy="26670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667000"/>
                <a:gridCol w="3238500"/>
                <a:gridCol w="5067300"/>
              </a:tblGrid>
              <a:tr h="53340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Noto Sans"/>
                          <a:ea typeface="Noto Sans"/>
                          <a:cs typeface="Noto Sans"/>
                        </a:rPr>
                        <a:t>Горизонт</a:t>
                      </a:r>
                    </a:p>
                  </a:txBody>
                  <a:tcPr marL="91440" marR="91440" marT="45720" marB="45720">
                    <a:solidFill>
                      <a:srgbClr val="183B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Noto Sans"/>
                          <a:ea typeface="Noto Sans"/>
                          <a:cs typeface="Noto Sans"/>
                        </a:rPr>
                        <a:t>Снижение MAE</a:t>
                      </a:r>
                    </a:p>
                  </a:txBody>
                  <a:tcPr marL="91440" marR="91440" marT="45720" marB="45720">
                    <a:solidFill>
                      <a:srgbClr val="183B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Noto Sans"/>
                          <a:ea typeface="Noto Sans"/>
                          <a:cs typeface="Noto Sans"/>
                        </a:rPr>
                        <a:t>95% по регионам</a:t>
                      </a:r>
                    </a:p>
                  </a:txBody>
                  <a:tcPr marL="91440" marR="91440" marT="45720" marB="45720">
                    <a:solidFill>
                      <a:srgbClr val="183B32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1 мес.</a:t>
                      </a:r>
                    </a:p>
                  </a:txBody>
                  <a:tcPr marL="91440" marR="91440" marT="45720" marB="45720">
                    <a:solidFill>
                      <a:srgbClr val="F0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41.5%</a:t>
                      </a:r>
                    </a:p>
                  </a:txBody>
                  <a:tcPr marL="91440" marR="91440" marT="45720" marB="45720">
                    <a:solidFill>
                      <a:srgbClr val="F0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37.2–45.5%</a:t>
                      </a:r>
                    </a:p>
                  </a:txBody>
                  <a:tcPr marL="91440" marR="91440" marT="45720" marB="45720">
                    <a:solidFill>
                      <a:srgbClr val="F0F6F1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3 мес.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23.3%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19.6–26.7%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6 мес.</a:t>
                      </a:r>
                    </a:p>
                  </a:txBody>
                  <a:tcPr marL="91440" marR="91440" marT="45720" marB="45720">
                    <a:solidFill>
                      <a:srgbClr val="F0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28.5%</a:t>
                      </a:r>
                    </a:p>
                  </a:txBody>
                  <a:tcPr marL="91440" marR="91440" marT="45720" marB="45720">
                    <a:solidFill>
                      <a:srgbClr val="F0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24.6–32.1%</a:t>
                      </a:r>
                    </a:p>
                  </a:txBody>
                  <a:tcPr marL="91440" marR="91440" marT="45720" marB="45720">
                    <a:solidFill>
                      <a:srgbClr val="F0F6F1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12 мес.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55.8%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50.5–61.0%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DDDD2A-56F1-455A-A80E-83439E966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3B32"/>
                </a:solidFill>
                <a:latin typeface="Noto Sans"/>
                <a:ea typeface="Noto Sans"/>
                <a:cs typeface="Noto Sans"/>
              </a:defRPr>
            </a:pPr>
            <a:r>
              <a:rPr sz="1875" b="0">
                <a:solidFill>
                  <a:srgbClr val="183B32"/>
                </a:solidFill>
                <a:latin typeface="Noto Sans"/>
                <a:ea typeface="Noto Sans"/>
                <a:cs typeface="Noto Sans"/>
              </a:rPr>
              <a:t>Единый контроль: Prophet с сезонным профилем</a:t>
            </a:r>
          </a:p>
          <a:p xmlns:a="http://schemas.openxmlformats.org/drawingml/2006/main">
            <a:pPr>
              <a:defRPr sz="1875" b="0">
                <a:solidFill>
                  <a:srgbClr val="183B32"/>
                </a:solidFill>
                <a:latin typeface="Noto Sans"/>
                <a:ea typeface="Noto Sans"/>
                <a:cs typeface="Noto Sans"/>
              </a:defRPr>
            </a:pPr>
            <a:r>
              <a:rPr sz="1875" b="0">
                <a:solidFill>
                  <a:srgbClr val="183B32"/>
                </a:solidFill>
                <a:latin typeface="Noto Sans"/>
                <a:ea typeface="Noto Sans"/>
                <a:cs typeface="Noto Sans"/>
              </a:rPr>
              <a:t>2500 повторных выборок МО и регионов целиком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F9E1F1-EA93-4210-95F3-CAC1113AD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97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C825D"/>
                </a:solidFill>
                <a:latin typeface="Noto Sans"/>
                <a:ea typeface="Noto Sans"/>
                <a:cs typeface="Noto Sans"/>
              </a:defRPr>
            </a:pPr>
            <a:r>
              <a:rPr sz="1725" b="0">
                <a:solidFill>
                  <a:srgbClr val="0C825D"/>
                </a:solidFill>
                <a:latin typeface="Noto Sans"/>
                <a:ea typeface="Noto Sans"/>
                <a:cs typeface="Noto Sans"/>
              </a:rPr>
              <a:t>По датам, чувствительность Holm h1/h3: p = 0,034 / 0,307</a:t>
            </a:r>
          </a:p>
          <a:p xmlns:a="http://schemas.openxmlformats.org/drawingml/2006/main">
            <a:pPr>
              <a:defRPr sz="1725" b="0">
                <a:solidFill>
                  <a:srgbClr val="0C825D"/>
                </a:solidFill>
                <a:latin typeface="Noto Sans"/>
                <a:ea typeface="Noto Sans"/>
                <a:cs typeface="Noto Sans"/>
              </a:defRPr>
            </a:pPr>
            <a:r>
              <a:rPr sz="1725" b="0">
                <a:solidFill>
                  <a:srgbClr val="0C825D"/>
                </a:solidFill>
                <a:latin typeface="Noto Sans"/>
                <a:ea typeface="Noto Sans"/>
                <a:cs typeface="Noto Sans"/>
              </a:rPr>
              <a:t>Шесть тестов: p h1 = 0,102; h12: временной тест не определён</a:t>
            </a:r>
          </a:p>
        </p:txBody>
      </p:sp>
    </p:spTree>
    <p:extLst>
      <p:ext uri="{BB962C8B-B14F-4D97-AF65-F5344CB8AC3E}">
        <p14:creationId xmlns:p14="http://schemas.microsoft.com/office/powerpoint/2010/main" val="150467988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C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C8CC3C-918C-4F64-BAD9-1E8AFE739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B32"/>
                </a:solidFill>
                <a:latin typeface="Noto Sans"/>
                <a:ea typeface="Noto Sans"/>
                <a:cs typeface="Noto Sans"/>
              </a:defRPr>
            </a:pPr>
            <a:r>
              <a:rPr sz="3300" b="1">
                <a:solidFill>
                  <a:srgbClr val="183B32"/>
                </a:solidFill>
                <a:latin typeface="Noto Sans"/>
                <a:ea typeface="Noto Sans"/>
                <a:cs typeface="Noto Sans"/>
              </a:rPr>
              <a:t>Как читать метрики качества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AABECA-830B-43C1-B416-E45637877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362700"/>
            <a:ext cx="819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2706C"/>
                </a:solidFill>
                <a:latin typeface="Noto Sans"/>
                <a:ea typeface="Noto Sans"/>
                <a:cs typeface="Noto Sans"/>
              </a:defRPr>
            </a:pPr>
            <a:r>
              <a:rPr sz="1275" b="0">
                <a:solidFill>
                  <a:srgbClr val="62706C"/>
                </a:solidFill>
                <a:latin typeface="Noto Sans"/>
                <a:ea typeface="Noto Sans"/>
                <a:cs typeface="Noto Sans"/>
              </a:rPr>
              <a:t>7 / 21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5A472F-99F2-42F3-8942-6A5CA65B1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2706C"/>
                </a:solidFill>
                <a:latin typeface="Noto Sans"/>
                <a:ea typeface="Noto Sans"/>
                <a:cs typeface="Noto Sans"/>
              </a:defRPr>
            </a:pPr>
            <a:r>
              <a:rPr sz="1425" b="0">
                <a:solidFill>
                  <a:srgbClr val="62706C"/>
                </a:solidFill>
                <a:latin typeface="Noto Sans"/>
                <a:ea typeface="Noto Sans"/>
                <a:cs typeface="Noto Sans"/>
              </a:rPr>
              <a:t>MAE усредняем по датам. WAPE считаем по всем парам; это разные способы взвешивания ошибок.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428750"/>
          <a:ext xmlns:a="http://schemas.openxmlformats.org/drawingml/2006/main" cx="10972800" cy="429577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286000"/>
                <a:gridCol w="2476500"/>
                <a:gridCol w="6210300"/>
              </a:tblGrid>
              <a:tr h="536972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Noto Sans"/>
                          <a:ea typeface="Noto Sans"/>
                          <a:cs typeface="Noto Sans"/>
                        </a:rPr>
                        <a:t>Метрика</a:t>
                      </a:r>
                    </a:p>
                  </a:txBody>
                  <a:tcPr marL="91440" marR="91440" marT="45720" marB="45720">
                    <a:solidFill>
                      <a:srgbClr val="183B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Noto Sans"/>
                          <a:ea typeface="Noto Sans"/>
                          <a:cs typeface="Noto Sans"/>
                        </a:rPr>
                        <a:t>Результат</a:t>
                      </a:r>
                    </a:p>
                  </a:txBody>
                  <a:tcPr marL="91440" marR="91440" marT="45720" marB="45720">
                    <a:solidFill>
                      <a:srgbClr val="183B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Noto Sans"/>
                          <a:ea typeface="Noto Sans"/>
                          <a:cs typeface="Noto Sans"/>
                        </a:rPr>
                        <a:t>Что означает</a:t>
                      </a:r>
                    </a:p>
                  </a:txBody>
                  <a:tcPr marL="91440" marR="91440" marT="45720" marB="45720">
                    <a:solidFill>
                      <a:srgbClr val="183B32"/>
                    </a:solidFill>
                  </a:tcPr>
                </a:tc>
              </a:tr>
              <a:tr h="536972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MAE / WAPE</a:t>
                      </a:r>
                    </a:p>
                  </a:txBody>
                  <a:tcPr marL="91440" marR="91440" marT="45720" marB="45720">
                    <a:solidFill>
                      <a:srgbClr val="F0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932 руб. / 3.04%</a:t>
                      </a:r>
                    </a:p>
                  </a:txBody>
                  <a:tcPr marL="91440" marR="91440" marT="45720" marB="45720">
                    <a:solidFill>
                      <a:srgbClr val="F0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Средняя абсолютная ошибка на жителя. WAPE: сумма ошибок / сумма расходов.</a:t>
                      </a:r>
                    </a:p>
                  </a:txBody>
                  <a:tcPr marL="91440" marR="91440" marT="45720" marB="45720">
                    <a:solidFill>
                      <a:srgbClr val="F0F6F1"/>
                    </a:solidFill>
                  </a:tcPr>
                </a:tc>
              </a:tr>
              <a:tr h="536972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R² внутри МО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0,819 на h1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Квадратичная ошибка на 82% ниже сравнения со средним фактом каждого МО.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36972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Отрицательный R²</a:t>
                      </a:r>
                    </a:p>
                  </a:txBody>
                  <a:tcPr marL="91440" marR="91440" marT="45720" marB="45720">
                    <a:solidFill>
                      <a:srgbClr val="F0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Naive, Fourier 3, HGB</a:t>
                      </a:r>
                    </a:p>
                  </a:txBody>
                  <a:tcPr marL="91440" marR="91440" marT="45720" marB="45720">
                    <a:solidFill>
                      <a:srgbClr val="F0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R² &lt; 0: модель хуже среднего значения МО в оценочном окне.</a:t>
                      </a:r>
                    </a:p>
                  </a:txBody>
                  <a:tcPr marL="91440" marR="91440" marT="45720" marB="45720">
                    <a:solidFill>
                      <a:srgbClr val="F0F6F1"/>
                    </a:solidFill>
                  </a:tcPr>
                </a:tc>
              </a:tr>
              <a:tr h="536972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95% интервал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Выигрыш выше нуля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Региональная выборка поддерживает выигрыш на 2024. Независимый временной тест не заменяет.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36972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F1 / FAR / задержка</a:t>
                      </a:r>
                    </a:p>
                  </a:txBody>
                  <a:tcPr marL="91440" marR="91440" marT="45720" marB="45720">
                    <a:solidFill>
                      <a:srgbClr val="F0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0,647 / 0,046 / 0,54</a:t>
                      </a:r>
                    </a:p>
                  </a:txBody>
                  <a:tcPr marL="91440" marR="91440" marT="45720" marB="45720">
                    <a:solidFill>
                      <a:srgbClr val="F0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F1: баланс точности и полноты начала. FAR: ложные тревоги / 100 МО-месяцев. Задержка: по найденным.</a:t>
                      </a:r>
                    </a:p>
                  </a:txBody>
                  <a:tcPr marL="91440" marR="91440" marT="45720" marB="45720">
                    <a:solidFill>
                      <a:srgbClr val="F0F6F1"/>
                    </a:solidFill>
                  </a:tcPr>
                </a:tc>
              </a:tr>
              <a:tr h="536972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Интервальный штраф IS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3237 → 4362 руб.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Ширина плюс штраф за промах. Меньше лучше; ×1,5 здесь проигрывает.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36972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Нагрузка тревог</a:t>
                      </a:r>
                    </a:p>
                  </a:txBody>
                  <a:tcPr marL="91440" marR="91440" marT="45720" marB="45720">
                    <a:solidFill>
                      <a:srgbClr val="F0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0,597 → 0,075</a:t>
                      </a:r>
                    </a:p>
                  </a:txBody>
                  <a:tcPr marL="91440" marR="91440" marT="45720" marB="45720">
                    <a:solidFill>
                      <a:srgbClr val="F0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Эпизоды на 100 МО-месяцев: очередь проверки меньше в 8 раз. Реальные ложные тревоги неизвестны.</a:t>
                      </a:r>
                    </a:p>
                  </a:txBody>
                  <a:tcPr marL="91440" marR="91440" marT="45720" marB="45720">
                    <a:solidFill>
                      <a:srgbClr val="F0F6F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4163035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C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501506-7A6A-459C-BCE0-1E482FBE2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B32"/>
                </a:solidFill>
                <a:latin typeface="Noto Sans"/>
                <a:ea typeface="Noto Sans"/>
                <a:cs typeface="Noto Sans"/>
              </a:defRPr>
            </a:pPr>
            <a:r>
              <a:rPr sz="3300" b="1">
                <a:solidFill>
                  <a:srgbClr val="183B32"/>
                </a:solidFill>
                <a:latin typeface="Noto Sans"/>
                <a:ea typeface="Noto Sans"/>
                <a:cs typeface="Noto Sans"/>
              </a:rPr>
              <a:t>Результат устойчив к росту 7–17%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6F7093-EC83-4011-8AF7-B41EFAFC4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362700"/>
            <a:ext cx="819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2706C"/>
                </a:solidFill>
                <a:latin typeface="Noto Sans"/>
                <a:ea typeface="Noto Sans"/>
                <a:cs typeface="Noto Sans"/>
              </a:defRPr>
            </a:pPr>
            <a:r>
              <a:rPr sz="1275" b="0">
                <a:solidFill>
                  <a:srgbClr val="62706C"/>
                </a:solidFill>
                <a:latin typeface="Noto Sans"/>
                <a:ea typeface="Noto Sans"/>
                <a:cs typeface="Noto Sans"/>
              </a:rPr>
              <a:t>8 / 21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5AA4D9-3CFA-4A6B-8ED1-55A2E2D89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2706C"/>
                </a:solidFill>
                <a:latin typeface="Noto Sans"/>
                <a:ea typeface="Noto Sans"/>
                <a:cs typeface="Noto Sans"/>
              </a:defRPr>
            </a:pPr>
            <a:r>
              <a:rPr sz="1425" b="0">
                <a:solidFill>
                  <a:srgbClr val="62706C"/>
                </a:solidFill>
                <a:latin typeface="Noto Sans"/>
                <a:ea typeface="Noto Sans"/>
                <a:cs typeface="Noto Sans"/>
              </a:rPr>
              <a:t>Сохранённый архив 2024; не независимое доказательство переноса. Все переходы года — из декабря 2023.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714500"/>
          <a:ext xmlns:a="http://schemas.openxmlformats.org/drawingml/2006/main" cx="10972800" cy="252412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429000"/>
                <a:gridCol w="1885950"/>
                <a:gridCol w="1885950"/>
                <a:gridCol w="1885950"/>
                <a:gridCol w="1885950"/>
              </a:tblGrid>
              <a:tr h="631031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"/>
                          <a:ea typeface="Noto Sans"/>
                          <a:cs typeface="Noto Sans"/>
                        </a:rPr>
                        <a:t>Поправка</a:t>
                      </a:r>
                    </a:p>
                  </a:txBody>
                  <a:tcPr marL="91440" marR="91440" marT="45720" marB="45720">
                    <a:solidFill>
                      <a:srgbClr val="183B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"/>
                          <a:ea typeface="Noto Sans"/>
                          <a:cs typeface="Noto Sans"/>
                        </a:rPr>
                        <a:t>h1</a:t>
                      </a:r>
                    </a:p>
                  </a:txBody>
                  <a:tcPr marL="91440" marR="91440" marT="45720" marB="45720">
                    <a:solidFill>
                      <a:srgbClr val="183B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"/>
                          <a:ea typeface="Noto Sans"/>
                          <a:cs typeface="Noto Sans"/>
                        </a:rPr>
                        <a:t>h3</a:t>
                      </a:r>
                    </a:p>
                  </a:txBody>
                  <a:tcPr marL="91440" marR="91440" marT="45720" marB="45720">
                    <a:solidFill>
                      <a:srgbClr val="183B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"/>
                          <a:ea typeface="Noto Sans"/>
                          <a:cs typeface="Noto Sans"/>
                        </a:rPr>
                        <a:t>h6</a:t>
                      </a:r>
                    </a:p>
                  </a:txBody>
                  <a:tcPr marL="91440" marR="91440" marT="45720" marB="45720">
                    <a:solidFill>
                      <a:srgbClr val="183B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"/>
                          <a:ea typeface="Noto Sans"/>
                          <a:cs typeface="Noto Sans"/>
                        </a:rPr>
                        <a:t>h12</a:t>
                      </a:r>
                    </a:p>
                  </a:txBody>
                  <a:tcPr marL="91440" marR="91440" marT="45720" marB="45720">
                    <a:solidFill>
                      <a:srgbClr val="183B32"/>
                    </a:solidFill>
                  </a:tcPr>
                </a:tc>
              </a:tr>
              <a:tr h="631031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Без роста</a:t>
                      </a:r>
                    </a:p>
                  </a:txBody>
                  <a:tcPr marL="91440" marR="91440" marT="45720" marB="45720">
                    <a:solidFill>
                      <a:srgbClr val="F0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937</a:t>
                      </a:r>
                    </a:p>
                  </a:txBody>
                  <a:tcPr marL="91440" marR="91440" marT="45720" marB="45720">
                    <a:solidFill>
                      <a:srgbClr val="F0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1 521</a:t>
                      </a:r>
                    </a:p>
                  </a:txBody>
                  <a:tcPr marL="91440" marR="91440" marT="45720" marB="45720">
                    <a:solidFill>
                      <a:srgbClr val="F0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1 909</a:t>
                      </a:r>
                    </a:p>
                  </a:txBody>
                  <a:tcPr marL="91440" marR="91440" marT="45720" marB="45720">
                    <a:solidFill>
                      <a:srgbClr val="F0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4 701</a:t>
                      </a:r>
                    </a:p>
                  </a:txBody>
                  <a:tcPr marL="91440" marR="91440" marT="45720" marB="45720">
                    <a:solidFill>
                      <a:srgbClr val="F0F6F1"/>
                    </a:solidFill>
                  </a:tcPr>
                </a:tc>
              </a:tr>
              <a:tr h="631031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ИПЦ: 7,48%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849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1 335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1 636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2 425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31031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Зарплаты: 17,2%</a:t>
                      </a:r>
                    </a:p>
                  </a:txBody>
                  <a:tcPr marL="91440" marR="91440" marT="45720" marB="45720">
                    <a:solidFill>
                      <a:srgbClr val="F0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932</a:t>
                      </a:r>
                    </a:p>
                  </a:txBody>
                  <a:tcPr marL="91440" marR="91440" marT="45720" marB="45720">
                    <a:solidFill>
                      <a:srgbClr val="F0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1 272</a:t>
                      </a:r>
                    </a:p>
                  </a:txBody>
                  <a:tcPr marL="91440" marR="91440" marT="45720" marB="45720">
                    <a:solidFill>
                      <a:srgbClr val="F0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1 371</a:t>
                      </a:r>
                    </a:p>
                  </a:txBody>
                  <a:tcPr marL="91440" marR="91440" marT="45720" marB="45720">
                    <a:solidFill>
                      <a:srgbClr val="F0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1 321</a:t>
                      </a:r>
                    </a:p>
                  </a:txBody>
                  <a:tcPr marL="91440" marR="91440" marT="45720" marB="45720">
                    <a:solidFill>
                      <a:srgbClr val="F0F6F1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EBC46A-6B4A-4820-9D35-E5B95311C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C825D"/>
                </a:solidFill>
                <a:latin typeface="Noto Sans"/>
                <a:ea typeface="Noto Sans"/>
                <a:cs typeface="Noto Sans"/>
              </a:defRPr>
            </a:pPr>
            <a:r>
              <a:rPr sz="2025" b="1">
                <a:solidFill>
                  <a:srgbClr val="0C825D"/>
                </a:solidFill>
                <a:latin typeface="Noto Sans"/>
                <a:ea typeface="Noto Sans"/>
                <a:cs typeface="Noto Sans"/>
              </a:rPr>
              <a:t>Любая ставка 7–17% снижает MAE к лучшему проверенному Prophet</a:t>
            </a:r>
          </a:p>
          <a:p xmlns:a="http://schemas.openxmlformats.org/drawingml/2006/main">
            <a:pPr>
              <a:defRPr sz="2025" b="1">
                <a:solidFill>
                  <a:srgbClr val="0C825D"/>
                </a:solidFill>
                <a:latin typeface="Noto Sans"/>
                <a:ea typeface="Noto Sans"/>
                <a:cs typeface="Noto Sans"/>
              </a:defRPr>
            </a:pPr>
            <a:r>
              <a:rPr sz="2025" b="1">
                <a:solidFill>
                  <a:srgbClr val="0C825D"/>
                </a:solidFill>
                <a:latin typeface="Noto Sans"/>
                <a:ea typeface="Noto Sans"/>
                <a:cs typeface="Noto Sans"/>
              </a:rPr>
              <a:t>на всех четырёх горизонтах: проверены границы выпуклой ошибки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BEF541-FFCE-49D2-A518-DE06BE7E5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3B32"/>
                </a:solidFill>
                <a:latin typeface="Noto Sans"/>
                <a:ea typeface="Noto Sans"/>
                <a:cs typeface="Noto Sans"/>
              </a:defRPr>
            </a:pPr>
            <a:r>
              <a:rPr sz="1800" b="0">
                <a:solidFill>
                  <a:srgbClr val="183B32"/>
                </a:solidFill>
                <a:latin typeface="Noto Sans"/>
                <a:ea typeface="Noto Sans"/>
                <a:cs typeface="Noto Sans"/>
              </a:rPr>
              <a:t>ИПЦ лучше на h1; зарплатная поправка — на h3 / h6 / h12</a:t>
            </a:r>
          </a:p>
        </p:txBody>
      </p:sp>
    </p:spTree>
    <p:extLst>
      <p:ext uri="{BB962C8B-B14F-4D97-AF65-F5344CB8AC3E}">
        <p14:creationId xmlns:p14="http://schemas.microsoft.com/office/powerpoint/2010/main" val="104864997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C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5A4047-EDDA-4DC6-953F-A2973016C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B32"/>
                </a:solidFill>
                <a:latin typeface="Noto Sans"/>
                <a:ea typeface="Noto Sans"/>
                <a:cs typeface="Noto Sans"/>
              </a:defRPr>
            </a:pPr>
            <a:r>
              <a:rPr sz="3300" b="1">
                <a:solidFill>
                  <a:srgbClr val="183B32"/>
                </a:solidFill>
                <a:latin typeface="Noto Sans"/>
                <a:ea typeface="Noto Sans"/>
                <a:cs typeface="Noto Sans"/>
              </a:rPr>
              <a:t>Перенос модели на другие категории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28351C-7A15-4734-99FC-7B11BFE7B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362700"/>
            <a:ext cx="819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2706C"/>
                </a:solidFill>
                <a:latin typeface="Noto Sans"/>
                <a:ea typeface="Noto Sans"/>
                <a:cs typeface="Noto Sans"/>
              </a:defRPr>
            </a:pPr>
            <a:r>
              <a:rPr sz="1275" b="0">
                <a:solidFill>
                  <a:srgbClr val="62706C"/>
                </a:solidFill>
                <a:latin typeface="Noto Sans"/>
                <a:ea typeface="Noto Sans"/>
                <a:cs typeface="Noto Sans"/>
              </a:rPr>
              <a:t>9 / 21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13558F-E292-41C2-A77A-D2CFF3DBC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2706C"/>
                </a:solidFill>
                <a:latin typeface="Noto Sans"/>
                <a:ea typeface="Noto Sans"/>
                <a:cs typeface="Noto Sans"/>
              </a:defRPr>
            </a:pPr>
            <a:r>
              <a:rPr sz="1425" b="0">
                <a:solidFill>
                  <a:srgbClr val="62706C"/>
                </a:solidFill>
                <a:latin typeface="Noto Sans"/>
                <a:ea typeface="Noto Sans"/>
                <a:cs typeface="Noto Sans"/>
              </a:rPr>
              <a:t>Одна формула и рост 17,2%, без перенастройки. Снижение MAE к заранее закреплённому Prophet с профилем; отрицательное значение — проигрыш.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495425"/>
          <a:ext xmlns:a="http://schemas.openxmlformats.org/drawingml/2006/main" cx="10972800" cy="319087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4000500"/>
                <a:gridCol w="1743075"/>
                <a:gridCol w="1743075"/>
                <a:gridCol w="1743075"/>
                <a:gridCol w="1743075"/>
              </a:tblGrid>
              <a:tr h="455839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"/>
                          <a:ea typeface="Noto Sans"/>
                          <a:cs typeface="Noto Sans"/>
                        </a:rPr>
                        <a:t>Категория</a:t>
                      </a:r>
                    </a:p>
                  </a:txBody>
                  <a:tcPr marL="91440" marR="91440" marT="45720" marB="45720">
                    <a:solidFill>
                      <a:srgbClr val="183B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"/>
                          <a:ea typeface="Noto Sans"/>
                          <a:cs typeface="Noto Sans"/>
                        </a:rPr>
                        <a:t>h1, %</a:t>
                      </a:r>
                    </a:p>
                  </a:txBody>
                  <a:tcPr marL="91440" marR="91440" marT="45720" marB="45720">
                    <a:solidFill>
                      <a:srgbClr val="183B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"/>
                          <a:ea typeface="Noto Sans"/>
                          <a:cs typeface="Noto Sans"/>
                        </a:rPr>
                        <a:t>h3, %</a:t>
                      </a:r>
                    </a:p>
                  </a:txBody>
                  <a:tcPr marL="91440" marR="91440" marT="45720" marB="45720">
                    <a:solidFill>
                      <a:srgbClr val="183B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"/>
                          <a:ea typeface="Noto Sans"/>
                          <a:cs typeface="Noto Sans"/>
                        </a:rPr>
                        <a:t>h6, %</a:t>
                      </a:r>
                    </a:p>
                  </a:txBody>
                  <a:tcPr marL="91440" marR="91440" marT="45720" marB="45720">
                    <a:solidFill>
                      <a:srgbClr val="183B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"/>
                          <a:ea typeface="Noto Sans"/>
                          <a:cs typeface="Noto Sans"/>
                        </a:rPr>
                        <a:t>h12, %</a:t>
                      </a:r>
                    </a:p>
                  </a:txBody>
                  <a:tcPr marL="91440" marR="91440" marT="45720" marB="45720">
                    <a:solidFill>
                      <a:srgbClr val="183B32"/>
                    </a:solidFill>
                  </a:tcPr>
                </a:tc>
              </a:tr>
              <a:tr h="455839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Все категории</a:t>
                      </a:r>
                    </a:p>
                  </a:txBody>
                  <a:tcPr marL="91440" marR="91440" marT="45720" marB="45720">
                    <a:solidFill>
                      <a:srgbClr val="F0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41.5</a:t>
                      </a:r>
                    </a:p>
                  </a:txBody>
                  <a:tcPr marL="91440" marR="91440" marT="45720" marB="45720">
                    <a:solidFill>
                      <a:srgbClr val="F0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23.3</a:t>
                      </a:r>
                    </a:p>
                  </a:txBody>
                  <a:tcPr marL="91440" marR="91440" marT="45720" marB="45720">
                    <a:solidFill>
                      <a:srgbClr val="F0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28.5</a:t>
                      </a:r>
                    </a:p>
                  </a:txBody>
                  <a:tcPr marL="91440" marR="91440" marT="45720" marB="45720">
                    <a:solidFill>
                      <a:srgbClr val="F0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55.8</a:t>
                      </a:r>
                    </a:p>
                  </a:txBody>
                  <a:tcPr marL="91440" marR="91440" marT="45720" marB="45720">
                    <a:solidFill>
                      <a:srgbClr val="F0F6F1"/>
                    </a:solidFill>
                  </a:tcPr>
                </a:tc>
              </a:tr>
              <a:tr h="455839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Здоровье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9.7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9.9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2.3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28.4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55839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Маркетплейсы</a:t>
                      </a:r>
                    </a:p>
                  </a:txBody>
                  <a:tcPr marL="91440" marR="91440" marT="45720" marB="45720">
                    <a:solidFill>
                      <a:srgbClr val="F0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1.2</a:t>
                      </a:r>
                    </a:p>
                  </a:txBody>
                  <a:tcPr marL="91440" marR="91440" marT="45720" marB="45720">
                    <a:solidFill>
                      <a:srgbClr val="F0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-34.7</a:t>
                      </a:r>
                    </a:p>
                  </a:txBody>
                  <a:tcPr marL="91440" marR="91440" marT="45720" marB="45720">
                    <a:solidFill>
                      <a:srgbClr val="F0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-48.1</a:t>
                      </a:r>
                    </a:p>
                  </a:txBody>
                  <a:tcPr marL="91440" marR="91440" marT="45720" marB="45720">
                    <a:solidFill>
                      <a:srgbClr val="F0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-57.6</a:t>
                      </a:r>
                    </a:p>
                  </a:txBody>
                  <a:tcPr marL="91440" marR="91440" marT="45720" marB="45720">
                    <a:solidFill>
                      <a:srgbClr val="F0F6F1"/>
                    </a:solidFill>
                  </a:tcPr>
                </a:tc>
              </a:tr>
              <a:tr h="455839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Общественное питание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47.3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34.3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38.7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54.9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55839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Продовольствие</a:t>
                      </a:r>
                    </a:p>
                  </a:txBody>
                  <a:tcPr marL="91440" marR="91440" marT="45720" marB="45720">
                    <a:solidFill>
                      <a:srgbClr val="F0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51.1</a:t>
                      </a:r>
                    </a:p>
                  </a:txBody>
                  <a:tcPr marL="91440" marR="91440" marT="45720" marB="45720">
                    <a:solidFill>
                      <a:srgbClr val="F0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36.7</a:t>
                      </a:r>
                    </a:p>
                  </a:txBody>
                  <a:tcPr marL="91440" marR="91440" marT="45720" marB="45720">
                    <a:solidFill>
                      <a:srgbClr val="F0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22.3</a:t>
                      </a:r>
                    </a:p>
                  </a:txBody>
                  <a:tcPr marL="91440" marR="91440" marT="45720" marB="45720">
                    <a:solidFill>
                      <a:srgbClr val="F0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-86.8</a:t>
                      </a:r>
                    </a:p>
                  </a:txBody>
                  <a:tcPr marL="91440" marR="91440" marT="45720" marB="45720">
                    <a:solidFill>
                      <a:srgbClr val="F0F6F1"/>
                    </a:solidFill>
                  </a:tcPr>
                </a:tc>
              </a:tr>
              <a:tr h="455839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Транспорт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31.5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17.5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26.0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52.1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5E55E4-E36D-4EB8-B43E-FE9B6230D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054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C825D"/>
                </a:solidFill>
                <a:latin typeface="Noto Sans"/>
                <a:ea typeface="Noto Sans"/>
                <a:cs typeface="Noto Sans"/>
              </a:defRPr>
            </a:pPr>
            <a:r>
              <a:rPr sz="1950" b="1">
                <a:solidFill>
                  <a:srgbClr val="0C825D"/>
                </a:solidFill>
                <a:latin typeface="Noto Sans"/>
                <a:ea typeface="Noto Sans"/>
                <a:cs typeface="Noto Sans"/>
              </a:rPr>
              <a:t>Единого преимущества на всех категориях нет</a:t>
            </a:r>
          </a:p>
          <a:p xmlns:a="http://schemas.openxmlformats.org/drawingml/2006/main">
            <a:pPr>
              <a:defRPr sz="1950" b="1">
                <a:solidFill>
                  <a:srgbClr val="0C825D"/>
                </a:solidFill>
                <a:latin typeface="Noto Sans"/>
                <a:ea typeface="Noto Sans"/>
                <a:cs typeface="Noto Sans"/>
              </a:defRPr>
            </a:pPr>
            <a:r>
              <a:rPr sz="1950" b="1">
                <a:solidFill>
                  <a:srgbClr val="0C825D"/>
                </a:solidFill>
                <a:latin typeface="Noto Sans"/>
                <a:ea typeface="Noto Sans"/>
                <a:cs typeface="Noto Sans"/>
              </a:rPr>
              <a:t>Prophet настроен по общей сумме; категории отдельно не настраивались</a:t>
            </a:r>
          </a:p>
        </p:txBody>
      </p:sp>
    </p:spTree>
    <p:extLst>
      <p:ext uri="{BB962C8B-B14F-4D97-AF65-F5344CB8AC3E}">
        <p14:creationId xmlns:p14="http://schemas.microsoft.com/office/powerpoint/2010/main" val="132596783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C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FCCB5A-EF69-490D-8AC2-B92E8BC7F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B32"/>
                </a:solidFill>
                <a:latin typeface="Noto Sans"/>
                <a:ea typeface="Noto Sans"/>
                <a:cs typeface="Noto Sans"/>
              </a:defRPr>
            </a:pPr>
            <a:r>
              <a:rPr sz="3300" b="1">
                <a:solidFill>
                  <a:srgbClr val="183B32"/>
                </a:solidFill>
                <a:latin typeface="Noto Sans"/>
                <a:ea typeface="Noto Sans"/>
                <a:cs typeface="Noto Sans"/>
              </a:rPr>
              <a:t>Год истории: сезонная модель сильнее готовых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72480F-F508-49D5-A46B-9310A954D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362700"/>
            <a:ext cx="819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2706C"/>
                </a:solidFill>
                <a:latin typeface="Noto Sans"/>
                <a:ea typeface="Noto Sans"/>
                <a:cs typeface="Noto Sans"/>
              </a:defRPr>
            </a:pPr>
            <a:r>
              <a:rPr sz="1275" b="0">
                <a:solidFill>
                  <a:srgbClr val="62706C"/>
                </a:solidFill>
                <a:latin typeface="Noto Sans"/>
                <a:ea typeface="Noto Sans"/>
                <a:cs typeface="Noto Sans"/>
              </a:rPr>
              <a:t>10 / 21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CBC248-6406-48AF-BF98-17D493B80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2706C"/>
                </a:solidFill>
                <a:latin typeface="Noto Sans"/>
                <a:ea typeface="Noto Sans"/>
                <a:cs typeface="Noto Sans"/>
              </a:defRPr>
            </a:pPr>
            <a:r>
              <a:rPr sz="1425" b="0">
                <a:solidFill>
                  <a:srgbClr val="62706C"/>
                </a:solidFill>
                <a:latin typeface="Noto Sans"/>
                <a:ea typeface="Noto Sans"/>
                <a:cs typeface="Noto Sans"/>
              </a:rPr>
              <a:t>Одинаковые 7532 пары: 251 / 251 / 252 / 252 МО. MAE в рублях. Современное предобучение ограничивает ретроспективные выводы.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362075"/>
          <a:ext xmlns:a="http://schemas.openxmlformats.org/drawingml/2006/main" cx="10972800" cy="376237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810000"/>
                <a:gridCol w="1790700"/>
                <a:gridCol w="1790700"/>
                <a:gridCol w="1790700"/>
                <a:gridCol w="1790700"/>
              </a:tblGrid>
              <a:tr h="342034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oto Sans"/>
                          <a:ea typeface="Noto Sans"/>
                          <a:cs typeface="Noto Sans"/>
                        </a:rPr>
                        <a:t>Модель</a:t>
                      </a:r>
                    </a:p>
                  </a:txBody>
                  <a:tcPr marL="91440" marR="91440" marT="45720" marB="45720">
                    <a:solidFill>
                      <a:srgbClr val="183B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oto Sans"/>
                          <a:ea typeface="Noto Sans"/>
                          <a:cs typeface="Noto Sans"/>
                        </a:rPr>
                        <a:t>h1</a:t>
                      </a:r>
                    </a:p>
                  </a:txBody>
                  <a:tcPr marL="91440" marR="91440" marT="45720" marB="45720">
                    <a:solidFill>
                      <a:srgbClr val="183B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oto Sans"/>
                          <a:ea typeface="Noto Sans"/>
                          <a:cs typeface="Noto Sans"/>
                        </a:rPr>
                        <a:t>h3</a:t>
                      </a:r>
                    </a:p>
                  </a:txBody>
                  <a:tcPr marL="91440" marR="91440" marT="45720" marB="45720">
                    <a:solidFill>
                      <a:srgbClr val="183B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oto Sans"/>
                          <a:ea typeface="Noto Sans"/>
                          <a:cs typeface="Noto Sans"/>
                        </a:rPr>
                        <a:t>h6</a:t>
                      </a:r>
                    </a:p>
                  </a:txBody>
                  <a:tcPr marL="91440" marR="91440" marT="45720" marB="45720">
                    <a:solidFill>
                      <a:srgbClr val="183B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oto Sans"/>
                          <a:ea typeface="Noto Sans"/>
                          <a:cs typeface="Noto Sans"/>
                        </a:rPr>
                        <a:t>h12</a:t>
                      </a:r>
                    </a:p>
                  </a:txBody>
                  <a:tcPr marL="91440" marR="91440" marT="45720" marB="45720">
                    <a:solidFill>
                      <a:srgbClr val="183B32"/>
                    </a:solidFill>
                  </a:tcPr>
                </a:tc>
              </a:tr>
              <a:tr h="342034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Сезонный контроль</a:t>
                      </a:r>
                    </a:p>
                  </a:txBody>
                  <a:tcPr marL="91440" marR="91440" marT="45720" marB="45720">
                    <a:solidFill>
                      <a:srgbClr val="F0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979</a:t>
                      </a:r>
                    </a:p>
                  </a:txBody>
                  <a:tcPr marL="91440" marR="91440" marT="45720" marB="45720">
                    <a:solidFill>
                      <a:srgbClr val="F0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1 633</a:t>
                      </a:r>
                    </a:p>
                  </a:txBody>
                  <a:tcPr marL="91440" marR="91440" marT="45720" marB="45720">
                    <a:solidFill>
                      <a:srgbClr val="F0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1 914</a:t>
                      </a:r>
                    </a:p>
                  </a:txBody>
                  <a:tcPr marL="91440" marR="91440" marT="45720" marB="45720">
                    <a:solidFill>
                      <a:srgbClr val="F0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4 854</a:t>
                      </a:r>
                    </a:p>
                  </a:txBody>
                  <a:tcPr marL="91440" marR="91440" marT="45720" marB="45720">
                    <a:solidFill>
                      <a:srgbClr val="F0F6F1"/>
                    </a:solidFill>
                  </a:tcPr>
                </a:tc>
              </a:tr>
              <a:tr h="342034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Выбранная модель</a:t>
                      </a:r>
                    </a:p>
                  </a:txBody>
                  <a:tcPr marL="91440" marR="91440" marT="45720" marB="45720">
                    <a:solidFill>
                      <a:srgbClr val="D9EE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921</a:t>
                      </a:r>
                    </a:p>
                  </a:txBody>
                  <a:tcPr marL="91440" marR="91440" marT="45720" marB="45720">
                    <a:solidFill>
                      <a:srgbClr val="D9EE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1 246</a:t>
                      </a:r>
                    </a:p>
                  </a:txBody>
                  <a:tcPr marL="91440" marR="91440" marT="45720" marB="45720">
                    <a:solidFill>
                      <a:srgbClr val="D9EE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1 338</a:t>
                      </a:r>
                    </a:p>
                  </a:txBody>
                  <a:tcPr marL="91440" marR="91440" marT="45720" marB="45720">
                    <a:solidFill>
                      <a:srgbClr val="D9EE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1 357</a:t>
                      </a:r>
                    </a:p>
                  </a:txBody>
                  <a:tcPr marL="91440" marR="91440" marT="45720" marB="45720">
                    <a:solidFill>
                      <a:srgbClr val="D9EEE2"/>
                    </a:solidFill>
                  </a:tcPr>
                </a:tc>
              </a:tr>
              <a:tr h="342034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TimesFM 2.5</a:t>
                      </a:r>
                    </a:p>
                  </a:txBody>
                  <a:tcPr marL="91440" marR="91440" marT="45720" marB="45720">
                    <a:solidFill>
                      <a:srgbClr val="F0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2 078</a:t>
                      </a:r>
                    </a:p>
                  </a:txBody>
                  <a:tcPr marL="91440" marR="91440" marT="45720" marB="45720">
                    <a:solidFill>
                      <a:srgbClr val="F0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2 695</a:t>
                      </a:r>
                    </a:p>
                  </a:txBody>
                  <a:tcPr marL="91440" marR="91440" marT="45720" marB="45720">
                    <a:solidFill>
                      <a:srgbClr val="F0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4 148</a:t>
                      </a:r>
                    </a:p>
                  </a:txBody>
                  <a:tcPr marL="91440" marR="91440" marT="45720" marB="45720">
                    <a:solidFill>
                      <a:srgbClr val="F0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9 134</a:t>
                      </a:r>
                    </a:p>
                  </a:txBody>
                  <a:tcPr marL="91440" marR="91440" marT="45720" marB="45720">
                    <a:solidFill>
                      <a:srgbClr val="F0F6F1"/>
                    </a:solidFill>
                  </a:tcPr>
                </a:tc>
              </a:tr>
              <a:tr h="342034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TimesFM · отношение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1 147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2 010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2 701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4 966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42034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Moirai 2</a:t>
                      </a:r>
                    </a:p>
                  </a:txBody>
                  <a:tcPr marL="91440" marR="91440" marT="45720" marB="45720">
                    <a:solidFill>
                      <a:srgbClr val="F0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2 535</a:t>
                      </a:r>
                    </a:p>
                  </a:txBody>
                  <a:tcPr marL="91440" marR="91440" marT="45720" marB="45720">
                    <a:solidFill>
                      <a:srgbClr val="F0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2 972</a:t>
                      </a:r>
                    </a:p>
                  </a:txBody>
                  <a:tcPr marL="91440" marR="91440" marT="45720" marB="45720">
                    <a:solidFill>
                      <a:srgbClr val="F0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3 664</a:t>
                      </a:r>
                    </a:p>
                  </a:txBody>
                  <a:tcPr marL="91440" marR="91440" marT="45720" marB="45720">
                    <a:solidFill>
                      <a:srgbClr val="F0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12 613</a:t>
                      </a:r>
                    </a:p>
                  </a:txBody>
                  <a:tcPr marL="91440" marR="91440" marT="45720" marB="45720">
                    <a:solidFill>
                      <a:srgbClr val="F0F6F1"/>
                    </a:solidFill>
                  </a:tcPr>
                </a:tc>
              </a:tr>
              <a:tr h="342034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Moirai · отношение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1 287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1 801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2 302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7 369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42034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TiRex</a:t>
                      </a:r>
                    </a:p>
                  </a:txBody>
                  <a:tcPr marL="91440" marR="91440" marT="45720" marB="45720">
                    <a:solidFill>
                      <a:srgbClr val="F0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2 368</a:t>
                      </a:r>
                    </a:p>
                  </a:txBody>
                  <a:tcPr marL="91440" marR="91440" marT="45720" marB="45720">
                    <a:solidFill>
                      <a:srgbClr val="F0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3 232</a:t>
                      </a:r>
                    </a:p>
                  </a:txBody>
                  <a:tcPr marL="91440" marR="91440" marT="45720" marB="45720">
                    <a:solidFill>
                      <a:srgbClr val="F0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5 321</a:t>
                      </a:r>
                    </a:p>
                  </a:txBody>
                  <a:tcPr marL="91440" marR="91440" marT="45720" marB="45720">
                    <a:solidFill>
                      <a:srgbClr val="F0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12 373</a:t>
                      </a:r>
                    </a:p>
                  </a:txBody>
                  <a:tcPr marL="91440" marR="91440" marT="45720" marB="45720">
                    <a:solidFill>
                      <a:srgbClr val="F0F6F1"/>
                    </a:solidFill>
                  </a:tcPr>
                </a:tc>
              </a:tr>
              <a:tr h="342034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TiRex · отношение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1 204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2 360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3 519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5 047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42034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Bolt · исходный</a:t>
                      </a:r>
                    </a:p>
                  </a:txBody>
                  <a:tcPr marL="91440" marR="91440" marT="45720" marB="45720">
                    <a:solidFill>
                      <a:srgbClr val="F0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2 416</a:t>
                      </a:r>
                    </a:p>
                  </a:txBody>
                  <a:tcPr marL="91440" marR="91440" marT="45720" marB="45720">
                    <a:solidFill>
                      <a:srgbClr val="F0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2 777</a:t>
                      </a:r>
                    </a:p>
                  </a:txBody>
                  <a:tcPr marL="91440" marR="91440" marT="45720" marB="45720">
                    <a:solidFill>
                      <a:srgbClr val="F0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4 353</a:t>
                      </a:r>
                    </a:p>
                  </a:txBody>
                  <a:tcPr marL="91440" marR="91440" marT="45720" marB="45720">
                    <a:solidFill>
                      <a:srgbClr val="F0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10 587</a:t>
                      </a:r>
                    </a:p>
                  </a:txBody>
                  <a:tcPr marL="91440" marR="91440" marT="45720" marB="45720">
                    <a:solidFill>
                      <a:srgbClr val="F0F6F1"/>
                    </a:solidFill>
                  </a:tcPr>
                </a:tc>
              </a:tr>
              <a:tr h="342034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Bolt · одна эпоха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1 886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2 367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3 901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10 824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6E5064-B6E4-4139-9502-8B1982F9F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86375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C825D"/>
                </a:solidFill>
                <a:latin typeface="Noto Sans"/>
                <a:ea typeface="Noto Sans"/>
                <a:cs typeface="Noto Sans"/>
              </a:defRPr>
            </a:pPr>
            <a:r>
              <a:rPr sz="1800" b="0">
                <a:solidFill>
                  <a:srgbClr val="0C825D"/>
                </a:solidFill>
                <a:latin typeface="Noto Sans"/>
                <a:ea typeface="Noto Sans"/>
                <a:cs typeface="Noto Sans"/>
              </a:rPr>
              <a:t>Работают без дообучения на МО с историей</a:t>
            </a:r>
          </a:p>
          <a:p xmlns:a="http://schemas.openxmlformats.org/drawingml/2006/main">
            <a:pPr>
              <a:defRPr sz="1800" b="0">
                <a:solidFill>
                  <a:srgbClr val="0C825D"/>
                </a:solidFill>
                <a:latin typeface="Noto Sans"/>
                <a:ea typeface="Noto Sans"/>
                <a:cs typeface="Noto Sans"/>
              </a:defRPr>
            </a:pPr>
            <a:r>
              <a:rPr sz="1800" b="0">
                <a:solidFill>
                  <a:srgbClr val="0C825D"/>
                </a:solidFill>
                <a:latin typeface="Noto Sans"/>
                <a:ea typeface="Noto Sans"/>
                <a:cs typeface="Noto Sans"/>
              </a:rPr>
              <a:t>На МО без истории не проверялись</a:t>
            </a:r>
          </a:p>
        </p:txBody>
      </p:sp>
    </p:spTree>
    <p:extLst>
      <p:ext uri="{BB962C8B-B14F-4D97-AF65-F5344CB8AC3E}">
        <p14:creationId xmlns:p14="http://schemas.microsoft.com/office/powerpoint/2010/main" val="41512750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AFC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4DC368-BE63-47B8-BBD8-9DA278FEE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B32"/>
                </a:solidFill>
                <a:latin typeface="Noto Sans"/>
                <a:ea typeface="Noto Sans"/>
                <a:cs typeface="Noto Sans"/>
              </a:defRPr>
            </a:pPr>
            <a:r>
              <a:rPr sz="3300" b="1">
                <a:solidFill>
                  <a:srgbClr val="183B32"/>
                </a:solidFill>
                <a:latin typeface="Noto Sans"/>
                <a:ea typeface="Noto Sans"/>
                <a:cs typeface="Noto Sans"/>
              </a:rPr>
              <a:t>Foundation-модели: преимущества и ограничения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3F17FC-0B82-4F80-8E57-2A0C17DD6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362700"/>
            <a:ext cx="819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2706C"/>
                </a:solidFill>
                <a:latin typeface="Noto Sans"/>
                <a:ea typeface="Noto Sans"/>
                <a:cs typeface="Noto Sans"/>
              </a:defRPr>
            </a:pPr>
            <a:r>
              <a:rPr sz="1275" b="0">
                <a:solidFill>
                  <a:srgbClr val="62706C"/>
                </a:solidFill>
                <a:latin typeface="Noto Sans"/>
                <a:ea typeface="Noto Sans"/>
                <a:cs typeface="Noto Sans"/>
              </a:rPr>
              <a:t>11 / 21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ACAE73-1C23-47A8-BF72-B2C77D8E8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2706C"/>
                </a:solidFill>
                <a:latin typeface="Noto Sans"/>
                <a:ea typeface="Noto Sans"/>
                <a:cs typeface="Noto Sans"/>
              </a:defRPr>
            </a:pPr>
            <a:r>
              <a:rPr sz="1425" b="0">
                <a:solidFill>
                  <a:srgbClr val="62706C"/>
                </a:solidFill>
                <a:latin typeface="Noto Sans"/>
                <a:ea typeface="Noto Sans"/>
                <a:cs typeface="Noto Sans"/>
              </a:rPr>
              <a:t>Контроли различаются: уменьшение ошибки внутри семейства не означает превосходства выбранной сезонной модели.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329667-9CB8-4AA2-BA8B-5F3D8CAE4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5334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C825D"/>
                </a:solidFill>
                <a:latin typeface="Noto Sans"/>
                <a:ea typeface="Noto Sans"/>
                <a:cs typeface="Noto Sans"/>
              </a:defRPr>
            </a:pPr>
            <a:r>
              <a:rPr sz="2250" b="1">
                <a:solidFill>
                  <a:srgbClr val="0C825D"/>
                </a:solidFill>
                <a:latin typeface="Noto Sans"/>
                <a:ea typeface="Noto Sans"/>
                <a:cs typeface="Noto Sans"/>
              </a:rPr>
              <a:t>Преимущества в экспериментах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E25411-E948-4239-9A68-CE6284F3E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90800"/>
            <a:ext cx="5381625" cy="2686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83B32"/>
                </a:solidFill>
                <a:latin typeface="Noto Sans"/>
                <a:ea typeface="Noto Sans"/>
                <a:cs typeface="Noto Sans"/>
              </a:defRPr>
            </a:pPr>
            <a:r>
              <a:rPr sz="1950" b="0">
                <a:solidFill>
                  <a:srgbClr val="183B32"/>
                </a:solidFill>
                <a:latin typeface="Noto Sans"/>
                <a:ea typeface="Noto Sans"/>
                <a:cs typeface="Noto Sans"/>
              </a:rPr>
              <a:t>Без дообучения на новых МО с историей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83B32"/>
                </a:solidFill>
                <a:latin typeface="Noto Sans"/>
                <a:ea typeface="Noto Sans"/>
                <a:cs typeface="Noto Sans"/>
              </a:defRPr>
            </a:pPr>
            <a:r>
              <a:rPr sz="1950" b="0">
                <a:solidFill>
                  <a:srgbClr val="183B32"/>
                </a:solidFill>
                <a:latin typeface="Noto Sans"/>
                <a:ea typeface="Noto Sans"/>
                <a:cs typeface="Noto Sans"/>
              </a:rPr>
              <a:t>TimesFM: сезонное отношение</a:t>
            </a:r>
          </a:p>
          <a:p xmlns:a="http://schemas.openxmlformats.org/drawingml/2006/main">
            <a:pPr>
              <a:defRPr sz="1950" b="0">
                <a:solidFill>
                  <a:srgbClr val="183B32"/>
                </a:solidFill>
                <a:latin typeface="Noto Sans"/>
                <a:ea typeface="Noto Sans"/>
                <a:cs typeface="Noto Sans"/>
              </a:defRPr>
            </a:pPr>
            <a:r>
              <a:rPr sz="1950" b="0">
                <a:solidFill>
                  <a:srgbClr val="183B32"/>
                </a:solidFill>
                <a:latin typeface="Noto Sans"/>
                <a:ea typeface="Noto Sans"/>
                <a:cs typeface="Noto Sans"/>
              </a:rPr>
              <a:t>−45% MAE на h1 к zero-shot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83B32"/>
                </a:solidFill>
                <a:latin typeface="Noto Sans"/>
                <a:ea typeface="Noto Sans"/>
                <a:cs typeface="Noto Sans"/>
              </a:defRPr>
            </a:pPr>
            <a:r>
              <a:rPr sz="1950" b="0">
                <a:solidFill>
                  <a:srgbClr val="183B32"/>
                </a:solidFill>
                <a:latin typeface="Noto Sans"/>
                <a:ea typeface="Noto Sans"/>
                <a:cs typeface="Noto Sans"/>
              </a:rPr>
              <a:t>Bolt: одна эпоха обучения −22% на h1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83B32"/>
                </a:solidFill>
                <a:latin typeface="Noto Sans"/>
                <a:ea typeface="Noto Sans"/>
                <a:cs typeface="Noto Sans"/>
              </a:defRPr>
            </a:pPr>
            <a:r>
              <a:rPr sz="1950" b="0">
                <a:solidFill>
                  <a:srgbClr val="183B32"/>
                </a:solidFill>
                <a:latin typeface="Noto Sans"/>
                <a:ea typeface="Noto Sans"/>
                <a:cs typeface="Noto Sans"/>
              </a:rPr>
              <a:t>Групповой Chronos-2: −27% на h1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B98B8A-2576-4ECA-B5F0-E803A3272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657350"/>
            <a:ext cx="5238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C825D"/>
                </a:solidFill>
                <a:latin typeface="Noto Sans"/>
                <a:ea typeface="Noto Sans"/>
                <a:cs typeface="Noto Sans"/>
              </a:defRPr>
            </a:pPr>
            <a:r>
              <a:rPr sz="2250" b="1">
                <a:solidFill>
                  <a:srgbClr val="0C825D"/>
                </a:solidFill>
                <a:latin typeface="Noto Sans"/>
                <a:ea typeface="Noto Sans"/>
                <a:cs typeface="Noto Sans"/>
              </a:rPr>
              <a:t>Границы применения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82C60B-D133-4906-A1AA-CC120C759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590800"/>
            <a:ext cx="5238750" cy="2686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83B32"/>
                </a:solidFill>
                <a:latin typeface="Noto Sans"/>
                <a:ea typeface="Noto Sans"/>
                <a:cs typeface="Noto Sans"/>
              </a:defRPr>
            </a:pPr>
            <a:r>
              <a:rPr sz="1950" b="0">
                <a:solidFill>
                  <a:srgbClr val="183B32"/>
                </a:solidFill>
                <a:latin typeface="Noto Sans"/>
                <a:ea typeface="Noto Sans"/>
                <a:cs typeface="Noto Sans"/>
              </a:rPr>
              <a:t>Год истории даёт один сезонный цикл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83B32"/>
                </a:solidFill>
                <a:latin typeface="Noto Sans"/>
                <a:ea typeface="Noto Sans"/>
                <a:cs typeface="Noto Sans"/>
              </a:defRPr>
            </a:pPr>
            <a:r>
              <a:rPr sz="1950" b="0">
                <a:solidFill>
                  <a:srgbClr val="183B32"/>
                </a:solidFill>
                <a:latin typeface="Noto Sans"/>
                <a:ea typeface="Noto Sans"/>
                <a:cs typeface="Noto Sans"/>
              </a:rPr>
              <a:t>Ошибка h12 в 3,7–9,3 раза выше</a:t>
            </a:r>
          </a:p>
          <a:p xmlns:a="http://schemas.openxmlformats.org/drawingml/2006/main">
            <a:pPr>
              <a:defRPr sz="1950" b="0">
                <a:solidFill>
                  <a:srgbClr val="183B32"/>
                </a:solidFill>
                <a:latin typeface="Noto Sans"/>
                <a:ea typeface="Noto Sans"/>
                <a:cs typeface="Noto Sans"/>
              </a:defRPr>
            </a:pPr>
            <a:r>
              <a:rPr sz="1950" b="0">
                <a:solidFill>
                  <a:srgbClr val="183B32"/>
                </a:solidFill>
                <a:latin typeface="Noto Sans"/>
                <a:ea typeface="Noto Sans"/>
                <a:cs typeface="Noto Sans"/>
              </a:rPr>
              <a:t>выбранной модели на той же выборке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83B32"/>
                </a:solidFill>
                <a:latin typeface="Noto Sans"/>
                <a:ea typeface="Noto Sans"/>
                <a:cs typeface="Noto Sans"/>
              </a:defRPr>
            </a:pPr>
            <a:r>
              <a:rPr sz="1950" b="0">
                <a:solidFill>
                  <a:srgbClr val="183B32"/>
                </a:solidFill>
                <a:latin typeface="Noto Sans"/>
                <a:ea typeface="Noto Sans"/>
                <a:cs typeface="Noto Sans"/>
              </a:rPr>
              <a:t>Состав предобучения неизвестен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83B32"/>
                </a:solidFill>
                <a:latin typeface="Noto Sans"/>
                <a:ea typeface="Noto Sans"/>
                <a:cs typeface="Noto Sans"/>
              </a:defRPr>
            </a:pPr>
            <a:r>
              <a:rPr sz="1950" b="0">
                <a:solidFill>
                  <a:srgbClr val="183B32"/>
                </a:solidFill>
                <a:latin typeface="Noto Sans"/>
                <a:ea typeface="Noto Sans"/>
                <a:cs typeface="Noto Sans"/>
              </a:rPr>
              <a:t>Применение без истории не проверяли</a:t>
            </a:r>
          </a:p>
        </p:txBody>
      </p:sp>
    </p:spTree>
    <p:extLst>
      <p:ext uri="{BB962C8B-B14F-4D97-AF65-F5344CB8AC3E}">
        <p14:creationId xmlns:p14="http://schemas.microsoft.com/office/powerpoint/2010/main" val="79623243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AFC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A9C3A1-E183-468F-B4EE-0AEBC2A58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B32"/>
                </a:solidFill>
                <a:latin typeface="Noto Sans"/>
                <a:ea typeface="Noto Sans"/>
                <a:cs typeface="Noto Sans"/>
              </a:defRPr>
            </a:pPr>
            <a:r>
              <a:rPr sz="3300" b="1">
                <a:solidFill>
                  <a:srgbClr val="183B32"/>
                </a:solidFill>
                <a:latin typeface="Noto Sans"/>
                <a:ea typeface="Noto Sans"/>
                <a:cs typeface="Noto Sans"/>
              </a:rPr>
              <a:t>Реальные МО: факт, прогноз и интервал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C47CAF-5221-42F3-9CF5-7155FAC1B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362700"/>
            <a:ext cx="819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2706C"/>
                </a:solidFill>
                <a:latin typeface="Noto Sans"/>
                <a:ea typeface="Noto Sans"/>
                <a:cs typeface="Noto Sans"/>
              </a:defRPr>
            </a:pPr>
            <a:r>
              <a:rPr sz="1275" b="0">
                <a:solidFill>
                  <a:srgbClr val="62706C"/>
                </a:solidFill>
                <a:latin typeface="Noto Sans"/>
                <a:ea typeface="Noto Sans"/>
                <a:cs typeface="Noto Sans"/>
              </a:rPr>
              <a:t>12 / 21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051AF4-AE03-4950-B1FD-FADA1AE54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2706C"/>
                </a:solidFill>
                <a:latin typeface="Noto Sans"/>
                <a:ea typeface="Noto Sans"/>
                <a:cs typeface="Noto Sans"/>
              </a:defRPr>
            </a:pPr>
            <a:r>
              <a:rPr sz="1425" b="0">
                <a:solidFill>
                  <a:srgbClr val="62706C"/>
                </a:solidFill>
                <a:latin typeface="Noto Sans"/>
                <a:ea typeface="Noto Sans"/>
                <a:cs typeface="Noto Sans"/>
              </a:rPr>
              <a:t>Скользящие прогнозы h1. Иллюстративные 80% интервалы: ошибки трёх прошлых месяцев, масштаб 2023; лаг 0, гарантий покрытия нет.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C13B8E-964F-4A20-9F05-653BEB47B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3B32"/>
                </a:solidFill>
                <a:latin typeface="Noto Sans"/>
                <a:ea typeface="Noto Sans"/>
                <a:cs typeface="Noto Sans"/>
              </a:defRPr>
            </a:pPr>
            <a:r>
              <a:rPr sz="1875" b="0">
                <a:solidFill>
                  <a:srgbClr val="183B32"/>
                </a:solidFill>
                <a:latin typeface="Noto Sans"/>
                <a:ea typeface="Noto Sans"/>
                <a:cs typeface="Noto Sans"/>
              </a:rPr>
              <a:t>Факт — тёмная линия · прогноз — зелёная · светлые линии — границы интервала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848CDC-F089-4D0D-985E-2089E9190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3571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83B32"/>
                </a:solidFill>
                <a:latin typeface="Noto Sans"/>
                <a:ea typeface="Noto Sans"/>
                <a:cs typeface="Noto Sans"/>
              </a:defRPr>
            </a:pPr>
            <a:r>
              <a:rPr sz="2175" b="1">
                <a:solidFill>
                  <a:srgbClr val="183B32"/>
                </a:solidFill>
                <a:latin typeface="Noto Sans"/>
                <a:ea typeface="Noto Sans"/>
                <a:cs typeface="Noto Sans"/>
              </a:rPr>
              <a:t>Уфа</a:t>
            </a:r>
          </a:p>
        </p:txBody>
      </p:sp>
      <p:graphicFrame>
        <p:nvGraphicFramePr>
          <p:cNvPr id="21" name="Chart"/>
          <p:cNvGraphicFramePr/>
          <p:nvPr/>
        </p:nvGraphicFramePr>
        <p:xfrm>
          <a:off xmlns:a="http://schemas.openxmlformats.org/drawingml/2006/main" x="609600" y="2571750"/>
          <a:ext xmlns:a="http://schemas.openxmlformats.org/drawingml/2006/main" cx="3571875" cy="27432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765b13eea1347b7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DC52FD-3FB8-4283-8293-7642700FD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3571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2706C"/>
                </a:solidFill>
                <a:latin typeface="Noto Sans"/>
                <a:ea typeface="Noto Sans"/>
                <a:cs typeface="Noto Sans"/>
              </a:defRPr>
            </a:pPr>
            <a:r>
              <a:rPr sz="1725" b="0">
                <a:solidFill>
                  <a:srgbClr val="62706C"/>
                </a:solidFill>
                <a:latin typeface="Noto Sans"/>
                <a:ea typeface="Noto Sans"/>
                <a:cs typeface="Noto Sans"/>
              </a:rPr>
              <a:t>Крупный город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E7FEE9-D953-4D11-83AF-819250237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1943100"/>
            <a:ext cx="3571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83B32"/>
                </a:solidFill>
                <a:latin typeface="Noto Sans"/>
                <a:ea typeface="Noto Sans"/>
                <a:cs typeface="Noto Sans"/>
              </a:defRPr>
            </a:pPr>
            <a:r>
              <a:rPr sz="2175" b="1">
                <a:solidFill>
                  <a:srgbClr val="183B32"/>
                </a:solidFill>
                <a:latin typeface="Noto Sans"/>
                <a:ea typeface="Noto Sans"/>
                <a:cs typeface="Noto Sans"/>
              </a:rPr>
              <a:t>Яльчикский</a:t>
            </a:r>
          </a:p>
        </p:txBody>
      </p:sp>
      <p:graphicFrame>
        <p:nvGraphicFramePr>
          <p:cNvPr id="24" name="Chart"/>
          <p:cNvGraphicFramePr/>
          <p:nvPr/>
        </p:nvGraphicFramePr>
        <p:xfrm>
          <a:off xmlns:a="http://schemas.openxmlformats.org/drawingml/2006/main" x="4352925" y="2571750"/>
          <a:ext xmlns:a="http://schemas.openxmlformats.org/drawingml/2006/main" cx="3571875" cy="27432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59fbba1b00642a2"/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B955EB-A69C-49C9-AD92-7D6CEBC03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5410200"/>
            <a:ext cx="3571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2706C"/>
                </a:solidFill>
                <a:latin typeface="Noto Sans"/>
                <a:ea typeface="Noto Sans"/>
                <a:cs typeface="Noto Sans"/>
              </a:defRPr>
            </a:pPr>
            <a:r>
              <a:rPr sz="1725" b="0">
                <a:solidFill>
                  <a:srgbClr val="62706C"/>
                </a:solidFill>
                <a:latin typeface="Noto Sans"/>
                <a:ea typeface="Noto Sans"/>
                <a:cs typeface="Noto Sans"/>
              </a:rPr>
              <a:t>Район с низкими расходами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37B176-3BA6-4FD9-82BA-95E30FBCA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43100"/>
            <a:ext cx="3571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83B32"/>
                </a:solidFill>
                <a:latin typeface="Noto Sans"/>
                <a:ea typeface="Noto Sans"/>
                <a:cs typeface="Noto Sans"/>
              </a:defRPr>
            </a:pPr>
            <a:r>
              <a:rPr sz="2175" b="1">
                <a:solidFill>
                  <a:srgbClr val="183B32"/>
                </a:solidFill>
                <a:latin typeface="Noto Sans"/>
                <a:ea typeface="Noto Sans"/>
                <a:cs typeface="Noto Sans"/>
              </a:rPr>
              <a:t>Орск</a:t>
            </a:r>
          </a:p>
        </p:txBody>
      </p:sp>
      <p:graphicFrame>
        <p:nvGraphicFramePr>
          <p:cNvPr id="27" name="Chart"/>
          <p:cNvGraphicFramePr/>
          <p:nvPr/>
        </p:nvGraphicFramePr>
        <p:xfrm>
          <a:off xmlns:a="http://schemas.openxmlformats.org/drawingml/2006/main" x="8096250" y="2571750"/>
          <a:ext xmlns:a="http://schemas.openxmlformats.org/drawingml/2006/main" cx="3571875" cy="27432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ff43c597ec04674"/>
          </a:graphicData>
        </a:graphic>
      </p:graphicFrame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082F84-A409-41E6-AACA-849F81C86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57500"/>
            <a:ext cx="19050" cy="2047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16A2E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38786C-F92E-4D9A-832A-F572308F3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505075"/>
            <a:ext cx="26193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16A2E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B16A2E"/>
                </a:solidFill>
                <a:latin typeface="Noto Sans"/>
                <a:ea typeface="Noto Sans"/>
                <a:cs typeface="Noto Sans"/>
              </a:rPr>
              <a:t>Апрель: паводок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479A89-681B-46AB-A914-685DC6AF4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410200"/>
            <a:ext cx="3571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2706C"/>
                </a:solidFill>
                <a:latin typeface="Noto Sans"/>
                <a:ea typeface="Noto Sans"/>
                <a:cs typeface="Noto Sans"/>
              </a:defRPr>
            </a:pPr>
            <a:r>
              <a:rPr sz="1725" b="0">
                <a:solidFill>
                  <a:srgbClr val="62706C"/>
                </a:solidFill>
                <a:latin typeface="Noto Sans"/>
                <a:ea typeface="Noto Sans"/>
                <a:cs typeface="Noto Sans"/>
              </a:rPr>
              <a:t>Паводок: кейс проверки</a:t>
            </a:r>
          </a:p>
        </p:txBody>
      </p:sp>
    </p:spTree>
    <p:extLst>
      <p:ext uri="{BB962C8B-B14F-4D97-AF65-F5344CB8AC3E}">
        <p14:creationId xmlns:p14="http://schemas.microsoft.com/office/powerpoint/2010/main" val="114547043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AFC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1D6734-D56E-42A7-BDE8-BFBEF8EEA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B32"/>
                </a:solidFill>
                <a:latin typeface="Noto Sans"/>
                <a:ea typeface="Noto Sans"/>
                <a:cs typeface="Noto Sans"/>
              </a:defRPr>
            </a:pPr>
            <a:r>
              <a:rPr sz="3300" b="1">
                <a:solidFill>
                  <a:srgbClr val="183B32"/>
                </a:solidFill>
                <a:latin typeface="Noto Sans"/>
                <a:ea typeface="Noto Sans"/>
                <a:cs typeface="Noto Sans"/>
              </a:rPr>
              <a:t>EWMA: лучший онлайн F1 и минимальный FAR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FBE38C-E431-4144-BE63-8FB5C78D5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362700"/>
            <a:ext cx="819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2706C"/>
                </a:solidFill>
                <a:latin typeface="Noto Sans"/>
                <a:ea typeface="Noto Sans"/>
                <a:cs typeface="Noto Sans"/>
              </a:defRPr>
            </a:pPr>
            <a:r>
              <a:rPr sz="1275" b="0">
                <a:solidFill>
                  <a:srgbClr val="62706C"/>
                </a:solidFill>
                <a:latin typeface="Noto Sans"/>
                <a:ea typeface="Noto Sans"/>
                <a:cs typeface="Noto Sans"/>
              </a:rPr>
              <a:t>13 / 21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6BEC77-A028-46AF-9948-B221BF299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2706C"/>
                </a:solidFill>
                <a:latin typeface="Noto Sans"/>
                <a:ea typeface="Noto Sans"/>
                <a:cs typeface="Noto Sans"/>
              </a:defRPr>
            </a:pPr>
            <a:r>
              <a:rPr sz="1425" b="0">
                <a:solidFill>
                  <a:srgbClr val="62706C"/>
                </a:solidFill>
                <a:latin typeface="Noto Sans"/>
                <a:ea typeface="Noto Sans"/>
                <a:cs typeface="Noto Sans"/>
              </a:rPr>
              <a:t>Ложные тревоги — на синтетике, на 100 МО-месяцев. Задержка только по найденным началам; пропущенные события исключены.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609600" y="1676400"/>
          <a:ext xmlns:a="http://schemas.openxmlformats.org/drawingml/2006/main" cx="6953250" cy="3476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bbd0ad31a6c4053"/>
          </a:graphicData>
        </a:graphic>
      </p:graphicFrame>
      <p:graphicFrame>
        <p:nvGraphicFramePr>
          <p:cNvPr id="12" name=""/>
          <p:cNvGraphicFramePr/>
          <p:nvPr/>
        </p:nvGraphicFramePr>
        <p:xfrm>
          <a:off xmlns:a="http://schemas.openxmlformats.org/drawingml/2006/main" x="7677150" y="1752600"/>
          <a:ext xmlns:a="http://schemas.openxmlformats.org/drawingml/2006/main" cx="3905250" cy="320992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809750"/>
                <a:gridCol w="714375"/>
                <a:gridCol w="714375"/>
                <a:gridCol w="666750"/>
              </a:tblGrid>
              <a:tr h="356658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Noto Sans"/>
                          <a:ea typeface="Noto Sans"/>
                          <a:cs typeface="Noto Sans"/>
                        </a:rPr>
                        <a:t>Метод</a:t>
                      </a:r>
                    </a:p>
                  </a:txBody>
                  <a:tcPr marL="91440" marR="91440" marT="45720" marB="45720">
                    <a:solidFill>
                      <a:srgbClr val="183B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Noto Sans"/>
                          <a:ea typeface="Noto Sans"/>
                          <a:cs typeface="Noto Sans"/>
                        </a:rPr>
                        <a:t>F1</a:t>
                      </a:r>
                    </a:p>
                  </a:txBody>
                  <a:tcPr marL="91440" marR="91440" marT="45720" marB="45720">
                    <a:solidFill>
                      <a:srgbClr val="183B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Noto Sans"/>
                          <a:ea typeface="Noto Sans"/>
                          <a:cs typeface="Noto Sans"/>
                        </a:rPr>
                        <a:t>FAR</a:t>
                      </a:r>
                    </a:p>
                  </a:txBody>
                  <a:tcPr marL="91440" marR="91440" marT="45720" marB="45720">
                    <a:solidFill>
                      <a:srgbClr val="183B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Noto Sans"/>
                          <a:ea typeface="Noto Sans"/>
                          <a:cs typeface="Noto Sans"/>
                        </a:rPr>
                        <a:t>Мес.</a:t>
                      </a:r>
                    </a:p>
                  </a:txBody>
                  <a:tcPr marL="91440" marR="91440" marT="45720" marB="45720">
                    <a:solidFill>
                      <a:srgbClr val="183B32"/>
                    </a:solidFill>
                  </a:tcPr>
                </a:tc>
              </a:tr>
              <a:tr h="356658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EWMA</a:t>
                      </a:r>
                    </a:p>
                  </a:txBody>
                  <a:tcPr marL="91440" marR="91440" marT="45720" marB="45720">
                    <a:solidFill>
                      <a:srgbClr val="D9EE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0.647</a:t>
                      </a:r>
                    </a:p>
                  </a:txBody>
                  <a:tcPr marL="91440" marR="91440" marT="45720" marB="45720">
                    <a:solidFill>
                      <a:srgbClr val="D9EE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0.046</a:t>
                      </a:r>
                    </a:p>
                  </a:txBody>
                  <a:tcPr marL="91440" marR="91440" marT="45720" marB="45720">
                    <a:solidFill>
                      <a:srgbClr val="D9EE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0.54</a:t>
                      </a:r>
                    </a:p>
                  </a:txBody>
                  <a:tcPr marL="91440" marR="91440" marT="45720" marB="45720">
                    <a:solidFill>
                      <a:srgbClr val="D9EEE2"/>
                    </a:solidFill>
                  </a:tcPr>
                </a:tc>
              </a:tr>
              <a:tr h="356658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CUSUM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0.602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0.069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0.77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56658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CUSUM + разовый</a:t>
                      </a:r>
                    </a:p>
                  </a:txBody>
                  <a:tcPr marL="91440" marR="91440" marT="45720" marB="45720">
                    <a:solidFill>
                      <a:srgbClr val="F0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0.598</a:t>
                      </a:r>
                    </a:p>
                  </a:txBody>
                  <a:tcPr marL="91440" marR="91440" marT="45720" marB="45720">
                    <a:solidFill>
                      <a:srgbClr val="F0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0.093</a:t>
                      </a:r>
                    </a:p>
                  </a:txBody>
                  <a:tcPr marL="91440" marR="91440" marT="45720" marB="45720">
                    <a:solidFill>
                      <a:srgbClr val="F0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0.38</a:t>
                      </a:r>
                    </a:p>
                  </a:txBody>
                  <a:tcPr marL="91440" marR="91440" marT="45720" marB="45720">
                    <a:solidFill>
                      <a:srgbClr val="F0F6F1"/>
                    </a:solidFill>
                  </a:tcPr>
                </a:tc>
              </a:tr>
              <a:tr h="356658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Разовый порог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0.525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0.069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0.26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56658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Среднее 3 мес.</a:t>
                      </a:r>
                    </a:p>
                  </a:txBody>
                  <a:tcPr marL="91440" marR="91440" marT="45720" marB="45720">
                    <a:solidFill>
                      <a:srgbClr val="F0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0.344</a:t>
                      </a:r>
                    </a:p>
                  </a:txBody>
                  <a:tcPr marL="91440" marR="91440" marT="45720" marB="45720">
                    <a:solidFill>
                      <a:srgbClr val="F0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0.069</a:t>
                      </a:r>
                    </a:p>
                  </a:txBody>
                  <a:tcPr marL="91440" marR="91440" marT="45720" marB="45720">
                    <a:solidFill>
                      <a:srgbClr val="F0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0.99</a:t>
                      </a:r>
                    </a:p>
                  </a:txBody>
                  <a:tcPr marL="91440" marR="91440" marT="45720" marB="45720">
                    <a:solidFill>
                      <a:srgbClr val="F0F6F1"/>
                    </a:solidFill>
                  </a:tcPr>
                </a:tc>
              </a:tr>
              <a:tr h="356658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BOCPD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0.092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0.093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0.03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56658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PELT*</a:t>
                      </a:r>
                    </a:p>
                  </a:txBody>
                  <a:tcPr marL="91440" marR="91440" marT="45720" marB="45720">
                    <a:solidFill>
                      <a:srgbClr val="E5E8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0.722</a:t>
                      </a:r>
                    </a:p>
                  </a:txBody>
                  <a:tcPr marL="91440" marR="91440" marT="45720" marB="45720">
                    <a:solidFill>
                      <a:srgbClr val="E5E8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0.139</a:t>
                      </a:r>
                    </a:p>
                  </a:txBody>
                  <a:tcPr marL="91440" marR="91440" marT="45720" marB="45720">
                    <a:solidFill>
                      <a:srgbClr val="E5E8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—</a:t>
                      </a:r>
                    </a:p>
                  </a:txBody>
                  <a:tcPr marL="91440" marR="91440" marT="45720" marB="45720">
                    <a:solidFill>
                      <a:srgbClr val="E5E8E7"/>
                    </a:solidFill>
                  </a:tcPr>
                </a:tc>
              </a:tr>
              <a:tr h="356658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Kernel*</a:t>
                      </a:r>
                    </a:p>
                  </a:txBody>
                  <a:tcPr marL="91440" marR="91440" marT="45720" marB="45720">
                    <a:solidFill>
                      <a:srgbClr val="E5E8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0.188</a:t>
                      </a:r>
                    </a:p>
                  </a:txBody>
                  <a:tcPr marL="91440" marR="91440" marT="45720" marB="45720">
                    <a:solidFill>
                      <a:srgbClr val="E5E8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0.023</a:t>
                      </a:r>
                    </a:p>
                  </a:txBody>
                  <a:tcPr marL="91440" marR="91440" marT="45720" marB="45720">
                    <a:solidFill>
                      <a:srgbClr val="E5E8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—</a:t>
                      </a:r>
                    </a:p>
                  </a:txBody>
                  <a:tcPr marL="91440" marR="91440" marT="45720" marB="45720">
                    <a:solidFill>
                      <a:srgbClr val="E5E8E7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7D29C6-894C-421A-B729-088A99CF9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5057775"/>
            <a:ext cx="3905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2706C"/>
                </a:solidFill>
                <a:latin typeface="Noto Sans"/>
                <a:ea typeface="Noto Sans"/>
                <a:cs typeface="Noto Sans"/>
              </a:defRPr>
            </a:pPr>
            <a:r>
              <a:rPr sz="1425" b="0">
                <a:solidFill>
                  <a:srgbClr val="62706C"/>
                </a:solidFill>
                <a:latin typeface="Noto Sans"/>
                <a:ea typeface="Noto Sans"/>
                <a:cs typeface="Noto Sans"/>
              </a:rPr>
              <a:t>Серые ромбы и *: офлайн, используют будущий ряд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63CE60-59C8-4DEF-87CC-1D07B5D22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48275"/>
            <a:ext cx="6877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C825D"/>
                </a:solidFill>
                <a:latin typeface="Noto Sans"/>
                <a:ea typeface="Noto Sans"/>
                <a:cs typeface="Noto Sans"/>
              </a:defRPr>
            </a:pPr>
            <a:r>
              <a:rPr sz="1725" b="0">
                <a:solidFill>
                  <a:srgbClr val="0C825D"/>
                </a:solidFill>
                <a:latin typeface="Noto Sans"/>
                <a:ea typeface="Noto Sans"/>
                <a:cs typeface="Noto Sans"/>
              </a:rPr>
              <a:t>EWMA: F1 0,647 при FAR 0,046. Задержка 0,54 мес.</a:t>
            </a:r>
          </a:p>
          <a:p xmlns:a="http://schemas.openxmlformats.org/drawingml/2006/main">
            <a:pPr>
              <a:defRPr sz="1725" b="0">
                <a:solidFill>
                  <a:srgbClr val="0C825D"/>
                </a:solidFill>
                <a:latin typeface="Noto Sans"/>
                <a:ea typeface="Noto Sans"/>
                <a:cs typeface="Noto Sans"/>
              </a:defRPr>
            </a:pPr>
            <a:r>
              <a:rPr sz="1725" b="0">
                <a:solidFill>
                  <a:srgbClr val="0C825D"/>
                </a:solidFill>
                <a:latin typeface="Noto Sans"/>
                <a:ea typeface="Noto Sans"/>
                <a:cs typeface="Noto Sans"/>
              </a:rPr>
              <a:t>420 начал найдены, 300 пропущены.</a:t>
            </a:r>
          </a:p>
        </p:txBody>
      </p:sp>
    </p:spTree>
    <p:extLst>
      <p:ext uri="{BB962C8B-B14F-4D97-AF65-F5344CB8AC3E}">
        <p14:creationId xmlns:p14="http://schemas.microsoft.com/office/powerpoint/2010/main" val="90995474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AFC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027099-D5F1-4705-9F14-563DFDF28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B32"/>
                </a:solidFill>
                <a:latin typeface="Noto Sans"/>
                <a:ea typeface="Noto Sans"/>
                <a:cs typeface="Noto Sans"/>
              </a:defRPr>
            </a:pPr>
            <a:r>
              <a:rPr sz="3300" b="1">
                <a:solidFill>
                  <a:srgbClr val="183B32"/>
                </a:solidFill>
                <a:latin typeface="Noto Sans"/>
                <a:ea typeface="Noto Sans"/>
                <a:cs typeface="Noto Sans"/>
              </a:rPr>
              <a:t>Региональный остаток выделяет локальный сигнал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A8830E-4EDF-4D50-9B0B-4517490A7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362700"/>
            <a:ext cx="819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2706C"/>
                </a:solidFill>
                <a:latin typeface="Noto Sans"/>
                <a:ea typeface="Noto Sans"/>
                <a:cs typeface="Noto Sans"/>
              </a:defRPr>
            </a:pPr>
            <a:r>
              <a:rPr sz="1275" b="0">
                <a:solidFill>
                  <a:srgbClr val="62706C"/>
                </a:solidFill>
                <a:latin typeface="Noto Sans"/>
                <a:ea typeface="Noto Sans"/>
                <a:cs typeface="Noto Sans"/>
              </a:rPr>
              <a:t>14 / 21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559E2F-958B-4C3F-8E9E-58C4C51BC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2706C"/>
                </a:solidFill>
                <a:latin typeface="Noto Sans"/>
                <a:ea typeface="Noto Sans"/>
                <a:cs typeface="Noto Sans"/>
              </a:defRPr>
            </a:pPr>
            <a:r>
              <a:rPr sz="1425" b="0">
                <a:solidFill>
                  <a:srgbClr val="62706C"/>
                </a:solidFill>
                <a:latin typeface="Noto Sans"/>
                <a:ea typeface="Noto Sans"/>
                <a:cs typeface="Noto Sans"/>
              </a:rPr>
              <a:t>Весь доступный ряд сравнен с прежними порогами. Частота тревог — нагрузка мониторинга, не ложные срабатывания.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54a5eb35514b35"/>
          <a:stretch xmlns:a="http://schemas.openxmlformats.org/drawingml/2006/main"/>
        </p:blipFill>
        <p:spPr>
          <a:xfrm xmlns:a="http://schemas.openxmlformats.org/drawingml/2006/main">
            <a:off x="1688856" y="1409700"/>
            <a:ext cx="8814288" cy="100012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FE89FC-A9AB-458B-967D-7F1F2116C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109728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3B32"/>
                </a:solidFill>
                <a:latin typeface="Noto Sans"/>
                <a:ea typeface="Noto Sans"/>
                <a:cs typeface="Noto Sans"/>
              </a:defRPr>
            </a:pPr>
            <a:r>
              <a:rPr sz="2100" b="0">
                <a:solidFill>
                  <a:srgbClr val="183B32"/>
                </a:solidFill>
                <a:latin typeface="Noto Sans"/>
                <a:ea typeface="Noto Sans"/>
                <a:cs typeface="Noto Sans"/>
              </a:rPr>
              <a:t>Только другие МО региона и факты того же доступного месяца</a:t>
            </a:r>
          </a:p>
          <a:p xmlns:a="http://schemas.openxmlformats.org/drawingml/2006/main">
            <a:pPr>
              <a:defRPr sz="2100" b="0">
                <a:solidFill>
                  <a:srgbClr val="183B32"/>
                </a:solidFill>
                <a:latin typeface="Noto Sans"/>
                <a:ea typeface="Noto Sans"/>
                <a:cs typeface="Noto Sans"/>
              </a:defRPr>
            </a:pPr>
            <a:r>
              <a:rPr sz="2100" b="0">
                <a:solidFill>
                  <a:srgbClr val="183B32"/>
                </a:solidFill>
                <a:latin typeface="Noto Sans"/>
                <a:ea typeface="Noto Sans"/>
                <a:cs typeface="Noto Sans"/>
              </a:rPr>
              <a:t>Не менее 5 соседей; пропуски остаются неизвестными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3790950"/>
          <a:ext xmlns:a="http://schemas.openxmlformats.org/drawingml/2006/main" cx="10972800" cy="18478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714750"/>
                <a:gridCol w="2190750"/>
                <a:gridCol w="2571750"/>
                <a:gridCol w="2495550"/>
              </a:tblGrid>
              <a:tr h="6159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"/>
                          <a:ea typeface="Noto Sans"/>
                          <a:cs typeface="Noto Sans"/>
                        </a:rPr>
                        <a:t>Остаток</a:t>
                      </a:r>
                    </a:p>
                  </a:txBody>
                  <a:tcPr marL="91440" marR="91440" marT="45720" marB="45720">
                    <a:solidFill>
                      <a:srgbClr val="183B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"/>
                          <a:ea typeface="Noto Sans"/>
                          <a:cs typeface="Noto Sans"/>
                        </a:rPr>
                        <a:t>МО-месяцы</a:t>
                      </a:r>
                    </a:p>
                  </a:txBody>
                  <a:tcPr marL="91440" marR="91440" marT="45720" marB="45720">
                    <a:solidFill>
                      <a:srgbClr val="183B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"/>
                          <a:ea typeface="Noto Sans"/>
                          <a:cs typeface="Noto Sans"/>
                        </a:rPr>
                        <a:t>Эпизоды EWMA</a:t>
                      </a:r>
                    </a:p>
                  </a:txBody>
                  <a:tcPr marL="91440" marR="91440" marT="45720" marB="45720">
                    <a:solidFill>
                      <a:srgbClr val="183B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"/>
                          <a:ea typeface="Noto Sans"/>
                          <a:cs typeface="Noto Sans"/>
                        </a:rPr>
                        <a:t>На 100 месяцев</a:t>
                      </a:r>
                    </a:p>
                  </a:txBody>
                  <a:tcPr marL="91440" marR="91440" marT="45720" marB="45720">
                    <a:solidFill>
                      <a:srgbClr val="183B32"/>
                    </a:solidFill>
                  </a:tcPr>
                </a:tc>
              </a:tr>
              <a:tr h="6159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Собственный</a:t>
                      </a:r>
                    </a:p>
                  </a:txBody>
                  <a:tcPr marL="91440" marR="91440" marT="45720" marB="45720">
                    <a:solidFill>
                      <a:srgbClr val="F0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24 282</a:t>
                      </a:r>
                    </a:p>
                  </a:txBody>
                  <a:tcPr marL="91440" marR="91440" marT="45720" marB="45720">
                    <a:solidFill>
                      <a:srgbClr val="F0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145</a:t>
                      </a:r>
                    </a:p>
                  </a:txBody>
                  <a:tcPr marL="91440" marR="91440" marT="45720" marB="45720">
                    <a:solidFill>
                      <a:srgbClr val="F0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0.597</a:t>
                      </a:r>
                    </a:p>
                  </a:txBody>
                  <a:tcPr marL="91440" marR="91440" marT="45720" marB="45720">
                    <a:solidFill>
                      <a:srgbClr val="F0F6F1"/>
                    </a:solidFill>
                  </a:tcPr>
                </a:tc>
              </a:tr>
              <a:tr h="6159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Относительно региона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24 081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18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0.075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453511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AFC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CFE8A6-7DAC-43B4-B51F-79365C051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B32"/>
                </a:solidFill>
                <a:latin typeface="Noto Sans"/>
                <a:ea typeface="Noto Sans"/>
                <a:cs typeface="Noto Sans"/>
              </a:defRPr>
            </a:pPr>
            <a:r>
              <a:rPr sz="3300" b="1">
                <a:solidFill>
                  <a:srgbClr val="183B32"/>
                </a:solidFill>
                <a:latin typeface="Noto Sans"/>
                <a:ea typeface="Noto Sans"/>
                <a:cs typeface="Noto Sans"/>
              </a:rPr>
              <a:t>Орск: локальный сигнал на фоне региона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04FF16-0D1E-4CC8-A8AC-9BD7F099A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362700"/>
            <a:ext cx="819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2706C"/>
                </a:solidFill>
                <a:latin typeface="Noto Sans"/>
                <a:ea typeface="Noto Sans"/>
                <a:cs typeface="Noto Sans"/>
              </a:defRPr>
            </a:pPr>
            <a:r>
              <a:rPr sz="1275" b="0">
                <a:solidFill>
                  <a:srgbClr val="62706C"/>
                </a:solidFill>
                <a:latin typeface="Noto Sans"/>
                <a:ea typeface="Noto Sans"/>
                <a:cs typeface="Noto Sans"/>
              </a:rPr>
              <a:t>15 / 21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E7838D-CD56-467E-A1C9-56ADD9C03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2706C"/>
                </a:solidFill>
                <a:latin typeface="Noto Sans"/>
                <a:ea typeface="Noto Sans"/>
                <a:cs typeface="Noto Sans"/>
              </a:defRPr>
            </a:pPr>
            <a:r>
              <a:rPr sz="1425" b="0">
                <a:solidFill>
                  <a:srgbClr val="62706C"/>
                </a:solidFill>
                <a:latin typeface="Noto Sans"/>
                <a:ea typeface="Noto Sans"/>
                <a:cs typeface="Noto Sans"/>
              </a:rPr>
              <a:t>Орск минус Оренбург, годовой рост: +7,18 п.п. в мае–июле. Выбранное описательное окно; причинный эффект не установлен.</a:t>
            </a:r>
          </a:p>
        </p:txBody>
      </p:sp>
      <p:graphicFrame>
        <p:nvGraphicFramePr>
          <p:cNvPr id="9" name="Chart"/>
          <p:cNvGraphicFramePr/>
          <p:nvPr/>
        </p:nvGraphicFramePr>
        <p:xfrm>
          <a:off xmlns:a="http://schemas.openxmlformats.org/drawingml/2006/main" x="609600" y="1543050"/>
          <a:ext xmlns:a="http://schemas.openxmlformats.org/drawingml/2006/main" cx="10972800" cy="3286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f8c9088f89b4150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2662F5-2B9C-4899-95B0-83AE36D7C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292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0C825D"/>
                </a:solidFill>
                <a:latin typeface="Noto Sans"/>
                <a:ea typeface="Noto Sans"/>
                <a:cs typeface="Noto Sans"/>
              </a:defRPr>
            </a:pPr>
            <a:r>
              <a:rPr sz="2025" b="0">
                <a:solidFill>
                  <a:srgbClr val="0C825D"/>
                </a:solidFill>
                <a:latin typeface="Noto Sans"/>
                <a:ea typeface="Noto Sans"/>
                <a:cs typeface="Noto Sans"/>
              </a:rPr>
              <a:t>Май: положительный региональный остаток — 16-е место из 2012 МО</a:t>
            </a:r>
          </a:p>
          <a:p xmlns:a="http://schemas.openxmlformats.org/drawingml/2006/main">
            <a:pPr>
              <a:defRPr sz="2025" b="0">
                <a:solidFill>
                  <a:srgbClr val="0C825D"/>
                </a:solidFill>
                <a:latin typeface="Noto Sans"/>
                <a:ea typeface="Noto Sans"/>
                <a:cs typeface="Noto Sans"/>
              </a:defRPr>
            </a:pPr>
            <a:r>
              <a:rPr sz="2025" b="0">
                <a:solidFill>
                  <a:srgbClr val="0C825D"/>
                </a:solidFill>
                <a:latin typeface="Noto Sans"/>
                <a:ea typeface="Noto Sans"/>
                <a:cs typeface="Noto Sans"/>
              </a:rPr>
              <a:t>EWMA: 0,0345 &lt; порога 0,0743; автоматической тревоги нет</a:t>
            </a:r>
          </a:p>
        </p:txBody>
      </p:sp>
    </p:spTree>
    <p:extLst>
      <p:ext uri="{BB962C8B-B14F-4D97-AF65-F5344CB8AC3E}">
        <p14:creationId xmlns:p14="http://schemas.microsoft.com/office/powerpoint/2010/main" val="134438628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AFC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C289AD-64B3-437E-BD52-50F1696E7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B32"/>
                </a:solidFill>
                <a:latin typeface="Noto Sans"/>
                <a:ea typeface="Noto Sans"/>
                <a:cs typeface="Noto Sans"/>
              </a:defRPr>
            </a:pPr>
            <a:r>
              <a:rPr sz="3300" b="1">
                <a:solidFill>
                  <a:srgbClr val="183B32"/>
                </a:solidFill>
                <a:latin typeface="Noto Sans"/>
                <a:ea typeface="Noto Sans"/>
                <a:cs typeface="Noto Sans"/>
              </a:rPr>
              <a:t>Новости входят в прогноз и поиск изменений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7372E2-0360-43CF-986B-3FC729D98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362700"/>
            <a:ext cx="819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2706C"/>
                </a:solidFill>
                <a:latin typeface="Noto Sans"/>
                <a:ea typeface="Noto Sans"/>
                <a:cs typeface="Noto Sans"/>
              </a:defRPr>
            </a:pPr>
            <a:r>
              <a:rPr sz="1275" b="0">
                <a:solidFill>
                  <a:srgbClr val="62706C"/>
                </a:solidFill>
                <a:latin typeface="Noto Sans"/>
                <a:ea typeface="Noto Sans"/>
                <a:cs typeface="Noto Sans"/>
              </a:rPr>
              <a:t>16 / 21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E8356C-C829-4F06-9E69-6F7813021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2706C"/>
                </a:solidFill>
                <a:latin typeface="Noto Sans"/>
                <a:ea typeface="Noto Sans"/>
                <a:cs typeface="Noto Sans"/>
              </a:defRPr>
            </a:pPr>
            <a:r>
              <a:rPr sz="1425" b="0">
                <a:solidFill>
                  <a:srgbClr val="62706C"/>
                </a:solidFill>
                <a:latin typeface="Noto Sans"/>
                <a:ea typeface="Noto Sans"/>
                <a:cs typeface="Noto Sans"/>
              </a:rPr>
              <a:t>Прогноз: исходный реестр; детекция: расширенный корпус. ×1,5 — гипотеза, не калиброванная по новостям.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696258-4E11-4B8D-87AE-B2E84B6E3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9716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EE"/>
          </a:solidFill>
          <a:ln xmlns:a="http://schemas.openxmlformats.org/drawingml/2006/main" w="9525">
            <a:solidFill>
              <a:srgbClr val="A5C2B1"/>
            </a:solidFill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83B32"/>
                </a:solidFill>
                <a:latin typeface="Noto Sans"/>
                <a:ea typeface="Noto Sans"/>
                <a:cs typeface="Noto Sans"/>
              </a:defRPr>
            </a:pPr>
            <a:r>
              <a:rPr sz="1650" b="1">
                <a:solidFill>
                  <a:srgbClr val="183B32"/>
                </a:solidFill>
                <a:latin typeface="Noto Sans"/>
                <a:ea typeface="Noto Sans"/>
                <a:cs typeface="Noto Sans"/>
              </a:rPr>
              <a:t>Официальный</a:t>
            </a:r>
          </a:p>
          <a:p xmlns:a="http://schemas.openxmlformats.org/drawingml/2006/main">
            <a:pPr>
              <a:defRPr sz="1650" b="1">
                <a:solidFill>
                  <a:srgbClr val="183B32"/>
                </a:solidFill>
                <a:latin typeface="Noto Sans"/>
                <a:ea typeface="Noto Sans"/>
                <a:cs typeface="Noto Sans"/>
              </a:defRPr>
            </a:pPr>
            <a:r>
              <a:rPr sz="1650" b="1">
                <a:solidFill>
                  <a:srgbClr val="183B32"/>
                </a:solidFill>
                <a:latin typeface="Noto Sans"/>
                <a:ea typeface="Noto Sans"/>
                <a:cs typeface="Noto Sans"/>
              </a:rPr>
              <a:t>текст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4A2DAB-843A-41E2-87C3-628693783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809750"/>
            <a:ext cx="2286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C825D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2914D1-0FC4-4F35-ADB2-86E45D672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476375"/>
            <a:ext cx="19716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EE"/>
          </a:solidFill>
          <a:ln xmlns:a="http://schemas.openxmlformats.org/drawingml/2006/main" w="9525">
            <a:solidFill>
              <a:srgbClr val="A5C2B1"/>
            </a:solidFill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83B32"/>
                </a:solidFill>
                <a:latin typeface="Noto Sans"/>
                <a:ea typeface="Noto Sans"/>
                <a:cs typeface="Noto Sans"/>
              </a:defRPr>
            </a:pPr>
            <a:r>
              <a:rPr sz="1650" b="1">
                <a:solidFill>
                  <a:srgbClr val="183B32"/>
                </a:solidFill>
                <a:latin typeface="Noto Sans"/>
                <a:ea typeface="Noto Sans"/>
                <a:cs typeface="Noto Sans"/>
              </a:rPr>
              <a:t>Qwen</a:t>
            </a:r>
          </a:p>
          <a:p xmlns:a="http://schemas.openxmlformats.org/drawingml/2006/main">
            <a:pPr>
              <a:defRPr sz="1650" b="1">
                <a:solidFill>
                  <a:srgbClr val="183B32"/>
                </a:solidFill>
                <a:latin typeface="Noto Sans"/>
                <a:ea typeface="Noto Sans"/>
                <a:cs typeface="Noto Sans"/>
              </a:defRPr>
            </a:pPr>
            <a:r>
              <a:rPr sz="1650" b="1">
                <a:solidFill>
                  <a:srgbClr val="183B32"/>
                </a:solidFill>
                <a:latin typeface="Noto Sans"/>
                <a:ea typeface="Noto Sans"/>
                <a:cs typeface="Noto Sans"/>
              </a:rPr>
              <a:t>JSON события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4F7550-F8B1-4543-A3DA-4D4B039FA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809750"/>
            <a:ext cx="2286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C825D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2918CA-195D-4A4F-A5F3-1876F5A2A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476375"/>
            <a:ext cx="19716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EE"/>
          </a:solidFill>
          <a:ln xmlns:a="http://schemas.openxmlformats.org/drawingml/2006/main" w="9525">
            <a:solidFill>
              <a:srgbClr val="A5C2B1"/>
            </a:solidFill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83B32"/>
                </a:solidFill>
                <a:latin typeface="Noto Sans"/>
                <a:ea typeface="Noto Sans"/>
                <a:cs typeface="Noto Sans"/>
              </a:defRPr>
            </a:pPr>
            <a:r>
              <a:rPr sz="1650" b="1">
                <a:solidFill>
                  <a:srgbClr val="183B32"/>
                </a:solidFill>
                <a:latin typeface="Noto Sans"/>
                <a:ea typeface="Noto Sans"/>
                <a:cs typeface="Noto Sans"/>
              </a:rPr>
              <a:t>Проверка</a:t>
            </a:r>
          </a:p>
          <a:p xmlns:a="http://schemas.openxmlformats.org/drawingml/2006/main">
            <a:pPr>
              <a:defRPr sz="1650" b="1">
                <a:solidFill>
                  <a:srgbClr val="183B32"/>
                </a:solidFill>
                <a:latin typeface="Noto Sans"/>
                <a:ea typeface="Noto Sans"/>
                <a:cs typeface="Noto Sans"/>
              </a:defRPr>
            </a:pPr>
            <a:r>
              <a:rPr sz="1650" b="1">
                <a:solidFill>
                  <a:srgbClr val="183B32"/>
                </a:solidFill>
                <a:latin typeface="Noto Sans"/>
                <a:ea typeface="Noto Sans"/>
                <a:cs typeface="Noto Sans"/>
              </a:rPr>
              <a:t>точной цитаты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2E803E-1411-4CC4-9342-9A97284D0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809750"/>
            <a:ext cx="2286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C825D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7C4E51-12F2-4BB3-A4CD-BE3E3EDA5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476375"/>
            <a:ext cx="19716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EE"/>
          </a:solidFill>
          <a:ln xmlns:a="http://schemas.openxmlformats.org/drawingml/2006/main" w="9525">
            <a:solidFill>
              <a:srgbClr val="A5C2B1"/>
            </a:solidFill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83B32"/>
                </a:solidFill>
                <a:latin typeface="Noto Sans"/>
                <a:ea typeface="Noto Sans"/>
                <a:cs typeface="Noto Sans"/>
              </a:defRPr>
            </a:pPr>
            <a:r>
              <a:rPr sz="1650" b="1">
                <a:solidFill>
                  <a:srgbClr val="183B32"/>
                </a:solidFill>
                <a:latin typeface="Noto Sans"/>
                <a:ea typeface="Noto Sans"/>
                <a:cs typeface="Noto Sans"/>
              </a:rPr>
              <a:t>Территория</a:t>
            </a:r>
          </a:p>
          <a:p xmlns:a="http://schemas.openxmlformats.org/drawingml/2006/main">
            <a:pPr>
              <a:defRPr sz="1650" b="1">
                <a:solidFill>
                  <a:srgbClr val="183B32"/>
                </a:solidFill>
                <a:latin typeface="Noto Sans"/>
                <a:ea typeface="Noto Sans"/>
                <a:cs typeface="Noto Sans"/>
              </a:defRPr>
            </a:pPr>
            <a:r>
              <a:rPr sz="1650" b="1">
                <a:solidFill>
                  <a:srgbClr val="183B32"/>
                </a:solidFill>
                <a:latin typeface="Noto Sans"/>
                <a:ea typeface="Noto Sans"/>
                <a:cs typeface="Noto Sans"/>
              </a:rPr>
              <a:t>ID / регион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F50B75-6837-44E9-BC77-ABF421932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809750"/>
            <a:ext cx="2286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C825D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DE6CB9-5915-4252-86B9-BE5A8A41F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476375"/>
            <a:ext cx="19716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EE"/>
          </a:solidFill>
          <a:ln xmlns:a="http://schemas.openxmlformats.org/drawingml/2006/main" w="9525">
            <a:solidFill>
              <a:srgbClr val="A5C2B1"/>
            </a:solidFill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83B32"/>
                </a:solidFill>
                <a:latin typeface="Noto Sans"/>
                <a:ea typeface="Noto Sans"/>
                <a:cs typeface="Noto Sans"/>
              </a:defRPr>
            </a:pPr>
            <a:r>
              <a:rPr sz="1650" b="1">
                <a:solidFill>
                  <a:srgbClr val="183B32"/>
                </a:solidFill>
                <a:latin typeface="Noto Sans"/>
                <a:ea typeface="Noto Sans"/>
                <a:cs typeface="Noto Sans"/>
              </a:rPr>
              <a:t>Доступность</a:t>
            </a:r>
          </a:p>
          <a:p xmlns:a="http://schemas.openxmlformats.org/drawingml/2006/main">
            <a:pPr>
              <a:defRPr sz="1650" b="1">
                <a:solidFill>
                  <a:srgbClr val="183B32"/>
                </a:solidFill>
                <a:latin typeface="Noto Sans"/>
                <a:ea typeface="Noto Sans"/>
                <a:cs typeface="Noto Sans"/>
              </a:defRPr>
            </a:pPr>
            <a:r>
              <a:rPr sz="1650" b="1">
                <a:solidFill>
                  <a:srgbClr val="183B32"/>
                </a:solidFill>
                <a:latin typeface="Noto Sans"/>
                <a:ea typeface="Noto Sans"/>
                <a:cs typeface="Noto Sans"/>
              </a:rPr>
              <a:t>публикация +1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0DF939-633B-4FA7-96E2-C36D239FD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8602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C825D"/>
                </a:solidFill>
                <a:latin typeface="Noto Sans"/>
                <a:ea typeface="Noto Sans"/>
                <a:cs typeface="Noto Sans"/>
              </a:defRPr>
            </a:pPr>
            <a:r>
              <a:rPr sz="2025" b="1">
                <a:solidFill>
                  <a:srgbClr val="0C825D"/>
                </a:solidFill>
                <a:latin typeface="Noto Sans"/>
                <a:ea typeface="Noto Sans"/>
                <a:cs typeface="Noto Sans"/>
              </a:rPr>
              <a:t>103 текстов; 12 фрагментов с цитатой; 3 ID МО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58EB6E-B870-4591-BF16-96DA593B7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33725"/>
            <a:ext cx="523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83B32"/>
                </a:solidFill>
                <a:latin typeface="Noto Sans"/>
                <a:ea typeface="Noto Sans"/>
                <a:cs typeface="Noto Sans"/>
              </a:defRPr>
            </a:pPr>
            <a:r>
              <a:rPr sz="2175" b="1">
                <a:solidFill>
                  <a:srgbClr val="183B32"/>
                </a:solidFill>
                <a:latin typeface="Noto Sans"/>
                <a:ea typeface="Noto Sans"/>
                <a:cs typeface="Noto Sans"/>
              </a:rPr>
              <a:t>Новости в прогнозе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A49DA8-53C9-4A6A-B8B1-9D54DDD56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5381625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83B32"/>
                </a:solidFill>
                <a:latin typeface="Noto Sans"/>
                <a:ea typeface="Noto Sans"/>
                <a:cs typeface="Noto Sans"/>
              </a:defRPr>
            </a:pPr>
            <a:r>
              <a:rPr sz="1650" b="0">
                <a:solidFill>
                  <a:srgbClr val="183B32"/>
                </a:solidFill>
                <a:latin typeface="Noto Sans"/>
                <a:ea typeface="Noto Sans"/>
                <a:cs typeface="Noto Sans"/>
              </a:rPr>
              <a:t>Новость известна к дате прогноза</a:t>
            </a:r>
          </a:p>
          <a:p xmlns:a="http://schemas.openxmlformats.org/drawingml/2006/main">
            <a:pPr>
              <a:defRPr sz="1650" b="0">
                <a:solidFill>
                  <a:srgbClr val="183B32"/>
                </a:solidFill>
                <a:latin typeface="Noto Sans"/>
                <a:ea typeface="Noto Sans"/>
                <a:cs typeface="Noto Sans"/>
              </a:defRPr>
            </a:pPr>
            <a:r>
              <a:rPr sz="1650" b="0">
                <a:solidFill>
                  <a:srgbClr val="183B32"/>
                </a:solidFill>
                <a:latin typeface="Noto Sans"/>
                <a:ea typeface="Noto Sans"/>
                <a:cs typeface="Noto Sans"/>
              </a:rPr>
              <a:t>Точка прежняя; радиус интервала ×1,5</a:t>
            </a:r>
          </a:p>
          <a:p xmlns:a="http://schemas.openxmlformats.org/drawingml/2006/main">
            <a:pPr>
              <a:defRPr sz="1650" b="0">
                <a:solidFill>
                  <a:srgbClr val="183B32"/>
                </a:solidFill>
                <a:latin typeface="Noto Sans"/>
                <a:ea typeface="Noto Sans"/>
                <a:cs typeface="Noto Sans"/>
              </a:defRPr>
            </a:pPr>
            <a:r>
              <a:rPr sz="1650" b="0">
                <a:solidFill>
                  <a:srgbClr val="183B32"/>
                </a:solidFill>
                <a:latin typeface="Noto Sans"/>
                <a:ea typeface="Noto Sans"/>
                <a:cs typeface="Noto Sans"/>
              </a:rPr>
              <a:t>Покрытие: 17/18 → 17/18 (94,4%)</a:t>
            </a:r>
          </a:p>
          <a:p xmlns:a="http://schemas.openxmlformats.org/drawingml/2006/main">
            <a:pPr>
              <a:defRPr sz="1650" b="0">
                <a:solidFill>
                  <a:srgbClr val="183B32"/>
                </a:solidFill>
                <a:latin typeface="Noto Sans"/>
                <a:ea typeface="Noto Sans"/>
                <a:cs typeface="Noto Sans"/>
              </a:defRPr>
            </a:pPr>
            <a:r>
              <a:rPr sz="1650" b="0">
                <a:solidFill>
                  <a:srgbClr val="183B32"/>
                </a:solidFill>
                <a:latin typeface="Noto Sans"/>
                <a:ea typeface="Noto Sans"/>
                <a:cs typeface="Noto Sans"/>
              </a:rPr>
              <a:t>Ширина: 2 852 → 4 278 руб.</a:t>
            </a:r>
          </a:p>
          <a:p xmlns:a="http://schemas.openxmlformats.org/drawingml/2006/main">
            <a:pPr>
              <a:defRPr sz="1650" b="0">
                <a:solidFill>
                  <a:srgbClr val="183B32"/>
                </a:solidFill>
                <a:latin typeface="Noto Sans"/>
                <a:ea typeface="Noto Sans"/>
                <a:cs typeface="Noto Sans"/>
              </a:defRPr>
            </a:pPr>
            <a:r>
              <a:rPr sz="1650" b="0">
                <a:solidFill>
                  <a:srgbClr val="183B32"/>
                </a:solidFill>
                <a:latin typeface="Noto Sans"/>
                <a:ea typeface="Noto Sans"/>
                <a:cs typeface="Noto Sans"/>
              </a:rPr>
              <a:t>Штраф IS: 3 237 → 4 362 руб.</a:t>
            </a:r>
          </a:p>
          <a:p xmlns:a="http://schemas.openxmlformats.org/drawingml/2006/main">
            <a:pPr>
              <a:defRPr sz="1650" b="0">
                <a:solidFill>
                  <a:srgbClr val="183B32"/>
                </a:solidFill>
                <a:latin typeface="Noto Sans"/>
                <a:ea typeface="Noto Sans"/>
                <a:cs typeface="Noto Sans"/>
              </a:defRPr>
            </a:pPr>
            <a:r>
              <a:rPr sz="1650" b="0">
                <a:solidFill>
                  <a:srgbClr val="183B32"/>
                </a:solidFill>
                <a:latin typeface="Noto Sans"/>
                <a:ea typeface="Noto Sans"/>
                <a:cs typeface="Noto Sans"/>
              </a:rPr>
              <a:t>Выигрыша нет; 18 пар, 6 дат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BDB9B8-AB9A-45EF-9F01-4E04E3F9C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133725"/>
            <a:ext cx="523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83B32"/>
                </a:solidFill>
                <a:latin typeface="Noto Sans"/>
                <a:ea typeface="Noto Sans"/>
                <a:cs typeface="Noto Sans"/>
              </a:defRPr>
            </a:pPr>
            <a:r>
              <a:rPr sz="2175" b="1">
                <a:solidFill>
                  <a:srgbClr val="183B32"/>
                </a:solidFill>
                <a:latin typeface="Noto Sans"/>
                <a:ea typeface="Noto Sans"/>
                <a:cs typeface="Noto Sans"/>
              </a:rPr>
              <a:t>Новости в детекторе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D5F54A-8754-4E9D-BF88-88674FE67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638550"/>
            <a:ext cx="5238750" cy="1533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83B32"/>
                </a:solidFill>
                <a:latin typeface="Noto Sans"/>
                <a:ea typeface="Noto Sans"/>
                <a:cs typeface="Noto Sans"/>
              </a:defRPr>
            </a:pPr>
            <a:r>
              <a:rPr sz="1725" b="0">
                <a:solidFill>
                  <a:srgbClr val="183B32"/>
                </a:solidFill>
                <a:latin typeface="Noto Sans"/>
                <a:ea typeface="Noto Sans"/>
                <a:cs typeface="Noto Sans"/>
              </a:rPr>
              <a:t>Только явно названные МО</a:t>
            </a:r>
          </a:p>
          <a:p xmlns:a="http://schemas.openxmlformats.org/drawingml/2006/main">
            <a:pPr>
              <a:defRPr sz="1725" b="0">
                <a:solidFill>
                  <a:srgbClr val="183B32"/>
                </a:solidFill>
                <a:latin typeface="Noto Sans"/>
                <a:ea typeface="Noto Sans"/>
                <a:cs typeface="Noto Sans"/>
              </a:defRPr>
            </a:pPr>
            <a:r>
              <a:rPr sz="1725" b="0">
                <a:solidFill>
                  <a:srgbClr val="183B32"/>
                </a:solidFill>
                <a:latin typeface="Noto Sans"/>
                <a:ea typeface="Noto Sans"/>
                <a:cs typeface="Noto Sans"/>
              </a:rPr>
              <a:t>Порог × 0,75 на два месяца</a:t>
            </a:r>
          </a:p>
          <a:p xmlns:a="http://schemas.openxmlformats.org/drawingml/2006/main">
            <a:pPr>
              <a:defRPr sz="1725" b="0">
                <a:solidFill>
                  <a:srgbClr val="183B32"/>
                </a:solidFill>
                <a:latin typeface="Noto Sans"/>
                <a:ea typeface="Noto Sans"/>
                <a:cs typeface="Noto Sans"/>
              </a:defRPr>
            </a:pPr>
            <a:r>
              <a:rPr sz="1725" b="0">
                <a:solidFill>
                  <a:srgbClr val="183B32"/>
                </a:solidFill>
                <a:latin typeface="Noto Sans"/>
                <a:ea typeface="Noto Sans"/>
                <a:cs typeface="Noto Sans"/>
              </a:rPr>
              <a:t>145 → 145 эпизодов; 2 МО в панели</a:t>
            </a:r>
          </a:p>
          <a:p xmlns:a="http://schemas.openxmlformats.org/drawingml/2006/main">
            <a:pPr>
              <a:defRPr sz="1725" b="0">
                <a:solidFill>
                  <a:srgbClr val="183B32"/>
                </a:solidFill>
                <a:latin typeface="Noto Sans"/>
                <a:ea typeface="Noto Sans"/>
                <a:cs typeface="Noto Sans"/>
              </a:defRPr>
            </a:pPr>
            <a:r>
              <a:rPr sz="1725" b="0">
                <a:solidFill>
                  <a:srgbClr val="183B32"/>
                </a:solidFill>
                <a:latin typeface="Noto Sans"/>
                <a:ea typeface="Noto Sans"/>
                <a:cs typeface="Noto Sans"/>
              </a:rPr>
              <a:t>Сравнение с прежним порогом</a:t>
            </a:r>
          </a:p>
          <a:p xmlns:a="http://schemas.openxmlformats.org/drawingml/2006/main">
            <a:pPr>
              <a:defRPr sz="1725" b="0">
                <a:solidFill>
                  <a:srgbClr val="183B32"/>
                </a:solidFill>
                <a:latin typeface="Noto Sans"/>
                <a:ea typeface="Noto Sans"/>
                <a:cs typeface="Noto Sans"/>
              </a:defRPr>
            </a:pPr>
            <a:r>
              <a:rPr sz="1725" b="0">
                <a:solidFill>
                  <a:srgbClr val="183B32"/>
                </a:solidFill>
                <a:latin typeface="Noto Sans"/>
                <a:ea typeface="Noto Sans"/>
                <a:cs typeface="Noto Sans"/>
              </a:rPr>
              <a:t>Упоминание события не доказывает шок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5189DA-A04E-4E1A-8379-E160712F7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0C825D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0C825D"/>
                </a:solidFill>
                <a:latin typeface="Noto Sans"/>
                <a:ea typeface="Noto Sans"/>
                <a:cs typeface="Noto Sans"/>
              </a:rPr>
              <a:t>Прогноз: python -m sberindex.external.news_interval_review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C3CCDE-1085-4A5F-9461-AE72420B4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8165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0C825D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0C825D"/>
                </a:solidFill>
                <a:latin typeface="Noto Sans"/>
                <a:ea typeface="Noto Sans"/>
                <a:cs typeface="Noto Sans"/>
              </a:rPr>
              <a:t>Детекция: python -m sberindex.external.news_body_recovery</a:t>
            </a:r>
          </a:p>
        </p:txBody>
      </p:sp>
    </p:spTree>
    <p:extLst>
      <p:ext uri="{BB962C8B-B14F-4D97-AF65-F5344CB8AC3E}">
        <p14:creationId xmlns:p14="http://schemas.microsoft.com/office/powerpoint/2010/main" val="85774023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AFC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04E808-4BFE-4C0E-BCDA-0FB6EEF93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B32"/>
                </a:solidFill>
                <a:latin typeface="Noto Sans"/>
                <a:ea typeface="Noto Sans"/>
                <a:cs typeface="Noto Sans"/>
              </a:defRPr>
            </a:pPr>
            <a:r>
              <a:rPr sz="3300" b="1">
                <a:solidFill>
                  <a:srgbClr val="183B32"/>
                </a:solidFill>
                <a:latin typeface="Noto Sans"/>
                <a:ea typeface="Noto Sans"/>
                <a:cs typeface="Noto Sans"/>
              </a:rPr>
              <a:t>Архитектура решения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795FD6-D504-40F1-A6B0-F0AC9FEDE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362700"/>
            <a:ext cx="819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2706C"/>
                </a:solidFill>
                <a:latin typeface="Noto Sans"/>
                <a:ea typeface="Noto Sans"/>
                <a:cs typeface="Noto Sans"/>
              </a:defRPr>
            </a:pPr>
            <a:r>
              <a:rPr sz="1275" b="0">
                <a:solidFill>
                  <a:srgbClr val="62706C"/>
                </a:solidFill>
                <a:latin typeface="Noto Sans"/>
                <a:ea typeface="Noto Sans"/>
                <a:cs typeface="Noto Sans"/>
              </a:rPr>
              <a:t>17 / 21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8DC1D7-DFB7-414C-9F58-4DC20EBA6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2706C"/>
                </a:solidFill>
                <a:latin typeface="Noto Sans"/>
                <a:ea typeface="Noto Sans"/>
                <a:cs typeface="Noto Sans"/>
              </a:defRPr>
            </a:pPr>
            <a:r>
              <a:rPr sz="1425" b="0">
                <a:solidFill>
                  <a:srgbClr val="62706C"/>
                </a:solidFill>
                <a:latin typeface="Noto Sans"/>
                <a:ea typeface="Noto Sans"/>
                <a:cs typeface="Noto Sans"/>
              </a:rPr>
              <a:t>Конфигурации, исходные снимки и индивидуальные результаты сохранены вместе с происхождением и SHA256.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63EDCC-B9EC-441D-8562-BDC80A239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1971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EE"/>
          </a:solidFill>
          <a:ln xmlns:a="http://schemas.openxmlformats.org/drawingml/2006/main" w="9525">
            <a:solidFill>
              <a:srgbClr val="A5C2B1"/>
            </a:solidFill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83B32"/>
                </a:solidFill>
                <a:latin typeface="Noto Sans"/>
                <a:ea typeface="Noto Sans"/>
                <a:cs typeface="Noto Sans"/>
              </a:defRPr>
            </a:pPr>
            <a:r>
              <a:rPr sz="1800" b="1">
                <a:solidFill>
                  <a:srgbClr val="183B32"/>
                </a:solidFill>
                <a:latin typeface="Noto Sans"/>
                <a:ea typeface="Noto Sans"/>
                <a:cs typeface="Noto Sans"/>
              </a:rPr>
              <a:t>Данные</a:t>
            </a:r>
          </a:p>
          <a:p xmlns:a="http://schemas.openxmlformats.org/drawingml/2006/main">
            <a:pPr>
              <a:defRPr sz="1800" b="1">
                <a:solidFill>
                  <a:srgbClr val="183B32"/>
                </a:solidFill>
                <a:latin typeface="Noto Sans"/>
                <a:ea typeface="Noto Sans"/>
                <a:cs typeface="Noto Sans"/>
              </a:defRPr>
            </a:pPr>
            <a:r>
              <a:rPr sz="1800" b="1">
                <a:solidFill>
                  <a:srgbClr val="183B32"/>
                </a:solidFill>
                <a:latin typeface="Noto Sans"/>
                <a:ea typeface="Noto Sans"/>
                <a:cs typeface="Noto Sans"/>
              </a:rPr>
              <a:t>и версии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01AF96-9ED6-45E6-A1FC-ECEE69CC2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200275"/>
            <a:ext cx="2286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C825D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A8CB10-1C2D-490D-8A11-FDD793BCD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733550"/>
            <a:ext cx="1971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EE"/>
          </a:solidFill>
          <a:ln xmlns:a="http://schemas.openxmlformats.org/drawingml/2006/main" w="9525">
            <a:solidFill>
              <a:srgbClr val="A5C2B1"/>
            </a:solidFill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83B32"/>
                </a:solidFill>
                <a:latin typeface="Noto Sans"/>
                <a:ea typeface="Noto Sans"/>
                <a:cs typeface="Noto Sans"/>
              </a:defRPr>
            </a:pPr>
            <a:r>
              <a:rPr sz="1800" b="1">
                <a:solidFill>
                  <a:srgbClr val="183B32"/>
                </a:solidFill>
                <a:latin typeface="Noto Sans"/>
                <a:ea typeface="Noto Sans"/>
                <a:cs typeface="Noto Sans"/>
              </a:rPr>
              <a:t>Признаки</a:t>
            </a:r>
          </a:p>
          <a:p xmlns:a="http://schemas.openxmlformats.org/drawingml/2006/main">
            <a:pPr>
              <a:defRPr sz="1800" b="1">
                <a:solidFill>
                  <a:srgbClr val="183B32"/>
                </a:solidFill>
                <a:latin typeface="Noto Sans"/>
                <a:ea typeface="Noto Sans"/>
                <a:cs typeface="Noto Sans"/>
              </a:defRPr>
            </a:pPr>
            <a:r>
              <a:rPr sz="1800" b="1">
                <a:solidFill>
                  <a:srgbClr val="183B32"/>
                </a:solidFill>
                <a:latin typeface="Noto Sans"/>
                <a:ea typeface="Noto Sans"/>
                <a:cs typeface="Noto Sans"/>
              </a:rPr>
              <a:t>сезонность / рост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E4C011-3DBC-45BB-8615-B540981EE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200275"/>
            <a:ext cx="2286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C825D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9C21F2-1E8C-406F-9EEB-2A75A5F0F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733550"/>
            <a:ext cx="1971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EE"/>
          </a:solidFill>
          <a:ln xmlns:a="http://schemas.openxmlformats.org/drawingml/2006/main" w="9525">
            <a:solidFill>
              <a:srgbClr val="A5C2B1"/>
            </a:solidFill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83B32"/>
                </a:solidFill>
                <a:latin typeface="Noto Sans"/>
                <a:ea typeface="Noto Sans"/>
                <a:cs typeface="Noto Sans"/>
              </a:defRPr>
            </a:pPr>
            <a:r>
              <a:rPr sz="1800" b="1">
                <a:solidFill>
                  <a:srgbClr val="183B32"/>
                </a:solidFill>
                <a:latin typeface="Noto Sans"/>
                <a:ea typeface="Noto Sans"/>
                <a:cs typeface="Noto Sans"/>
              </a:rPr>
              <a:t>Модель</a:t>
            </a:r>
          </a:p>
          <a:p xmlns:a="http://schemas.openxmlformats.org/drawingml/2006/main">
            <a:pPr>
              <a:defRPr sz="1800" b="1">
                <a:solidFill>
                  <a:srgbClr val="183B32"/>
                </a:solidFill>
                <a:latin typeface="Noto Sans"/>
                <a:ea typeface="Noto Sans"/>
                <a:cs typeface="Noto Sans"/>
              </a:defRPr>
            </a:pPr>
            <a:r>
              <a:rPr sz="1800" b="1">
                <a:solidFill>
                  <a:srgbClr val="183B32"/>
                </a:solidFill>
                <a:latin typeface="Noto Sans"/>
                <a:ea typeface="Noto Sans"/>
                <a:cs typeface="Noto Sans"/>
              </a:rPr>
              <a:t>4 горизонта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2DA7DB-73FC-4B7C-9B73-676FCBB08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200275"/>
            <a:ext cx="2286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C825D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96BB7E-A5E3-4F9F-A46D-B3007CEA9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733550"/>
            <a:ext cx="1971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EE"/>
          </a:solidFill>
          <a:ln xmlns:a="http://schemas.openxmlformats.org/drawingml/2006/main" w="9525">
            <a:solidFill>
              <a:srgbClr val="A5C2B1"/>
            </a:solidFill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83B32"/>
                </a:solidFill>
                <a:latin typeface="Noto Sans"/>
                <a:ea typeface="Noto Sans"/>
                <a:cs typeface="Noto Sans"/>
              </a:defRPr>
            </a:pPr>
            <a:r>
              <a:rPr sz="1800" b="1">
                <a:solidFill>
                  <a:srgbClr val="183B32"/>
                </a:solidFill>
                <a:latin typeface="Noto Sans"/>
                <a:ea typeface="Noto Sans"/>
                <a:cs typeface="Noto Sans"/>
              </a:rPr>
              <a:t>Детектор</a:t>
            </a:r>
          </a:p>
          <a:p xmlns:a="http://schemas.openxmlformats.org/drawingml/2006/main">
            <a:pPr>
              <a:defRPr sz="1800" b="1">
                <a:solidFill>
                  <a:srgbClr val="183B32"/>
                </a:solidFill>
                <a:latin typeface="Noto Sans"/>
                <a:ea typeface="Noto Sans"/>
                <a:cs typeface="Noto Sans"/>
              </a:defRPr>
            </a:pPr>
            <a:r>
              <a:rPr sz="1800" b="1">
                <a:solidFill>
                  <a:srgbClr val="183B32"/>
                </a:solidFill>
                <a:latin typeface="Noto Sans"/>
                <a:ea typeface="Noto Sans"/>
                <a:cs typeface="Noto Sans"/>
              </a:rPr>
              <a:t>МО / регион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43F806-6431-4A20-A7A8-58316B9D8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200275"/>
            <a:ext cx="2286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C825D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A18F4D-99DC-4FD4-BB4B-A4CDE8E1E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733550"/>
            <a:ext cx="1971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EE2"/>
          </a:solidFill>
          <a:ln xmlns:a="http://schemas.openxmlformats.org/drawingml/2006/main" w="9525">
            <a:solidFill>
              <a:srgbClr val="A5C2B1"/>
            </a:solidFill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83B32"/>
                </a:solidFill>
                <a:latin typeface="Noto Sans"/>
                <a:ea typeface="Noto Sans"/>
                <a:cs typeface="Noto Sans"/>
              </a:defRPr>
            </a:pPr>
            <a:r>
              <a:rPr sz="1800" b="1">
                <a:solidFill>
                  <a:srgbClr val="183B32"/>
                </a:solidFill>
                <a:latin typeface="Noto Sans"/>
                <a:ea typeface="Noto Sans"/>
                <a:cs typeface="Noto Sans"/>
              </a:rPr>
              <a:t>Аналитик</a:t>
            </a:r>
          </a:p>
          <a:p xmlns:a="http://schemas.openxmlformats.org/drawingml/2006/main">
            <a:pPr>
              <a:defRPr sz="1800" b="1">
                <a:solidFill>
                  <a:srgbClr val="183B32"/>
                </a:solidFill>
                <a:latin typeface="Noto Sans"/>
                <a:ea typeface="Noto Sans"/>
                <a:cs typeface="Noto Sans"/>
              </a:defRPr>
            </a:pPr>
            <a:r>
              <a:rPr sz="1800" b="1">
                <a:solidFill>
                  <a:srgbClr val="183B32"/>
                </a:solidFill>
                <a:latin typeface="Noto Sans"/>
                <a:ea typeface="Noto Sans"/>
                <a:cs typeface="Noto Sans"/>
              </a:rPr>
              <a:t>проверка сигнала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B2E97A-9378-4DA5-AC15-CF4B473AE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0C825D"/>
                </a:solidFill>
                <a:latin typeface="Noto Sans"/>
                <a:ea typeface="Noto Sans"/>
                <a:cs typeface="Noto Sans"/>
              </a:defRPr>
            </a:pPr>
            <a:r>
              <a:rPr sz="2325" b="0">
                <a:solidFill>
                  <a:srgbClr val="0C825D"/>
                </a:solidFill>
                <a:latin typeface="Noto Sans"/>
                <a:ea typeface="Noto Sans"/>
                <a:cs typeface="Noto Sans"/>
              </a:rPr>
              <a:t>Новости → доступность и территория → контекст для аналитика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8CBA79-413C-44BA-86FB-F8FB56321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2912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83B32"/>
                </a:solidFill>
                <a:latin typeface="Noto Sans"/>
                <a:ea typeface="Noto Sans"/>
                <a:cs typeface="Noto Sans"/>
              </a:defRPr>
            </a:pPr>
            <a:r>
              <a:rPr sz="2250" b="1">
                <a:solidFill>
                  <a:srgbClr val="183B32"/>
                </a:solidFill>
                <a:latin typeface="Noto Sans"/>
                <a:ea typeface="Noto Sans"/>
                <a:cs typeface="Noto Sans"/>
              </a:rPr>
              <a:t>Что получает аналитик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612D6E-FB9C-4780-AF6F-99BAEC405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29200"/>
            <a:ext cx="10972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83B32"/>
                </a:solidFill>
                <a:latin typeface="Noto Sans"/>
                <a:ea typeface="Noto Sans"/>
                <a:cs typeface="Noto Sans"/>
              </a:defRPr>
            </a:pPr>
            <a:r>
              <a:rPr sz="1950" b="0">
                <a:solidFill>
                  <a:srgbClr val="183B32"/>
                </a:solidFill>
                <a:latin typeface="Noto Sans"/>
                <a:ea typeface="Noto Sans"/>
                <a:cs typeface="Noto Sans"/>
              </a:rPr>
              <a:t>Прогноз расходов · величина отклонения · подтверждающие источники</a:t>
            </a:r>
          </a:p>
          <a:p xmlns:a="http://schemas.openxmlformats.org/drawingml/2006/main">
            <a:pPr>
              <a:defRPr sz="1950" b="0">
                <a:solidFill>
                  <a:srgbClr val="183B32"/>
                </a:solidFill>
                <a:latin typeface="Noto Sans"/>
                <a:ea typeface="Noto Sans"/>
                <a:cs typeface="Noto Sans"/>
              </a:defRPr>
            </a:pPr>
            <a:r>
              <a:rPr sz="1950" b="0">
                <a:solidFill>
                  <a:srgbClr val="183B32"/>
                </a:solidFill>
                <a:latin typeface="Noto Sans"/>
                <a:ea typeface="Noto Sans"/>
                <a:cs typeface="Noto Sans"/>
              </a:rPr>
              <a:t>Очередь эпизодов для проверки; интерфейс показывает сохранённые результаты</a:t>
            </a:r>
          </a:p>
        </p:txBody>
      </p:sp>
    </p:spTree>
    <p:extLst>
      <p:ext uri="{BB962C8B-B14F-4D97-AF65-F5344CB8AC3E}">
        <p14:creationId xmlns:p14="http://schemas.microsoft.com/office/powerpoint/2010/main" val="129233278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AFC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4747B6-1F83-40C1-9E0C-3C052F296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B32"/>
                </a:solidFill>
                <a:latin typeface="Noto Sans"/>
                <a:ea typeface="Noto Sans"/>
                <a:cs typeface="Noto Sans"/>
              </a:defRPr>
            </a:pPr>
            <a:r>
              <a:rPr sz="3300" b="1">
                <a:solidFill>
                  <a:srgbClr val="183B32"/>
                </a:solidFill>
                <a:latin typeface="Noto Sans"/>
                <a:ea typeface="Noto Sans"/>
                <a:cs typeface="Noto Sans"/>
              </a:rPr>
              <a:t>2025: две версии роста сохранены для проверки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AD6BD2-7E49-4156-9EC2-7A1558CF0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362700"/>
            <a:ext cx="819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2706C"/>
                </a:solidFill>
                <a:latin typeface="Noto Sans"/>
                <a:ea typeface="Noto Sans"/>
                <a:cs typeface="Noto Sans"/>
              </a:defRPr>
            </a:pPr>
            <a:r>
              <a:rPr sz="1275" b="0">
                <a:solidFill>
                  <a:srgbClr val="62706C"/>
                </a:solidFill>
                <a:latin typeface="Noto Sans"/>
                <a:ea typeface="Noto Sans"/>
                <a:cs typeface="Noto Sans"/>
              </a:rPr>
              <a:t>18 / 21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38F728-202B-4992-9E38-7B58346DB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2706C"/>
                </a:solidFill>
                <a:latin typeface="Noto Sans"/>
                <a:ea typeface="Noto Sans"/>
                <a:cs typeface="Noto Sans"/>
              </a:defRPr>
            </a:pPr>
            <a:r>
              <a:rPr sz="1425" b="0">
                <a:solidFill>
                  <a:srgbClr val="62706C"/>
                </a:solidFill>
                <a:latin typeface="Noto Sans"/>
                <a:ea typeface="Noto Sans"/>
                <a:cs typeface="Noto Sans"/>
              </a:rPr>
              <a:t>Расчёт 07.10.2026 без муниципальных фактов 2025. Правило предложено после изучения 2024 и сообщения об агрегате 2025.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E8943E-E7BB-4AB2-9388-F2BFBD1B3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C825D"/>
                </a:solidFill>
                <a:latin typeface="Noto Sans"/>
                <a:ea typeface="Noto Sans"/>
                <a:cs typeface="Noto Sans"/>
              </a:defRPr>
            </a:pPr>
            <a:r>
              <a:rPr sz="2325" b="1">
                <a:solidFill>
                  <a:srgbClr val="0C825D"/>
                </a:solidFill>
                <a:latin typeface="Noto Sans"/>
                <a:ea typeface="Noto Sans"/>
                <a:cs typeface="Noto Sans"/>
              </a:rPr>
              <a:t>В каждом файле: 8 092 прогноза · 2 023 одинаковых МО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2428875"/>
          <a:ext xmlns:a="http://schemas.openxmlformats.org/drawingml/2006/main" cx="10972800" cy="15240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286000"/>
                <a:gridCol w="6619875"/>
                <a:gridCol w="2066925"/>
              </a:tblGrid>
              <a:tr h="5080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"/>
                          <a:ea typeface="Noto Sans"/>
                          <a:cs typeface="Noto Sans"/>
                        </a:rPr>
                        <a:t>Версия</a:t>
                      </a:r>
                    </a:p>
                  </a:txBody>
                  <a:tcPr marL="91440" marR="91440" marT="45720" marB="45720">
                    <a:solidFill>
                      <a:srgbClr val="183B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"/>
                          <a:ea typeface="Noto Sans"/>
                          <a:cs typeface="Noto Sans"/>
                        </a:rPr>
                        <a:t>Правило роста</a:t>
                      </a:r>
                    </a:p>
                  </a:txBody>
                  <a:tcPr marL="91440" marR="91440" marT="45720" marB="45720">
                    <a:solidFill>
                      <a:srgbClr val="183B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"/>
                          <a:ea typeface="Noto Sans"/>
                          <a:cs typeface="Noto Sans"/>
                        </a:rPr>
                        <a:t>Рост (медиана)</a:t>
                      </a:r>
                    </a:p>
                  </a:txBody>
                  <a:tcPr marL="91440" marR="91440" marT="45720" marB="45720">
                    <a:solidFill>
                      <a:srgbClr val="183B32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Исходная</a:t>
                      </a:r>
                    </a:p>
                  </a:txBody>
                  <a:tcPr marL="91440" marR="91440" marT="45720" marB="45720">
                    <a:solidFill>
                      <a:srgbClr val="F0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Рост зарплат Росстата</a:t>
                      </a:r>
                    </a:p>
                  </a:txBody>
                  <a:tcPr marL="91440" marR="91440" marT="45720" marB="45720">
                    <a:solidFill>
                      <a:srgbClr val="F0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17,2%</a:t>
                      </a:r>
                    </a:p>
                  </a:txBody>
                  <a:tcPr marL="91440" marR="91440" marT="45720" marB="45720">
                    <a:solidFill>
                      <a:srgbClr val="F0F6F1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Новый кандидат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Медиана годового роста региона за 3 месяца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14,79%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A9D996-BC8B-4B5E-B0A6-6277D2315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3B32"/>
                </a:solidFill>
                <a:latin typeface="Noto Sans"/>
                <a:ea typeface="Noto Sans"/>
                <a:cs typeface="Noto Sans"/>
              </a:defRPr>
            </a:pPr>
            <a:r>
              <a:rPr sz="1875" b="0">
                <a:solidFill>
                  <a:srgbClr val="183B32"/>
                </a:solidFill>
                <a:latin typeface="Noto Sans"/>
                <a:ea typeface="Noto Sans"/>
                <a:cs typeface="Noto Sans"/>
              </a:rPr>
              <a:t>Недостаточно годовой истории → документированный макроисточник</a:t>
            </a:r>
          </a:p>
          <a:p xmlns:a="http://schemas.openxmlformats.org/drawingml/2006/main">
            <a:pPr>
              <a:defRPr sz="1875" b="0">
                <a:solidFill>
                  <a:srgbClr val="183B32"/>
                </a:solidFill>
                <a:latin typeface="Noto Sans"/>
                <a:ea typeface="Noto Sans"/>
                <a:cs typeface="Noto Sans"/>
              </a:defRPr>
            </a:pPr>
            <a:r>
              <a:rPr sz="1875" b="0">
                <a:solidFill>
                  <a:srgbClr val="183B32"/>
                </a:solidFill>
                <a:latin typeface="Noto Sans"/>
                <a:ea typeface="Noto Sans"/>
                <a:cs typeface="Noto Sans"/>
              </a:rPr>
              <a:t>Медианный прогноз кандидата ниже на 2,05%; диапазон −6,01…+3,16%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37E407-1D0D-400B-A2BA-CED2E29F7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006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C825D"/>
                </a:solidFill>
                <a:latin typeface="Noto Sans"/>
                <a:ea typeface="Noto Sans"/>
                <a:cs typeface="Noto Sans"/>
              </a:defRPr>
            </a:pPr>
            <a:r>
              <a:rPr sz="1875" b="1">
                <a:solidFill>
                  <a:srgbClr val="0C825D"/>
                </a:solidFill>
                <a:latin typeface="Noto Sans"/>
                <a:ea typeface="Noto Sans"/>
                <a:cs typeface="Noto Sans"/>
              </a:rPr>
              <a:t>2025: проверка покажет поведение при замедлении роста</a:t>
            </a:r>
          </a:p>
          <a:p xmlns:a="http://schemas.openxmlformats.org/drawingml/2006/main">
            <a:pPr>
              <a:defRPr sz="1875" b="1">
                <a:solidFill>
                  <a:srgbClr val="0C825D"/>
                </a:solidFill>
                <a:latin typeface="Noto Sans"/>
                <a:ea typeface="Noto Sans"/>
                <a:cs typeface="Noto Sans"/>
              </a:defRPr>
            </a:pPr>
            <a:r>
              <a:rPr sz="1875" b="1">
                <a:solidFill>
                  <a:srgbClr val="0C825D"/>
                </a:solidFill>
                <a:latin typeface="Noto Sans"/>
                <a:ea typeface="Noto Sans"/>
                <a:cs typeface="Noto Sans"/>
              </a:rPr>
              <a:t>Оба файла, входы и код имеют SHA256; прежний ансамбль также сохранён</a:t>
            </a:r>
          </a:p>
        </p:txBody>
      </p:sp>
    </p:spTree>
    <p:extLst>
      <p:ext uri="{BB962C8B-B14F-4D97-AF65-F5344CB8AC3E}">
        <p14:creationId xmlns:p14="http://schemas.microsoft.com/office/powerpoint/2010/main" val="57646149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AFC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2F01B0-BF90-4189-8CCB-124B0C91B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B32"/>
                </a:solidFill>
                <a:latin typeface="Noto Sans"/>
                <a:ea typeface="Noto Sans"/>
                <a:cs typeface="Noto Sans"/>
              </a:defRPr>
            </a:pPr>
            <a:r>
              <a:rPr sz="3300" b="1">
                <a:solidFill>
                  <a:srgbClr val="183B32"/>
                </a:solidFill>
                <a:latin typeface="Noto Sans"/>
                <a:ea typeface="Noto Sans"/>
                <a:cs typeface="Noto Sans"/>
              </a:rPr>
              <a:t>Границы доверия к результатам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B99386-F458-4550-BABE-5CE9F3623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362700"/>
            <a:ext cx="819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2706C"/>
                </a:solidFill>
                <a:latin typeface="Noto Sans"/>
                <a:ea typeface="Noto Sans"/>
                <a:cs typeface="Noto Sans"/>
              </a:defRPr>
            </a:pPr>
            <a:r>
              <a:rPr sz="1275" b="0">
                <a:solidFill>
                  <a:srgbClr val="62706C"/>
                </a:solidFill>
                <a:latin typeface="Noto Sans"/>
                <a:ea typeface="Noto Sans"/>
                <a:cs typeface="Noto Sans"/>
              </a:rPr>
              <a:t>19 / 21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2D7980-BDEE-4C80-8828-AC569D52E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83B32"/>
                </a:solidFill>
                <a:latin typeface="Noto Sans"/>
                <a:ea typeface="Noto Sans"/>
                <a:cs typeface="Noto Sans"/>
              </a:defRPr>
            </a:pPr>
            <a:r>
              <a:rPr sz="2250" b="1">
                <a:solidFill>
                  <a:srgbClr val="183B32"/>
                </a:solidFill>
                <a:latin typeface="Noto Sans"/>
                <a:ea typeface="Noto Sans"/>
                <a:cs typeface="Noto Sans"/>
              </a:rPr>
              <a:t>Архив 2024 многократно изучен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892A3C-BB48-4312-8A2C-EC2906F13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B32"/>
                </a:solidFill>
                <a:latin typeface="Noto Sans"/>
                <a:ea typeface="Noto Sans"/>
                <a:cs typeface="Noto Sans"/>
              </a:defRPr>
            </a:pPr>
            <a:r>
              <a:rPr sz="2025" b="0">
                <a:solidFill>
                  <a:srgbClr val="183B32"/>
                </a:solidFill>
                <a:latin typeface="Noto Sans"/>
                <a:ea typeface="Noto Sans"/>
                <a:cs typeface="Noto Sans"/>
              </a:rPr>
              <a:t>Независимого временного теста нет. На h12 одна целевая дата.</a:t>
            </a:r>
          </a:p>
          <a:p xmlns:a="http://schemas.openxmlformats.org/drawingml/2006/main">
            <a:pPr>
              <a:defRPr sz="2025" b="0">
                <a:solidFill>
                  <a:srgbClr val="183B32"/>
                </a:solidFill>
                <a:latin typeface="Noto Sans"/>
                <a:ea typeface="Noto Sans"/>
                <a:cs typeface="Noto Sans"/>
              </a:defRPr>
            </a:pPr>
            <a:r>
              <a:rPr sz="2025" b="0">
                <a:solidFill>
                  <a:srgbClr val="183B32"/>
                </a:solidFill>
                <a:latin typeface="Noto Sans"/>
                <a:ea typeface="Noto Sans"/>
                <a:cs typeface="Noto Sans"/>
              </a:rPr>
              <a:t>Интервалы по регионам условны на этих данных.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995A5D-80A5-4D78-8ADB-80E69D697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8615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83B32"/>
                </a:solidFill>
                <a:latin typeface="Noto Sans"/>
                <a:ea typeface="Noto Sans"/>
                <a:cs typeface="Noto Sans"/>
              </a:defRPr>
            </a:pPr>
            <a:r>
              <a:rPr sz="2250" b="1">
                <a:solidFill>
                  <a:srgbClr val="183B32"/>
                </a:solidFill>
                <a:latin typeface="Noto Sans"/>
                <a:ea typeface="Noto Sans"/>
                <a:cs typeface="Noto Sans"/>
              </a:rPr>
              <a:t>Ограничения детекции и внешних источников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355F66-CEEA-43E0-B9C8-BD75F62AA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33850"/>
            <a:ext cx="1097280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2706C"/>
                </a:solidFill>
                <a:latin typeface="Noto Sans"/>
                <a:ea typeface="Noto Sans"/>
                <a:cs typeface="Noto Sans"/>
              </a:defRPr>
            </a:pPr>
            <a:r>
              <a:rPr sz="1875" b="0">
                <a:solidFill>
                  <a:srgbClr val="62706C"/>
                </a:solidFill>
                <a:latin typeface="Noto Sans"/>
                <a:ea typeface="Noto Sans"/>
                <a:cs typeface="Noto Sans"/>
              </a:rPr>
              <a:t>В реальной панели шоки не размечены; частота ложных тревог неизвестна.</a:t>
            </a:r>
          </a:p>
          <a:p xmlns:a="http://schemas.openxmlformats.org/drawingml/2006/main">
            <a:pPr>
              <a:defRPr sz="1875" b="0">
                <a:solidFill>
                  <a:srgbClr val="62706C"/>
                </a:solidFill>
                <a:latin typeface="Noto Sans"/>
                <a:ea typeface="Noto Sans"/>
                <a:cs typeface="Noto Sans"/>
              </a:defRPr>
            </a:pPr>
            <a:r>
              <a:rPr sz="1875" b="0">
                <a:solidFill>
                  <a:srgbClr val="62706C"/>
                </a:solidFill>
                <a:latin typeface="Noto Sans"/>
                <a:ea typeface="Noto Sans"/>
                <a:cs typeface="Noto Sans"/>
              </a:rPr>
              <a:t>Расходные интервалы примеров иллюстративны.</a:t>
            </a:r>
          </a:p>
          <a:p xmlns:a="http://schemas.openxmlformats.org/drawingml/2006/main">
            <a:pPr>
              <a:defRPr sz="1875" b="0">
                <a:solidFill>
                  <a:srgbClr val="62706C"/>
                </a:solidFill>
                <a:latin typeface="Noto Sans"/>
                <a:ea typeface="Noto Sans"/>
                <a:cs typeface="Noto Sans"/>
              </a:defRPr>
            </a:pPr>
            <a:r>
              <a:rPr sz="1875" b="0">
                <a:solidFill>
                  <a:srgbClr val="62706C"/>
                </a:solidFill>
                <a:latin typeface="Noto Sans"/>
                <a:ea typeface="Noto Sans"/>
                <a:cs typeface="Noto Sans"/>
              </a:rPr>
              <a:t>Историческая доступность источников не подтверждена.</a:t>
            </a:r>
          </a:p>
          <a:p xmlns:a="http://schemas.openxmlformats.org/drawingml/2006/main">
            <a:pPr>
              <a:defRPr sz="1875" b="0">
                <a:solidFill>
                  <a:srgbClr val="62706C"/>
                </a:solidFill>
                <a:latin typeface="Noto Sans"/>
                <a:ea typeface="Noto Sans"/>
                <a:cs typeface="Noto Sans"/>
              </a:defRPr>
            </a:pPr>
            <a:r>
              <a:rPr sz="1875" b="0">
                <a:solidFill>
                  <a:srgbClr val="62706C"/>
                </a:solidFill>
                <a:latin typeface="Noto Sans"/>
                <a:ea typeface="Noto Sans"/>
                <a:cs typeface="Noto Sans"/>
              </a:rPr>
              <a:t>Предсказание будущих реальных шоков не доказано.</a:t>
            </a:r>
          </a:p>
        </p:txBody>
      </p:sp>
    </p:spTree>
    <p:extLst>
      <p:ext uri="{BB962C8B-B14F-4D97-AF65-F5344CB8AC3E}">
        <p14:creationId xmlns:p14="http://schemas.microsoft.com/office/powerpoint/2010/main" val="39447038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AFC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9E37D1-C026-4F4F-9CAF-5097E4772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B32"/>
                </a:solidFill>
                <a:latin typeface="Noto Sans"/>
                <a:ea typeface="Noto Sans"/>
                <a:cs typeface="Noto Sans"/>
              </a:defRPr>
            </a:pPr>
            <a:r>
              <a:rPr sz="3300" b="1">
                <a:solidFill>
                  <a:srgbClr val="183B32"/>
                </a:solidFill>
                <a:latin typeface="Noto Sans"/>
                <a:ea typeface="Noto Sans"/>
                <a:cs typeface="Noto Sans"/>
              </a:rPr>
              <a:t>Практические выводы из исследования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C88D34-A1F9-42E6-AC37-6C181900F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362700"/>
            <a:ext cx="819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2706C"/>
                </a:solidFill>
                <a:latin typeface="Noto Sans"/>
                <a:ea typeface="Noto Sans"/>
                <a:cs typeface="Noto Sans"/>
              </a:defRPr>
            </a:pPr>
            <a:r>
              <a:rPr sz="1275" b="0">
                <a:solidFill>
                  <a:srgbClr val="62706C"/>
                </a:solidFill>
                <a:latin typeface="Noto Sans"/>
                <a:ea typeface="Noto Sans"/>
                <a:cs typeface="Noto Sans"/>
              </a:rPr>
              <a:t>20 / 21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93EF00-0207-45BB-B332-79ECF6032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2706C"/>
                </a:solidFill>
                <a:latin typeface="Noto Sans"/>
                <a:ea typeface="Noto Sans"/>
                <a:cs typeface="Noto Sans"/>
              </a:defRPr>
            </a:pPr>
            <a:r>
              <a:rPr sz="1425" b="0">
                <a:solidFill>
                  <a:srgbClr val="62706C"/>
                </a:solidFill>
                <a:latin typeface="Noto Sans"/>
                <a:ea typeface="Noto Sans"/>
                <a:cs typeface="Noto Sans"/>
              </a:rPr>
              <a:t>Результаты относятся к изученному архиву 2024. Полные условия и ограничения — в отчёте.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278793-D72F-4536-B39F-3D933C89B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C825D"/>
                </a:solidFill>
                <a:latin typeface="Noto Sans"/>
                <a:ea typeface="Noto Sans"/>
                <a:cs typeface="Noto Sans"/>
              </a:defRPr>
            </a:pPr>
            <a:r>
              <a:rPr sz="2100" b="1">
                <a:solidFill>
                  <a:srgbClr val="0C825D"/>
                </a:solidFill>
                <a:latin typeface="Noto Sans"/>
                <a:ea typeface="Noto Sans"/>
                <a:cs typeface="Noto Sans"/>
              </a:rPr>
              <a:t>Сезонный профиль задаёт сильный ориентир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D23B19-BE9D-4F1C-9344-181BA2F86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83B32"/>
                </a:solidFill>
                <a:latin typeface="Noto Sans"/>
                <a:ea typeface="Noto Sans"/>
                <a:cs typeface="Noto Sans"/>
              </a:defRPr>
            </a:pPr>
            <a:r>
              <a:rPr sz="1725" b="0">
                <a:solidFill>
                  <a:srgbClr val="183B32"/>
                </a:solidFill>
                <a:latin typeface="Noto Sans"/>
                <a:ea typeface="Noto Sans"/>
                <a:cs typeface="Noto Sans"/>
              </a:rPr>
              <a:t>На всех горизонтах ошибка в 1,3–2,3 раза ниже Prophet с профилем на архиве 2024.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F632F7-7F4B-42B6-898B-4544AF933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C825D"/>
                </a:solidFill>
                <a:latin typeface="Noto Sans"/>
                <a:ea typeface="Noto Sans"/>
                <a:cs typeface="Noto Sans"/>
              </a:defRPr>
            </a:pPr>
            <a:r>
              <a:rPr sz="2100" b="1">
                <a:solidFill>
                  <a:srgbClr val="0C825D"/>
                </a:solidFill>
                <a:latin typeface="Noto Sans"/>
                <a:ea typeface="Noto Sans"/>
                <a:cs typeface="Noto Sans"/>
              </a:rPr>
              <a:t>Региональный остаток уменьшает очередь проверки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EFEEE8-D073-4092-ACC9-2A25546B9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2417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83B32"/>
                </a:solidFill>
                <a:latin typeface="Noto Sans"/>
                <a:ea typeface="Noto Sans"/>
                <a:cs typeface="Noto Sans"/>
              </a:defRPr>
            </a:pPr>
            <a:r>
              <a:rPr sz="1725" b="0">
                <a:solidFill>
                  <a:srgbClr val="183B32"/>
                </a:solidFill>
                <a:latin typeface="Noto Sans"/>
                <a:ea typeface="Noto Sans"/>
                <a:cs typeface="Noto Sans"/>
              </a:rPr>
              <a:t>0,597 → 0,075 эпизода / 100 МО-месяцев. Орск: 16-е место из 2012, без тревоги.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748A0C-FB9A-4A65-8698-A34AA53C2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C825D"/>
                </a:solidFill>
                <a:latin typeface="Noto Sans"/>
                <a:ea typeface="Noto Sans"/>
                <a:cs typeface="Noto Sans"/>
              </a:defRPr>
            </a:pPr>
            <a:r>
              <a:rPr sz="2100" b="1">
                <a:solidFill>
                  <a:srgbClr val="0C825D"/>
                </a:solidFill>
                <a:latin typeface="Noto Sans"/>
                <a:ea typeface="Noto Sans"/>
                <a:cs typeface="Noto Sans"/>
              </a:rPr>
              <a:t>Foundation-моделям помогает сезонное отношение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015875-9702-446E-84F6-2AFCE6D62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382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83B32"/>
                </a:solidFill>
                <a:latin typeface="Noto Sans"/>
                <a:ea typeface="Noto Sans"/>
                <a:cs typeface="Noto Sans"/>
              </a:defRPr>
            </a:pPr>
            <a:r>
              <a:rPr sz="1725" b="0">
                <a:solidFill>
                  <a:srgbClr val="183B32"/>
                </a:solidFill>
                <a:latin typeface="Noto Sans"/>
                <a:ea typeface="Noto Sans"/>
                <a:cs typeface="Noto Sans"/>
              </a:rPr>
              <a:t>TimesFM h1: −45% к zero-shot, но выбранная модель остаётся точнее.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EB6CBE-DECA-40A2-A852-CD3C6BCD3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C825D"/>
                </a:solidFill>
                <a:latin typeface="Noto Sans"/>
                <a:ea typeface="Noto Sans"/>
                <a:cs typeface="Noto Sans"/>
              </a:defRPr>
            </a:pPr>
            <a:r>
              <a:rPr sz="2100" b="1">
                <a:solidFill>
                  <a:srgbClr val="0C825D"/>
                </a:solidFill>
                <a:latin typeface="Noto Sans"/>
                <a:ea typeface="Noto Sans"/>
                <a:cs typeface="Noto Sans"/>
              </a:rPr>
              <a:t>Рост следует проверять отдельно по категориям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E2ACB3-1A47-45F3-99C9-E8E3649AB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4347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83B32"/>
                </a:solidFill>
                <a:latin typeface="Noto Sans"/>
                <a:ea typeface="Noto Sans"/>
                <a:cs typeface="Noto Sans"/>
              </a:defRPr>
            </a:pPr>
            <a:r>
              <a:rPr sz="1725" b="0">
                <a:solidFill>
                  <a:srgbClr val="183B32"/>
                </a:solidFill>
                <a:latin typeface="Noto Sans"/>
                <a:ea typeface="Noto Sans"/>
                <a:cs typeface="Noto Sans"/>
              </a:rPr>
              <a:t>Маркетплейсы: общая формула проигрывает на h3 / h6 / h12.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459D4A-FE11-416C-9264-966D0E16D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0225"/>
            <a:ext cx="109728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2706C"/>
                </a:solidFill>
                <a:latin typeface="Noto Sans"/>
                <a:ea typeface="Noto Sans"/>
                <a:cs typeface="Noto Sans"/>
              </a:defRPr>
            </a:pPr>
            <a:r>
              <a:rPr sz="1500" b="0">
                <a:solidFill>
                  <a:srgbClr val="62706C"/>
                </a:solidFill>
                <a:latin typeface="Noto Sans"/>
                <a:ea typeface="Noto Sans"/>
                <a:cs typeface="Noto Sans"/>
              </a:rPr>
              <a:t>Начать: README → критерий → доказательство → python3.12 run_review.py --mode verify</a:t>
            </a:r>
          </a:p>
        </p:txBody>
      </p:sp>
    </p:spTree>
    <p:extLst>
      <p:ext uri="{BB962C8B-B14F-4D97-AF65-F5344CB8AC3E}">
        <p14:creationId xmlns:p14="http://schemas.microsoft.com/office/powerpoint/2010/main" val="190970048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AFC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457C29-5741-4F1A-8C31-40347780D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B32"/>
                </a:solidFill>
                <a:latin typeface="Noto Sans"/>
                <a:ea typeface="Noto Sans"/>
                <a:cs typeface="Noto Sans"/>
              </a:defRPr>
            </a:pPr>
            <a:r>
              <a:rPr sz="3300" b="1">
                <a:solidFill>
                  <a:srgbClr val="183B32"/>
                </a:solidFill>
                <a:latin typeface="Noto Sans"/>
                <a:ea typeface="Noto Sans"/>
                <a:cs typeface="Noto Sans"/>
              </a:rPr>
              <a:t>Приложение: накопительный сигнал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76989B-2E97-4AA0-81D4-5ADA99B89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362700"/>
            <a:ext cx="819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2706C"/>
                </a:solidFill>
                <a:latin typeface="Noto Sans"/>
                <a:ea typeface="Noto Sans"/>
                <a:cs typeface="Noto Sans"/>
              </a:defRPr>
            </a:pPr>
            <a:r>
              <a:rPr sz="1275" b="0">
                <a:solidFill>
                  <a:srgbClr val="62706C"/>
                </a:solidFill>
                <a:latin typeface="Noto Sans"/>
                <a:ea typeface="Noto Sans"/>
                <a:cs typeface="Noto Sans"/>
              </a:rPr>
              <a:t>21 / 21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6254C0-9314-4DD1-AE4D-D18D164B6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2706C"/>
                </a:solidFill>
                <a:latin typeface="Noto Sans"/>
                <a:ea typeface="Noto Sans"/>
                <a:cs typeface="Noto Sans"/>
              </a:defRPr>
            </a:pPr>
            <a:r>
              <a:rPr sz="1425" b="0">
                <a:solidFill>
                  <a:srgbClr val="62706C"/>
                </a:solidFill>
                <a:latin typeface="Noto Sans"/>
                <a:ea typeface="Noto Sans"/>
                <a:cs typeface="Noto Sans"/>
              </a:rPr>
              <a:t>Апрель–декабрь 2024. Центр и порог по январю–марту; случаи уже были известны при разработке гипотезы.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619250"/>
          <a:ext xmlns:a="http://schemas.openxmlformats.org/drawingml/2006/main" cx="10972800" cy="204787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333750"/>
                <a:gridCol w="2333625"/>
                <a:gridCol w="3048000"/>
                <a:gridCol w="2257425"/>
              </a:tblGrid>
              <a:tr h="68262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Noto Sans"/>
                          <a:ea typeface="Noto Sans"/>
                          <a:cs typeface="Noto Sans"/>
                        </a:rPr>
                        <a:t>Метод</a:t>
                      </a:r>
                    </a:p>
                  </a:txBody>
                  <a:tcPr marL="91440" marR="91440" marT="45720" marB="45720">
                    <a:solidFill>
                      <a:srgbClr val="183B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Noto Sans"/>
                          <a:ea typeface="Noto Sans"/>
                          <a:cs typeface="Noto Sans"/>
                        </a:rPr>
                        <a:t>МО-месяцы</a:t>
                      </a:r>
                    </a:p>
                  </a:txBody>
                  <a:tcPr marL="91440" marR="91440" marT="45720" marB="45720">
                    <a:solidFill>
                      <a:srgbClr val="183B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Noto Sans"/>
                          <a:ea typeface="Noto Sans"/>
                          <a:cs typeface="Noto Sans"/>
                        </a:rPr>
                        <a:t>Тревожные месяцы</a:t>
                      </a:r>
                    </a:p>
                  </a:txBody>
                  <a:tcPr marL="91440" marR="91440" marT="45720" marB="45720">
                    <a:solidFill>
                      <a:srgbClr val="183B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Noto Sans"/>
                          <a:ea typeface="Noto Sans"/>
                          <a:cs typeface="Noto Sans"/>
                        </a:rPr>
                        <a:t>Доля, %</a:t>
                      </a:r>
                    </a:p>
                  </a:txBody>
                  <a:tcPr marL="91440" marR="91440" marT="45720" marB="45720">
                    <a:solidFill>
                      <a:srgbClr val="183B32"/>
                    </a:solidFill>
                  </a:tcPr>
                </a:tc>
              </a:tr>
              <a:tr h="682625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CUSUM</a:t>
                      </a:r>
                    </a:p>
                  </a:txBody>
                  <a:tcPr marL="91440" marR="91440" marT="45720" marB="45720">
                    <a:solidFill>
                      <a:srgbClr val="F0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18 201</a:t>
                      </a:r>
                    </a:p>
                  </a:txBody>
                  <a:tcPr marL="91440" marR="91440" marT="45720" marB="45720">
                    <a:solidFill>
                      <a:srgbClr val="F0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8 819</a:t>
                      </a:r>
                    </a:p>
                  </a:txBody>
                  <a:tcPr marL="91440" marR="91440" marT="45720" marB="45720">
                    <a:solidFill>
                      <a:srgbClr val="F0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48.45</a:t>
                      </a:r>
                    </a:p>
                  </a:txBody>
                  <a:tcPr marL="91440" marR="91440" marT="45720" marB="45720">
                    <a:solidFill>
                      <a:srgbClr val="F0F6F1"/>
                    </a:solidFill>
                  </a:tcPr>
                </a:tc>
              </a:tr>
              <a:tr h="682625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EWMA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18 201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6 656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3B32"/>
                          </a:solidFill>
                          <a:latin typeface="Noto Sans"/>
                          <a:ea typeface="Noto Sans"/>
                          <a:cs typeface="Noto Sans"/>
                        </a:rPr>
                        <a:t>36.57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2D6608-E1D8-4426-9247-9A4B73166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109728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C825D"/>
                </a:solidFill>
                <a:latin typeface="Noto Sans"/>
                <a:ea typeface="Noto Sans"/>
                <a:cs typeface="Noto Sans"/>
              </a:defRPr>
            </a:pPr>
            <a:r>
              <a:rPr sz="2100" b="1">
                <a:solidFill>
                  <a:srgbClr val="0C825D"/>
                </a:solidFill>
                <a:latin typeface="Noto Sans"/>
                <a:ea typeface="Noto Sans"/>
                <a:cs typeface="Noto Sans"/>
              </a:rPr>
              <a:t>Сигнал: годовой рост МО относительно других МО региона</a:t>
            </a:r>
          </a:p>
          <a:p xmlns:a="http://schemas.openxmlformats.org/drawingml/2006/main">
            <a:pPr>
              <a:defRPr sz="2100" b="1">
                <a:solidFill>
                  <a:srgbClr val="0C825D"/>
                </a:solidFill>
                <a:latin typeface="Noto Sans"/>
                <a:ea typeface="Noto Sans"/>
                <a:cs typeface="Noto Sans"/>
              </a:defRPr>
            </a:pPr>
            <a:r>
              <a:rPr sz="2100" b="1">
                <a:solidFill>
                  <a:srgbClr val="0C825D"/>
                </a:solidFill>
                <a:latin typeface="Noto Sans"/>
                <a:ea typeface="Noto Sans"/>
                <a:cs typeface="Noto Sans"/>
              </a:rPr>
              <a:t>Слишком высокая нагрузка для замены основного детектора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491EA7-12AD-471C-8A25-28E26AAD4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B32"/>
                </a:solidFill>
                <a:latin typeface="Noto Sans"/>
                <a:ea typeface="Noto Sans"/>
                <a:cs typeface="Noto Sans"/>
              </a:defRPr>
            </a:pPr>
            <a:r>
              <a:rPr sz="2025" b="0">
                <a:solidFill>
                  <a:srgbClr val="183B32"/>
                </a:solidFill>
                <a:latin typeface="Noto Sans"/>
                <a:ea typeface="Noto Sans"/>
                <a:cs typeface="Noto Sans"/>
              </a:rPr>
              <a:t>Для проверки отдельных МО готов локальный интерфейс</a:t>
            </a:r>
          </a:p>
          <a:p xmlns:a="http://schemas.openxmlformats.org/drawingml/2006/main">
            <a:pPr>
              <a:defRPr sz="2025" b="0">
                <a:solidFill>
                  <a:srgbClr val="183B32"/>
                </a:solidFill>
                <a:latin typeface="Noto Sans"/>
                <a:ea typeface="Noto Sans"/>
                <a:cs typeface="Noto Sans"/>
              </a:defRPr>
            </a:pPr>
            <a:r>
              <a:rPr sz="2025" b="0">
                <a:solidFill>
                  <a:srgbClr val="183B32"/>
                </a:solidFill>
                <a:latin typeface="Noto Sans"/>
                <a:ea typeface="Noto Sans"/>
                <a:cs typeface="Noto Sans"/>
              </a:rPr>
              <a:t>Расходы, прогноз, интервалы, очередь тревог и источники</a:t>
            </a:r>
          </a:p>
        </p:txBody>
      </p:sp>
    </p:spTree>
    <p:extLst>
      <p:ext uri="{BB962C8B-B14F-4D97-AF65-F5344CB8AC3E}">
        <p14:creationId xmlns:p14="http://schemas.microsoft.com/office/powerpoint/2010/main" val="4700546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2026-10-08T20:56:36.8010000Z</dcterms:created>
  <dcterms:modified xsi:type="dcterms:W3CDTF">2026-10-08T20:56:36.8010000Z</dcterms:modified>
</coreProperties>
</file>