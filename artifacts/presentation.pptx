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5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6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b26a84335b4089" /><Relationship Type="http://schemas.openxmlformats.org/officeDocument/2006/relationships/extended-properties" Target="/docProps/app.xml" Id="R4706ca0ea9a44b21" /><Relationship Type="http://schemas.openxmlformats.org/officeDocument/2006/relationships/officeDocument" Target="/ppt/presentation.xml" Id="R8862f98d02ce47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ef870035fc42e4"/>
  </p:sldMasterIdLst>
  <p:notesMasterIdLst>
    <p:notesMasterId xmlns:r="http://schemas.openxmlformats.org/officeDocument/2006/relationships" r:id="R84c98e8b6bf5400a"/>
  </p:notesMasterIdLst>
  <p:sldIdLst>
    <p:sldId xmlns:r="http://schemas.openxmlformats.org/officeDocument/2006/relationships" id="256" r:id="Rf8ebda1a42bb48c9"/>
    <p:sldId xmlns:r="http://schemas.openxmlformats.org/officeDocument/2006/relationships" id="257" r:id="Re7b84f4af578402b"/>
    <p:sldId xmlns:r="http://schemas.openxmlformats.org/officeDocument/2006/relationships" id="258" r:id="R2cbf895420fa4e90"/>
    <p:sldId xmlns:r="http://schemas.openxmlformats.org/officeDocument/2006/relationships" id="259" r:id="Rdad5bd3d1c9f44b0"/>
    <p:sldId xmlns:r="http://schemas.openxmlformats.org/officeDocument/2006/relationships" id="260" r:id="R78f5f5132bf84cf0"/>
    <p:sldId xmlns:r="http://schemas.openxmlformats.org/officeDocument/2006/relationships" id="261" r:id="R36af2381c15645ca"/>
    <p:sldId xmlns:r="http://schemas.openxmlformats.org/officeDocument/2006/relationships" id="262" r:id="R47c65a55e0614c37"/>
    <p:sldId xmlns:r="http://schemas.openxmlformats.org/officeDocument/2006/relationships" id="263" r:id="Rdd3fe14dc3d04130"/>
    <p:sldId xmlns:r="http://schemas.openxmlformats.org/officeDocument/2006/relationships" id="264" r:id="R3addeb948c4e42f5"/>
    <p:sldId xmlns:r="http://schemas.openxmlformats.org/officeDocument/2006/relationships" id="265" r:id="Rfddbf0e01d3240f4"/>
    <p:sldId xmlns:r="http://schemas.openxmlformats.org/officeDocument/2006/relationships" id="266" r:id="R2814f1d58d934808"/>
    <p:sldId xmlns:r="http://schemas.openxmlformats.org/officeDocument/2006/relationships" id="267" r:id="Rdad4fb2045ca4e99"/>
    <p:sldId xmlns:r="http://schemas.openxmlformats.org/officeDocument/2006/relationships" id="268" r:id="Rc605a90195f64f12"/>
    <p:sldId xmlns:r="http://schemas.openxmlformats.org/officeDocument/2006/relationships" id="269" r:id="R79aa823696b04154"/>
    <p:sldId xmlns:r="http://schemas.openxmlformats.org/officeDocument/2006/relationships" id="270" r:id="Rddd47e7d64724d1a"/>
    <p:sldId xmlns:r="http://schemas.openxmlformats.org/officeDocument/2006/relationships" id="271" r:id="R14d80aee8ef34f89"/>
    <p:sldId xmlns:r="http://schemas.openxmlformats.org/officeDocument/2006/relationships" id="272" r:id="Rf26f2e712d5f4c01"/>
    <p:sldId xmlns:r="http://schemas.openxmlformats.org/officeDocument/2006/relationships" id="273" r:id="Re2ecdbac0a6646f5"/>
    <p:sldId xmlns:r="http://schemas.openxmlformats.org/officeDocument/2006/relationships" id="274" r:id="Rfdeb7863339c4d6c"/>
    <p:sldId xmlns:r="http://schemas.openxmlformats.org/officeDocument/2006/relationships" id="275" r:id="Rc9233dc61f8b421e"/>
    <p:sldId xmlns:r="http://schemas.openxmlformats.org/officeDocument/2006/relationships" id="276" r:id="R96c53e52a6b441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8c0e660bcf4961" /><Relationship Type="http://schemas.openxmlformats.org/officeDocument/2006/relationships/slideMaster" Target="/ppt/slideMasters/slideMaster1.xml" Id="R98ef870035fc42e4" /><Relationship Type="http://schemas.openxmlformats.org/officeDocument/2006/relationships/notesMaster" Target="/ppt/notesMasters/notesMaster1.xml" Id="R84c98e8b6bf5400a" /><Relationship Type="http://schemas.openxmlformats.org/officeDocument/2006/relationships/presProps" Target="/ppt/presProps.xml" Id="Rfecd0a550b8742b1" /><Relationship Type="http://schemas.openxmlformats.org/officeDocument/2006/relationships/tableStyles" Target="/ppt/tableStyles.xml" Id="Ra60397b7e3804691" /><Relationship Type="http://schemas.openxmlformats.org/officeDocument/2006/relationships/slide" Target="/ppt/slides/slide1.xml" Id="Rf8ebda1a42bb48c9" /><Relationship Type="http://schemas.openxmlformats.org/officeDocument/2006/relationships/slide" Target="/ppt/slides/slide2.xml" Id="Re7b84f4af578402b" /><Relationship Type="http://schemas.openxmlformats.org/officeDocument/2006/relationships/slide" Target="/ppt/slides/slide3.xml" Id="R2cbf895420fa4e90" /><Relationship Type="http://schemas.openxmlformats.org/officeDocument/2006/relationships/slide" Target="/ppt/slides/slide4.xml" Id="Rdad5bd3d1c9f44b0" /><Relationship Type="http://schemas.openxmlformats.org/officeDocument/2006/relationships/slide" Target="/ppt/slides/slide5.xml" Id="R78f5f5132bf84cf0" /><Relationship Type="http://schemas.openxmlformats.org/officeDocument/2006/relationships/slide" Target="/ppt/slides/slide6.xml" Id="R36af2381c15645ca" /><Relationship Type="http://schemas.openxmlformats.org/officeDocument/2006/relationships/slide" Target="/ppt/slides/slide7.xml" Id="R47c65a55e0614c37" /><Relationship Type="http://schemas.openxmlformats.org/officeDocument/2006/relationships/slide" Target="/ppt/slides/slide8.xml" Id="Rdd3fe14dc3d04130" /><Relationship Type="http://schemas.openxmlformats.org/officeDocument/2006/relationships/slide" Target="/ppt/slides/slide9.xml" Id="R3addeb948c4e42f5" /><Relationship Type="http://schemas.openxmlformats.org/officeDocument/2006/relationships/slide" Target="/ppt/slides/slide10.xml" Id="Rfddbf0e01d3240f4" /><Relationship Type="http://schemas.openxmlformats.org/officeDocument/2006/relationships/slide" Target="/ppt/slides/slide11.xml" Id="R2814f1d58d934808" /><Relationship Type="http://schemas.openxmlformats.org/officeDocument/2006/relationships/slide" Target="/ppt/slides/slide12.xml" Id="Rdad4fb2045ca4e99" /><Relationship Type="http://schemas.openxmlformats.org/officeDocument/2006/relationships/slide" Target="/ppt/slides/slide13.xml" Id="Rc605a90195f64f12" /><Relationship Type="http://schemas.openxmlformats.org/officeDocument/2006/relationships/slide" Target="/ppt/slides/slide14.xml" Id="R79aa823696b04154" /><Relationship Type="http://schemas.openxmlformats.org/officeDocument/2006/relationships/slide" Target="/ppt/slides/slide15.xml" Id="Rddd47e7d64724d1a" /><Relationship Type="http://schemas.openxmlformats.org/officeDocument/2006/relationships/slide" Target="/ppt/slides/slide16.xml" Id="R14d80aee8ef34f89" /><Relationship Type="http://schemas.openxmlformats.org/officeDocument/2006/relationships/slide" Target="/ppt/slides/slide17.xml" Id="Rf26f2e712d5f4c01" /><Relationship Type="http://schemas.openxmlformats.org/officeDocument/2006/relationships/slide" Target="/ppt/slides/slide18.xml" Id="Re2ecdbac0a6646f5" /><Relationship Type="http://schemas.openxmlformats.org/officeDocument/2006/relationships/slide" Target="/ppt/slides/slide19.xml" Id="Rfdeb7863339c4d6c" /><Relationship Type="http://schemas.openxmlformats.org/officeDocument/2006/relationships/slide" Target="/ppt/slides/slide20.xml" Id="Rc9233dc61f8b421e" /><Relationship Type="http://schemas.openxmlformats.org/officeDocument/2006/relationships/slide" Target="/ppt/slides/slide21.xml" Id="R96c53e52a6b441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3acca883d64b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753aebd5d441f6" /><Relationship Type="http://schemas.openxmlformats.org/officeDocument/2006/relationships/notesMaster" Target="/ppt/notesMasters/notesMaster1.xml" Id="Rb08aaf9824ce46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0a6381e72d407a" /><Relationship Type="http://schemas.openxmlformats.org/officeDocument/2006/relationships/notesMaster" Target="/ppt/notesMasters/notesMaster1.xml" Id="R7cb214480a2947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3f49b143e84471" /><Relationship Type="http://schemas.openxmlformats.org/officeDocument/2006/relationships/notesMaster" Target="/ppt/notesMasters/notesMaster1.xml" Id="R1e57ce0274824a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d6d9f80d664e1e" /><Relationship Type="http://schemas.openxmlformats.org/officeDocument/2006/relationships/notesMaster" Target="/ppt/notesMasters/notesMaster1.xml" Id="R825e0224dc9647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dc3e0caaa445dd" /><Relationship Type="http://schemas.openxmlformats.org/officeDocument/2006/relationships/notesMaster" Target="/ppt/notesMasters/notesMaster1.xml" Id="Rd973e163982149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4ee4c0faaf4fb8" /><Relationship Type="http://schemas.openxmlformats.org/officeDocument/2006/relationships/notesMaster" Target="/ppt/notesMasters/notesMaster1.xml" Id="Ra3e4fa95947848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e2e476364d4b39" /><Relationship Type="http://schemas.openxmlformats.org/officeDocument/2006/relationships/notesMaster" Target="/ppt/notesMasters/notesMaster1.xml" Id="Rf4c248d619c743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ce89c399d74794" /><Relationship Type="http://schemas.openxmlformats.org/officeDocument/2006/relationships/notesMaster" Target="/ppt/notesMasters/notesMaster1.xml" Id="Rb6025e28c75549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87dbe534d04ce7" /><Relationship Type="http://schemas.openxmlformats.org/officeDocument/2006/relationships/notesMaster" Target="/ppt/notesMasters/notesMaster1.xml" Id="Rb5cee8d8928149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cb45779f1a4b09" /><Relationship Type="http://schemas.openxmlformats.org/officeDocument/2006/relationships/notesMaster" Target="/ppt/notesMasters/notesMaster1.xml" Id="R77ca6eb6b09645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c183364d4d425f" /><Relationship Type="http://schemas.openxmlformats.org/officeDocument/2006/relationships/notesMaster" Target="/ppt/notesMasters/notesMaster1.xml" Id="R8cd53bdb69354a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6fd7806ed745ab" /><Relationship Type="http://schemas.openxmlformats.org/officeDocument/2006/relationships/notesMaster" Target="/ppt/notesMasters/notesMaster1.xml" Id="R7b9d7d2edba546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dafc787d494e75" /><Relationship Type="http://schemas.openxmlformats.org/officeDocument/2006/relationships/notesMaster" Target="/ppt/notesMasters/notesMaster1.xml" Id="R7fb6029da3354ff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489391a52142e0" /><Relationship Type="http://schemas.openxmlformats.org/officeDocument/2006/relationships/notesMaster" Target="/ppt/notesMasters/notesMaster1.xml" Id="R0935853ef64d4b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baf155183e48c4" /><Relationship Type="http://schemas.openxmlformats.org/officeDocument/2006/relationships/notesMaster" Target="/ppt/notesMasters/notesMaster1.xml" Id="Rd95e09eae1824c1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e93ae2ce9c4953" /><Relationship Type="http://schemas.openxmlformats.org/officeDocument/2006/relationships/notesMaster" Target="/ppt/notesMasters/notesMaster1.xml" Id="R77eb8539baea4c5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08ddbe90e94bf1" /><Relationship Type="http://schemas.openxmlformats.org/officeDocument/2006/relationships/notesMaster" Target="/ppt/notesMasters/notesMaster1.xml" Id="R646796bd03694c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5b1b3f68fd4687" /><Relationship Type="http://schemas.openxmlformats.org/officeDocument/2006/relationships/notesMaster" Target="/ppt/notesMasters/notesMaster1.xml" Id="R1a4ac9a3b1a24b9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5d5c5b1ad14831" /><Relationship Type="http://schemas.openxmlformats.org/officeDocument/2006/relationships/notesMaster" Target="/ppt/notesMasters/notesMaster1.xml" Id="R00b1d38c8ca34b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6e48f6bcea54f93" /><Relationship Type="http://schemas.openxmlformats.org/officeDocument/2006/relationships/notesMaster" Target="/ppt/notesMasters/notesMaster1.xml" Id="R35e6f965d417468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193556383946dc" /><Relationship Type="http://schemas.openxmlformats.org/officeDocument/2006/relationships/notesMaster" Target="/ppt/notesMasters/notesMaster1.xml" Id="R764a60a9e71341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Author handle from repositoryowner, no additionalteamidentityclaimed. QR and native hyperlink target the public single-root submission repository. Viewer hyperlink targets GitHub Pages. Private research repository history is not published. Sources: jury_guide.json andreport. Retrospectivearchive2024, no independent2025facts.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Criterionweightsfromcompetition total100percent. Exactgainvsfixedpooled41.5339/23.3389/28.4866/55.7996; displayrounded42/23/28/56. h12bestdisabledcontrol54.53 retainedreport. EWMAevaluationonsetF1.646650, FAR2/4320*100=.0463. Foundationcompareactualsavedtables, notbenchmarkbreadthscore. Newsquoteclassificationnotspendingcausality. Slides19numbering andreportsectionmapping verifiedinpackagingaudit.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data/consumption.parquet; reports/full_cohort_review/coverage.csv; data_sources.json; growthsource officialpublication. Cohorteligibility determined onlyfrom2023. Geography2024snapshot availability unverified. Rawpanel2190IDs vs2075eligible vsvariable2031scored. No independent new-year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src/sberindex/forecasting/growth_bridge_review.py; configs/growth_bridge_review.json; reports/growth_bridge_review/selection.json. https://rosstat.gov.ru/storage/mediabank/osn-11-2023.pdf; https://rosstat.gov.ru/central-news?page=52&amp;per_page=10&amp;print=1. Source available from28Dec2023 scenario, search-index extraction, immutability unverified. Choice rule defined after inspection2024; no independent holdout.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reports/foundation_expansion_review/fullpanel_summary.csv/fullpanel_matched_predictions.parquet; same60700pairs full eligiblepanel, 2031/2031/2029/2023MO. Earlier251MOtable is superseded here. MainfullcohortselectedMAE932/1272/1371/1321 in report; This table and grouped-bar chart use the full matched panel. Bar control is the fixed Prophet pooled profile at every horizon, matching slides2/6 and README; h12 control2989 and gain55.8percent. directHGBh12 onlyfallback excluded. Covariate rowchronos2_profile notgroupedmodel; separate grouped2177to1589sourcefoundation_covariate_review. WithinMO R2pooledSSE overwithinactualvariation, notmeanlocalR2, notYoYR2. h12 denominator0, no R2.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forecast_uncertainty_review/cluster_intervals.csv, temporal_tests.csv. PaireddatebalancedMAE; slide uses fixed pooled comparator all horizons; h12 gain55.80 CIregion50.52to60.97; besttestedh12disabled54.53 separately in report. Crosssectional CIconditional2024, nottemporal CI; postselection tests exploratory. DM h1T12/h3T10, HACBartlett h-1, HLN,tT-1,Holm6tests none5%; requested posthoc two pooled-horizon family h1 p=.03406, h3 p=.30684, not preregistered. h6 numericpossiblebutwithheld byauditminT=max(8,2h+1), h12T1 undefined.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fullpanel_summary.csv selectedh1 MAE932.296 WAPE3.040075 R2within.818567 =1-SSE/sum((actual-meanactualperMO)^2). No claim of variance of firstdifferences or82percent of all changes correctlypredicted. Mean comparator uses evaluationfacts and is descriptive,notoperationalforecast. WAPE ratio rows3.04notdirectMAEmeanratio due dateweighting. SyntheticF1/FAR/delay andrealmonitoringburden different populations, delay420matched excludes300misses. CI conditional2024,nottemporal.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presentation_claim_checks/evidence.json andgrid_check.csv. Convexbound: k0/1 forecastsaffineing, date-balancedMAE convex, endpointmaxat7%/17% strictlybelowbesttestedProphetallh. This isfixed diagnosticnot newgselection. NovCPI7.48released8Dec2023 admissible; annualDecCPI7.4released12Jan2024 excludedfromasofslide, retainedreportexpost. Groupcohortfull60700pairs, not251modeltable.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category_growth_review/full_pooled_summary.csv. Exactpairswithineachcategory, eligibility2023only, fixedg17.2 andweight.5, frozen pooledProphet asprimarynewcategorycontrol chosenpriorresults. Totalall3Prophetcached separately; no percategory tuning. Marketplace losesh3/h6/h12; g0ablationfullcategoryresults retained.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foundation_expansion_review/summary.csv, bolt_epoch1_training.json,provenance.json. New3modelsall3modes exactly7532keys; causalratio, fixedensemble50/50 nottuned. FullBoltcontextJanJun2023/trainJulSep/validationOctDec, fixed1epoch17batches,no2024selection. Mainnewcheckpointdateslater2024 contaminationunknown. TiRexupstreamGitdynamicpadding; TimesFM2.5torchCPU notMLX3.0.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 foundation_expansion_review/summary.csv andfoundation_covariate_review/summary.csv. TimesFM 1-1146.59/2078.02=.4482; Bolt epoch1 1-1885.67/2416.25=.2196; groupedChronos MAE2176.66to1589 from251MO h1 earliercontrolledreview. h12range foundationvariantsincludingseasonalratio4966.17/selected1357.02=3.6596 to12612.81/1357.02=9.2945. NewMO meanszero-shot with history,notcoldstartzeroobservations. No claim benefit universally orallmodeslonghorizons.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Source:presentation_comparison_cases/case_months.csv/calibration.csv/evidence.json. Ufa fixednamedcapital, low2023expensemunicipaldistrictfixedby2023proxy notpopulation norerrors, Orskfixedstresscase. Allcurves selectedhierarchy05_growth_bridge samecachedpoints. AprDecplot onlysinceJanMarinsufficientprevious3months. Forecastissuetargetstart assumedlag0 includespreviousmonthknownthen. Bandsnewposthocillustrative80rankglobalnormalizedresidualquantile, notoldblendbands orformalcoverageguarantee; serialdependence. Tables sourceincludesJanMarwithoutbands. Values rub/consumer, eachyaxisownscale, notsingleyearaheadforecast.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reports/presentation_claim_checks/evidence.json, short_history/comparison.csv/series_metrics.csv. Selectionfixedbeforeevaluation, eligibilitybestonlineonsetF1notfastest. Offlinetwoshadedrowsfullfuturesequencecannotcompareonline delay. FARdenominator4320nullmomonths/2alarms EWMA. EWMArecall420/720=.583. Delayonlytp±1monthmatchedfirstonsetmax(0,pred-onset), missesexcluded. Othermethodsfastdelaydoesnotimplyhighrecall.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reports/peer_residual_review/monitoring_burden.csv; protocol. Leave-one-outregionalmedian nofuturetimeinputs. Snapshot2024nottruehistoricalgeography. Thresholdssyntheticfrozen, noOrsktuning. Localchannelcanremovecommonregionalshock; retain ownchannel separately. Reducedburden doesnotprovebetterrecall.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reports/peer_residual_review/case_yoy.csv, alarm_panel.csv/REPORT.md. Orsk1673 Orenburg1665. Paireddifference notdifference-in-differencescausality design, Orenburgalsoaffected. All4frozenmethods no2024alarm. Paymentsandrepairplausiblehypothesis; municipalMFC announcesrentsupportMay2inMay6post, notindividualpaymentslinktoaggregateexpense.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Forecast: reports/news_interval_review/summary.csv news_pairs.csv audit.json configs/news_interval_review.json; identical18pairs9MO6dates, originalMCHSregistry, availableatforecast, prior3month80pct residualintervals,2023scale, lag0. Pointunchanged, fixedfactor1.5posthoc; coverage17/18 unchanged width2852.307to4278.461 IS3236.925to4361.646(alpha.2), notimprovement; notappliedtomainmodel. Negative +/-3pct preservedreport. Detection: expandedrecoveredquotedcorpus,differentcoverage fromforecast, source news_body_recovery_20261007 audit/monitoringburden. Commands requirefullarchiveandinstalledpackage. Metadatahistoricalversionunconfirmed. ISsourcehttps://journals.plos.org/ploscompbiol/article?id=10.1371/journal.pcbi.1008618 section2.2.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docs/ARCHITECTURE.md; existingCLIscientificpipeline. Nativeeditablearchitecture. Analystinterfaceisproposedrole/output notclaimeddeployedUI. Selectedpointforecastnonewsnumericfeature; eventcontextonlyuntilcoveragequalified. Controlleddatejoin beforeactualsignalinterpretation. CommandsavailableREADME, intentionallynotonslides.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selected_model_holdout_20261007/freeze_manifest.json and adaptive_growth_holdout_20261007/freeze_manifest.json, growth_rates.csv, change_from_fixed.csv. Both8092rows2023MO origDec2024+h1/3/6/12. Candidate g median ofthree monthly regional medians ofMOYoY, &gt;=10 valid2023eligiblepairs eachmonth. Otherwise lastdocumentedavailable macro17.2; no updatedmacroseriesclaimed. Profile2023 weight.5 unchanged. Median14.79427%, medianforecastchange-2.05267%, individualrange-6.01104to+3.161909%. Both2024diagnosticsidentical because allcrossingsorigDec2023 fallback. Candidateproposedafter2024review anduser2025aggregatecontext, notblind or preregistered. No2025municipalfacts; noindependentmetrics. Lag0assumption. Originalfreezeand75/25preserved.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Unchangedscientificlimitsfromreportsection9 andpreviousslide16. NegativecaseOrsknoalarm retained. Conditionalconfidenceandposthocselectionnotindependenttemporalvalidation. Availabilitylag0scenario. No future shock success or publicdeploymentclaim.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Usefuloutputsareimplementedresearchartifactsandcachedviewer, notliveforecastservice. No new scientificresultorcontestscore. Verifychecksfilesonly,noMAEretraining. Fullarchive required; weightsnotincluded. Finalbenefitsslidefollowslimitationsasrequested.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yoy_shift_review/monitoring_burden.csv, protocol. logyoyleaveoneoutregionalmedian, JanMarcalibration99percentile, AprDec18201targets, nofuturethresholdinputsbutcasesknown. NoOrskAprJunalarm; realFARunknown dueunlabeledabsence. Dashboardofflinecachedresults only, notlivepredictionsorconfirmedfuturealerts.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a7cc74bfdf49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d6762206124eaf" /><Relationship Type="http://schemas.openxmlformats.org/officeDocument/2006/relationships/slideLayout" Target="/ppt/slideLayouts/slideLayout1.xml" Id="R7673fcf8281444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73fcf8281444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0fd791eb64a22" /><Relationship Type="http://schemas.openxmlformats.org/officeDocument/2006/relationships/hyperlink" Target="https://github.com/NikitaMeshDS/sberindex-task2" TargetMode="External" Id="Rc46484955b9447b8" /><Relationship Type="http://schemas.openxmlformats.org/officeDocument/2006/relationships/hyperlink" Target="https://NikitaMeshDS.github.io/sberindex-task2/" TargetMode="External" Id="R4ccbbe2cfd60433f" /><Relationship Type="http://schemas.openxmlformats.org/officeDocument/2006/relationships/image" Target="/ppt/media/image.png" Id="R2caf6fc97860496d" /><Relationship Type="http://schemas.openxmlformats.org/officeDocument/2006/relationships/notesSlide" Target="/ppt/notesSlides/notesSlide1.xml" Id="R43f4719276fc42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dc5768baa427e" /><Relationship Type="http://schemas.openxmlformats.org/officeDocument/2006/relationships/notesSlide" Target="/ppt/notesSlides/notesSlide2.xml" Id="Ra467f08692904c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e3f1d1850414b" /><Relationship Type="http://schemas.openxmlformats.org/officeDocument/2006/relationships/notesSlide" Target="/ppt/notesSlides/notesSlide3.xml" Id="Rb2213a890e664c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7c0c4d2924a3d" /><Relationship Type="http://schemas.openxmlformats.org/officeDocument/2006/relationships/image" Target="/ppt/media/image2.png" Id="R9760d1bf9d8442b2" /><Relationship Type="http://schemas.openxmlformats.org/officeDocument/2006/relationships/notesSlide" Target="/ppt/notesSlides/notesSlide4.xml" Id="Re869e4c805f34d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565308052457a" /><Relationship Type="http://schemas.openxmlformats.org/officeDocument/2006/relationships/chart" Target="/ppt/slides/charts/chart1.xml" Id="R4191729207474cd2" /><Relationship Type="http://schemas.openxmlformats.org/officeDocument/2006/relationships/notesSlide" Target="/ppt/notesSlides/notesSlide5.xml" Id="R3e94f74ba3134f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deaf54074489f" /><Relationship Type="http://schemas.openxmlformats.org/officeDocument/2006/relationships/notesSlide" Target="/ppt/notesSlides/notesSlide6.xml" Id="R972ab21cdeb94f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af77e50c04099" /><Relationship Type="http://schemas.openxmlformats.org/officeDocument/2006/relationships/notesSlide" Target="/ppt/notesSlides/notesSlide7.xml" Id="Rc64ab63ff1314a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f963f225148aa" /><Relationship Type="http://schemas.openxmlformats.org/officeDocument/2006/relationships/notesSlide" Target="/ppt/notesSlides/notesSlide8.xml" Id="R464808b40f0248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ed326d4984597" /><Relationship Type="http://schemas.openxmlformats.org/officeDocument/2006/relationships/notesSlide" Target="/ppt/notesSlides/notesSlide9.xml" Id="R20c91052d53c4f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f0574db344f84" /><Relationship Type="http://schemas.openxmlformats.org/officeDocument/2006/relationships/notesSlide" Target="/ppt/notesSlides/notesSlide10.xml" Id="R348c9b36f5964d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af90614574d27" /><Relationship Type="http://schemas.openxmlformats.org/officeDocument/2006/relationships/notesSlide" Target="/ppt/notesSlides/notesSlide11.xml" Id="Rd6c7236fd50b4e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979ec14a24067" /><Relationship Type="http://schemas.openxmlformats.org/officeDocument/2006/relationships/chart" Target="/ppt/slides/charts/chart2.xml" Id="R314967f50148430d" /><Relationship Type="http://schemas.openxmlformats.org/officeDocument/2006/relationships/chart" Target="/ppt/slides/charts/chart3.xml" Id="R7c8b7646f8344f30" /><Relationship Type="http://schemas.openxmlformats.org/officeDocument/2006/relationships/chart" Target="/ppt/slides/charts/chart4.xml" Id="Re028683c8ac14231" /><Relationship Type="http://schemas.openxmlformats.org/officeDocument/2006/relationships/notesSlide" Target="/ppt/notesSlides/notesSlide12.xml" Id="R2b6aa39137d746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1848df9104f1e" /><Relationship Type="http://schemas.openxmlformats.org/officeDocument/2006/relationships/chart" Target="/ppt/slides/charts/chart5.xml" Id="R29dd2b272e194129" /><Relationship Type="http://schemas.openxmlformats.org/officeDocument/2006/relationships/notesSlide" Target="/ppt/notesSlides/notesSlide13.xml" Id="R0b728ad847d346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4f93fb9544a47" /><Relationship Type="http://schemas.openxmlformats.org/officeDocument/2006/relationships/image" Target="/ppt/media/image3.png" Id="R72e9089b437e4e9c" /><Relationship Type="http://schemas.openxmlformats.org/officeDocument/2006/relationships/notesSlide" Target="/ppt/notesSlides/notesSlide14.xml" Id="R5fa249ff87b645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40120ad5a430b" /><Relationship Type="http://schemas.openxmlformats.org/officeDocument/2006/relationships/chart" Target="/ppt/slides/charts/chart6.xml" Id="Ra086b668a28e4ddc" /><Relationship Type="http://schemas.openxmlformats.org/officeDocument/2006/relationships/notesSlide" Target="/ppt/notesSlides/notesSlide15.xml" Id="R17e3de7eb99b484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b7566d9654b62" /><Relationship Type="http://schemas.openxmlformats.org/officeDocument/2006/relationships/notesSlide" Target="/ppt/notesSlides/notesSlide16.xml" Id="R1e593f476af64a4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a1f99a6a94d21" /><Relationship Type="http://schemas.openxmlformats.org/officeDocument/2006/relationships/notesSlide" Target="/ppt/notesSlides/notesSlide17.xml" Id="Rc219ec70dc9a42f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a9f04d2444c0b" /><Relationship Type="http://schemas.openxmlformats.org/officeDocument/2006/relationships/notesSlide" Target="/ppt/notesSlides/notesSlide18.xml" Id="R01d688286a0a4b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f9fff35e24789" /><Relationship Type="http://schemas.openxmlformats.org/officeDocument/2006/relationships/notesSlide" Target="/ppt/notesSlides/notesSlide19.xml" Id="R7205c87d840b42e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50c122d804f6a" /><Relationship Type="http://schemas.openxmlformats.org/officeDocument/2006/relationships/notesSlide" Target="/ppt/notesSlides/notesSlide20.xml" Id="R87f545a2214a4f5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c8600f0a74264" /><Relationship Type="http://schemas.openxmlformats.org/officeDocument/2006/relationships/notesSlide" Target="/ppt/notesSlides/notesSlide21.xml" Id="R98085df39d5e4e9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Выбранная модель</c:v>
          </c:tx>
          <c:spPr>
            <a:solidFill xmlns:a="http://schemas.openxmlformats.org/drawingml/2006/main">
              <a:srgbClr val="0C825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932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1 272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1 371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1 321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Data'!$A$2:$A$5</c:f>
              <c:strCache>
                <c:ptCount val="4"/>
                <c:pt idx="0">
                  <c:v>h1</c:v>
                </c:pt>
                <c:pt idx="1">
                  <c:v>h3</c:v>
                </c:pt>
                <c:pt idx="2">
                  <c:v>h6</c:v>
                </c:pt>
                <c:pt idx="3">
                  <c:v>h12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932.296</c:v>
                </c:pt>
                <c:pt idx="1">
                  <c:v>1272.19</c:v>
                </c:pt>
                <c:pt idx="2">
                  <c:v>1370.661</c:v>
                </c:pt>
                <c:pt idx="3">
                  <c:v>1321.264</c:v>
                </c:pt>
              </c:numCache>
            </c:numRef>
          </c:val>
        </c:ser>
        <c:ser>
          <c:idx val="1"/>
          <c:order val="1"/>
          <c:tx>
            <c:v>Prophet с профилем</c:v>
          </c:tx>
          <c:spPr>
            <a:solidFill xmlns:a="http://schemas.openxmlformats.org/drawingml/2006/main">
              <a:srgbClr val="52718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1 595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1 659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1 917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latin typeface="Noto Sans"/>
                        <a:ea typeface="Noto Sans"/>
                        <a:cs typeface="Noto Sans"/>
                      </a:rPr>
                      <a:t>2 989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Data'!$C$2:$C$5</c:f>
              <c:strCache>
                <c:ptCount val="4"/>
                <c:pt idx="0">
                  <c:v>h1</c:v>
                </c:pt>
                <c:pt idx="1">
                  <c:v>h3</c:v>
                </c:pt>
                <c:pt idx="2">
                  <c:v>h6</c:v>
                </c:pt>
                <c:pt idx="3">
                  <c:v>h12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1594.593</c:v>
                </c:pt>
                <c:pt idx="1">
                  <c:v>1659.498</c:v>
                </c:pt>
                <c:pt idx="2">
                  <c:v>1916.648</c:v>
                </c:pt>
                <c:pt idx="3">
                  <c:v>2989.26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Noto Sans"/>
                  <a:ea typeface="Noto Sans"/>
                  <a:cs typeface="Noto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CE6DD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CF9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Noto Sans"/>
              <a:ea typeface="Noto Sans"/>
              <a:cs typeface="Noto Sans"/>
            </a:defRPr>
          </a:pPr>
        </a:p>
      </c:txPr>
    </c:legend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Верхняя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Data'!$B$2:$B$10</c:f>
              <c:numCache>
                <c:formatCode>0</c:formatCode>
                <c:ptCount val="9"/>
                <c:pt idx="0">
                  <c:v>36822.749</c:v>
                </c:pt>
                <c:pt idx="1">
                  <c:v>38981.084</c:v>
                </c:pt>
                <c:pt idx="2">
                  <c:v>37541.528</c:v>
                </c:pt>
                <c:pt idx="3">
                  <c:v>39530.635</c:v>
                </c:pt>
                <c:pt idx="4">
                  <c:v>38812.274</c:v>
                </c:pt>
                <c:pt idx="5">
                  <c:v>36166.86</c:v>
                </c:pt>
                <c:pt idx="6">
                  <c:v>37760.719</c:v>
                </c:pt>
                <c:pt idx="7">
                  <c:v>38630.906</c:v>
                </c:pt>
                <c:pt idx="8">
                  <c:v>45272.807</c:v>
                </c:pt>
              </c:numCache>
            </c:numRef>
          </c:val>
          <c:smooth val="0"/>
        </c:ser>
        <c:ser>
          <c:idx val="1"/>
          <c:order val="1"/>
          <c:tx>
            <c:v>Нижняя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Data'!$C$2:$C$10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Data'!$D$2:$D$10</c:f>
              <c:numCache>
                <c:formatCode>0</c:formatCode>
                <c:ptCount val="9"/>
                <c:pt idx="0">
                  <c:v>31605.144</c:v>
                </c:pt>
                <c:pt idx="1">
                  <c:v>34825.552</c:v>
                </c:pt>
                <c:pt idx="2">
                  <c:v>33755.532</c:v>
                </c:pt>
                <c:pt idx="3">
                  <c:v>35690.82</c:v>
                </c:pt>
                <c:pt idx="4">
                  <c:v>35866.091</c:v>
                </c:pt>
                <c:pt idx="5">
                  <c:v>33418.894</c:v>
                </c:pt>
                <c:pt idx="6">
                  <c:v>34950.431</c:v>
                </c:pt>
                <c:pt idx="7">
                  <c:v>35855.007</c:v>
                </c:pt>
                <c:pt idx="8">
                  <c:v>42184.93</c:v>
                </c:pt>
              </c:numCache>
            </c:numRef>
          </c:val>
          <c:smooth val="0"/>
        </c:ser>
        <c:ser>
          <c:idx val="2"/>
          <c:order val="2"/>
          <c:tx>
            <c:v>Факт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183B32"/>
              </a:solidFill>
            </a:ln>
          </c:spPr>
          <c:marker>
            <c:symbol val="none"/>
          </c:marker>
          <c:cat>
            <c:numRef>
              <c:f>'Chart Data'!$E$2:$E$10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Data'!$F$2:$F$10</c:f>
              <c:numCache>
                <c:formatCode>0</c:formatCode>
                <c:ptCount val="9"/>
                <c:pt idx="0">
                  <c:v>35833</c:v>
                </c:pt>
                <c:pt idx="1">
                  <c:v>35615</c:v>
                </c:pt>
                <c:pt idx="2">
                  <c:v>35988</c:v>
                </c:pt>
                <c:pt idx="3">
                  <c:v>36788</c:v>
                </c:pt>
                <c:pt idx="4">
                  <c:v>37597</c:v>
                </c:pt>
                <c:pt idx="5">
                  <c:v>34999</c:v>
                </c:pt>
                <c:pt idx="6">
                  <c:v>36530</c:v>
                </c:pt>
                <c:pt idx="7">
                  <c:v>37011</c:v>
                </c:pt>
                <c:pt idx="8">
                  <c:v>42485</c:v>
                </c:pt>
              </c:numCache>
            </c:numRef>
          </c:val>
          <c:smooth val="0"/>
        </c:ser>
        <c:ser>
          <c:idx val="3"/>
          <c:order val="3"/>
          <c:tx>
            <c:v>Прогноз h1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0C825D"/>
              </a:solidFill>
            </a:ln>
          </c:spPr>
          <c:marker>
            <c:symbol val="none"/>
          </c:marker>
          <c:cat>
            <c:numRef>
              <c:f>'Chart Data'!$G$2:$G$10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Data'!$H$2:$H$10</c:f>
              <c:numCache>
                <c:formatCode>0</c:formatCode>
                <c:ptCount val="9"/>
                <c:pt idx="0">
                  <c:v>34213.947</c:v>
                </c:pt>
                <c:pt idx="1">
                  <c:v>36903.318</c:v>
                </c:pt>
                <c:pt idx="2">
                  <c:v>35648.53</c:v>
                </c:pt>
                <c:pt idx="3">
                  <c:v>37610.728</c:v>
                </c:pt>
                <c:pt idx="4">
                  <c:v>37339.182</c:v>
                </c:pt>
                <c:pt idx="5">
                  <c:v>34792.877</c:v>
                </c:pt>
                <c:pt idx="6">
                  <c:v>36355.575</c:v>
                </c:pt>
                <c:pt idx="7">
                  <c:v>37242.957</c:v>
                </c:pt>
                <c:pt idx="8">
                  <c:v>43728.868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"/>
                  <a:ea typeface="Noto Sans"/>
                  <a:cs typeface="Not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46000"/>
          <c:min val="3000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CF9"/>
        </a:solidFill>
      </c:spPr>
    </c:plotArea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Верхняя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Data'!$B$2:$B$10</c:f>
              <c:numCache>
                <c:formatCode>0</c:formatCode>
                <c:ptCount val="9"/>
                <c:pt idx="0">
                  <c:v>14067.784</c:v>
                </c:pt>
                <c:pt idx="1">
                  <c:v>16363.875</c:v>
                </c:pt>
                <c:pt idx="2">
                  <c:v>15911.483</c:v>
                </c:pt>
                <c:pt idx="3">
                  <c:v>17170.687</c:v>
                </c:pt>
                <c:pt idx="4">
                  <c:v>15716.203</c:v>
                </c:pt>
                <c:pt idx="5">
                  <c:v>13971.597</c:v>
                </c:pt>
                <c:pt idx="6">
                  <c:v>14609.469</c:v>
                </c:pt>
                <c:pt idx="7">
                  <c:v>14533.667</c:v>
                </c:pt>
                <c:pt idx="8">
                  <c:v>16343.253</c:v>
                </c:pt>
              </c:numCache>
            </c:numRef>
          </c:val>
          <c:smooth val="0"/>
        </c:ser>
        <c:ser>
          <c:idx val="1"/>
          <c:order val="1"/>
          <c:tx>
            <c:v>Нижняя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Data'!$C$2:$C$10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Data'!$D$2:$D$10</c:f>
              <c:numCache>
                <c:formatCode>0</c:formatCode>
                <c:ptCount val="9"/>
                <c:pt idx="0">
                  <c:v>11792.567</c:v>
                </c:pt>
                <c:pt idx="1">
                  <c:v>14551.791</c:v>
                </c:pt>
                <c:pt idx="2">
                  <c:v>14260.542</c:v>
                </c:pt>
                <c:pt idx="3">
                  <c:v>15496.277</c:v>
                </c:pt>
                <c:pt idx="4">
                  <c:v>14431.475</c:v>
                </c:pt>
                <c:pt idx="5">
                  <c:v>12773.305</c:v>
                </c:pt>
                <c:pt idx="6">
                  <c:v>13384</c:v>
                </c:pt>
                <c:pt idx="7">
                  <c:v>13323.193</c:v>
                </c:pt>
                <c:pt idx="8">
                  <c:v>14996.737</c:v>
                </c:pt>
              </c:numCache>
            </c:numRef>
          </c:val>
          <c:smooth val="0"/>
        </c:ser>
        <c:ser>
          <c:idx val="2"/>
          <c:order val="2"/>
          <c:tx>
            <c:v>Факт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183B32"/>
              </a:solidFill>
            </a:ln>
          </c:spPr>
          <c:marker>
            <c:symbol val="none"/>
          </c:marker>
          <c:cat>
            <c:numRef>
              <c:f>'Chart Data'!$E$2:$E$10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Data'!$F$2:$F$10</c:f>
              <c:numCache>
                <c:formatCode>0</c:formatCode>
                <c:ptCount val="9"/>
                <c:pt idx="0">
                  <c:v>14938</c:v>
                </c:pt>
                <c:pt idx="1">
                  <c:v>15129</c:v>
                </c:pt>
                <c:pt idx="2">
                  <c:v>15545</c:v>
                </c:pt>
                <c:pt idx="3">
                  <c:v>14994</c:v>
                </c:pt>
                <c:pt idx="4">
                  <c:v>14221</c:v>
                </c:pt>
                <c:pt idx="5">
                  <c:v>13597</c:v>
                </c:pt>
                <c:pt idx="6">
                  <c:v>13561</c:v>
                </c:pt>
                <c:pt idx="7">
                  <c:v>13350</c:v>
                </c:pt>
                <c:pt idx="8">
                  <c:v>16864</c:v>
                </c:pt>
              </c:numCache>
            </c:numRef>
          </c:val>
          <c:smooth val="0"/>
        </c:ser>
        <c:ser>
          <c:idx val="3"/>
          <c:order val="3"/>
          <c:tx>
            <c:v>Прогноз h1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0C825D"/>
              </a:solidFill>
            </a:ln>
          </c:spPr>
          <c:marker>
            <c:symbol val="none"/>
          </c:marker>
          <c:cat>
            <c:numRef>
              <c:f>'Chart Data'!$G$2:$G$10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Data'!$H$2:$H$10</c:f>
              <c:numCache>
                <c:formatCode>0</c:formatCode>
                <c:ptCount val="9"/>
                <c:pt idx="0">
                  <c:v>12930.176</c:v>
                </c:pt>
                <c:pt idx="1">
                  <c:v>15457.833</c:v>
                </c:pt>
                <c:pt idx="2">
                  <c:v>15086.012</c:v>
                </c:pt>
                <c:pt idx="3">
                  <c:v>16333.482</c:v>
                </c:pt>
                <c:pt idx="4">
                  <c:v>15073.839</c:v>
                </c:pt>
                <c:pt idx="5">
                  <c:v>13372.451</c:v>
                </c:pt>
                <c:pt idx="6">
                  <c:v>13996.734</c:v>
                </c:pt>
                <c:pt idx="7">
                  <c:v>13928.43</c:v>
                </c:pt>
                <c:pt idx="8">
                  <c:v>15669.995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"/>
                  <a:ea typeface="Noto Sans"/>
                  <a:cs typeface="Not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18000"/>
          <c:min val="1100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CF9"/>
        </a:solidFill>
      </c:spPr>
    </c:plotArea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Верхняя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Data'!$A$2:$A$10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Data'!$B$2:$B$10</c:f>
              <c:numCache>
                <c:formatCode>0</c:formatCode>
                <c:ptCount val="9"/>
                <c:pt idx="0">
                  <c:v>30685.047</c:v>
                </c:pt>
                <c:pt idx="1">
                  <c:v>32900.297</c:v>
                </c:pt>
                <c:pt idx="2">
                  <c:v>34529.318</c:v>
                </c:pt>
                <c:pt idx="3">
                  <c:v>35309.227</c:v>
                </c:pt>
                <c:pt idx="4">
                  <c:v>34195.408</c:v>
                </c:pt>
                <c:pt idx="5">
                  <c:v>31637.478</c:v>
                </c:pt>
                <c:pt idx="6">
                  <c:v>32438.633</c:v>
                </c:pt>
                <c:pt idx="7">
                  <c:v>34701.699</c:v>
                </c:pt>
                <c:pt idx="8">
                  <c:v>40660.538</c:v>
                </c:pt>
              </c:numCache>
            </c:numRef>
          </c:val>
          <c:smooth val="0"/>
        </c:ser>
        <c:ser>
          <c:idx val="1"/>
          <c:order val="1"/>
          <c:tx>
            <c:v>Нижняя граница 80%</c:v>
          </c:tx>
          <c:spPr>
            <a:ln xmlns:a="http://schemas.openxmlformats.org/drawingml/2006/main" w="13335">
              <a:solidFill>
                <a:srgbClr val="9DBEAC"/>
              </a:solidFill>
            </a:ln>
          </c:spPr>
          <c:marker>
            <c:symbol val="none"/>
          </c:marker>
          <c:cat>
            <c:numRef>
              <c:f>'Chart Data'!$C$2:$C$10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Data'!$D$2:$D$10</c:f>
              <c:numCache>
                <c:formatCode>0</c:formatCode>
                <c:ptCount val="9"/>
                <c:pt idx="0">
                  <c:v>26377.361</c:v>
                </c:pt>
                <c:pt idx="1">
                  <c:v>29469.464</c:v>
                </c:pt>
                <c:pt idx="2">
                  <c:v>31403.578</c:v>
                </c:pt>
                <c:pt idx="3">
                  <c:v>32139.053</c:v>
                </c:pt>
                <c:pt idx="4">
                  <c:v>31763.022</c:v>
                </c:pt>
                <c:pt idx="5">
                  <c:v>29368.741</c:v>
                </c:pt>
                <c:pt idx="6">
                  <c:v>30118.443</c:v>
                </c:pt>
                <c:pt idx="7">
                  <c:v>32409.9</c:v>
                </c:pt>
                <c:pt idx="8">
                  <c:v>38111.168</c:v>
                </c:pt>
              </c:numCache>
            </c:numRef>
          </c:val>
          <c:smooth val="0"/>
        </c:ser>
        <c:ser>
          <c:idx val="2"/>
          <c:order val="2"/>
          <c:tx>
            <c:v>Факт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183B32"/>
              </a:solidFill>
            </a:ln>
          </c:spPr>
          <c:marker>
            <c:symbol val="none"/>
          </c:marker>
          <c:cat>
            <c:numRef>
              <c:f>'Chart Data'!$E$2:$E$10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Data'!$F$2:$F$10</c:f>
              <c:numCache>
                <c:formatCode>0</c:formatCode>
                <c:ptCount val="9"/>
                <c:pt idx="0">
                  <c:v>30327</c:v>
                </c:pt>
                <c:pt idx="1">
                  <c:v>32831</c:v>
                </c:pt>
                <c:pt idx="2">
                  <c:v>32257</c:v>
                </c:pt>
                <c:pt idx="3">
                  <c:v>32470</c:v>
                </c:pt>
                <c:pt idx="4">
                  <c:v>32637</c:v>
                </c:pt>
                <c:pt idx="5">
                  <c:v>30287</c:v>
                </c:pt>
                <c:pt idx="6">
                  <c:v>32665</c:v>
                </c:pt>
                <c:pt idx="7">
                  <c:v>33299</c:v>
                </c:pt>
                <c:pt idx="8">
                  <c:v>37851</c:v>
                </c:pt>
              </c:numCache>
            </c:numRef>
          </c:val>
          <c:smooth val="0"/>
        </c:ser>
        <c:ser>
          <c:idx val="3"/>
          <c:order val="3"/>
          <c:tx>
            <c:v>Прогноз h1</c:v>
          </c:tx>
          <c:spPr>
            <a:noFill xmlns:a="http://schemas.openxmlformats.org/drawingml/2006/main"/>
            <a:ln xmlns:a="http://schemas.openxmlformats.org/drawingml/2006/main" w="23813">
              <a:solidFill>
                <a:srgbClr val="0C825D"/>
              </a:solidFill>
            </a:ln>
          </c:spPr>
          <c:marker>
            <c:symbol val="none"/>
          </c:marker>
          <c:cat>
            <c:numRef>
              <c:f>'Chart Data'!$G$2:$G$10</c:f>
              <c:numCache>
                <c:formatCode>General</c:formatCode>
                <c:ptCount val="9"/>
                <c:pt idx="0">
                  <c:v>04</c:v>
                </c:pt>
                <c:pt idx="1">
                  <c:v>05</c:v>
                </c:pt>
                <c:pt idx="2">
                  <c:v>06</c:v>
                </c:pt>
                <c:pt idx="3">
                  <c:v>07</c:v>
                </c:pt>
                <c:pt idx="4">
                  <c:v>08</c:v>
                </c:pt>
                <c:pt idx="5">
                  <c:v>09</c:v>
                </c:pt>
                <c:pt idx="6">
                  <c:v>10</c:v>
                </c:pt>
                <c:pt idx="7">
                  <c:v>11</c:v>
                </c:pt>
                <c:pt idx="8">
                  <c:v>12</c:v>
                </c:pt>
              </c:numCache>
            </c:numRef>
          </c:cat>
          <c:val>
            <c:numRef>
              <c:f>'Chart Data'!$H$2:$H$10</c:f>
              <c:numCache>
                <c:formatCode>0</c:formatCode>
                <c:ptCount val="9"/>
                <c:pt idx="0">
                  <c:v>28531.204</c:v>
                </c:pt>
                <c:pt idx="1">
                  <c:v>31184.88</c:v>
                </c:pt>
                <c:pt idx="2">
                  <c:v>32966.448</c:v>
                </c:pt>
                <c:pt idx="3">
                  <c:v>33724.14</c:v>
                </c:pt>
                <c:pt idx="4">
                  <c:v>32979.215</c:v>
                </c:pt>
                <c:pt idx="5">
                  <c:v>30503.11</c:v>
                </c:pt>
                <c:pt idx="6">
                  <c:v>31278.538</c:v>
                </c:pt>
                <c:pt idx="7">
                  <c:v>33555.799</c:v>
                </c:pt>
                <c:pt idx="8">
                  <c:v>39385.853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"/>
                  <a:ea typeface="Noto Sans"/>
                  <a:cs typeface="Not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41000"/>
          <c:min val="2500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CF9"/>
        </a:solidFill>
      </c:spPr>
    </c:plotArea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ser>
          <c:idx val="0"/>
          <c:order val="0"/>
          <c:tx>
            <c:v>EWMA</c:v>
          </c:tx>
          <c:spPr>
            <a:solidFill xmlns:a="http://schemas.openxmlformats.org/drawingml/2006/main">
              <a:srgbClr val="0C825D"/>
            </a:solidFill>
            <a:ln xmlns:a="http://schemas.openxmlformats.org/drawingml/2006/main" w="9525">
              <a:solidFill>
                <a:srgbClr val="0C825D"/>
              </a:solidFill>
            </a:ln>
          </c:spPr>
          <c:marker>
            <c:symbol val="circle"/>
            <c:size val="14"/>
            <c:spPr>
              <a:solidFill xmlns:a="http://schemas.openxmlformats.org/drawingml/2006/main">
                <a:srgbClr val="0C825D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1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EWMA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1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l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Data'!$A$2:$A$2</c:f>
              <c:numCache>
                <c:formatCode>General</c:formatCode>
                <c:ptCount val="1"/>
                <c:pt idx="0">
                  <c:v>0.046296</c:v>
                </c:pt>
              </c:numCache>
            </c:numRef>
          </c:xVal>
          <c:yVal>
            <c:numRef>
              <c:f>'Chart Data'!$B$2:$B$2</c:f>
              <c:numCache>
                <c:formatCode>0.0</c:formatCode>
                <c:ptCount val="1"/>
                <c:pt idx="0">
                  <c:v>0.647</c:v>
                </c:pt>
              </c:numCache>
            </c:numRef>
          </c:yVal>
        </c:ser>
        <c:ser>
          <c:idx val="1"/>
          <c:order val="1"/>
          <c:tx>
            <c:v>CUSUM</c:v>
          </c:tx>
          <c:spPr>
            <a:solidFill xmlns:a="http://schemas.openxmlformats.org/drawingml/2006/main">
              <a:srgbClr val="52718A"/>
            </a:solidFill>
            <a:ln xmlns:a="http://schemas.openxmlformats.org/drawingml/2006/main" w="9525">
              <a:solidFill>
                <a:srgbClr val="52718A"/>
              </a:solidFill>
            </a:ln>
          </c:spPr>
          <c:marker>
            <c:symbol val="circle"/>
            <c:size val="10"/>
            <c:spPr>
              <a:solidFill xmlns:a="http://schemas.openxmlformats.org/drawingml/2006/main">
                <a:srgbClr val="52718A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CUSUM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t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Data'!$C$2:$C$2</c:f>
              <c:numCache>
                <c:formatCode>General</c:formatCode>
                <c:ptCount val="1"/>
                <c:pt idx="0">
                  <c:v>0.069444</c:v>
                </c:pt>
              </c:numCache>
            </c:numRef>
          </c:xVal>
          <c:yVal>
            <c:numRef>
              <c:f>'Chart Data'!$D$2:$D$2</c:f>
              <c:numCache>
                <c:formatCode>0.0</c:formatCode>
                <c:ptCount val="1"/>
                <c:pt idx="0">
                  <c:v>0.602</c:v>
                </c:pt>
              </c:numCache>
            </c:numRef>
          </c:yVal>
        </c:ser>
        <c:ser>
          <c:idx val="2"/>
          <c:order val="2"/>
          <c:tx>
            <c:v>CUSUM +</c:v>
          </c:tx>
          <c:spPr>
            <a:solidFill xmlns:a="http://schemas.openxmlformats.org/drawingml/2006/main">
              <a:srgbClr val="52718A"/>
            </a:solidFill>
            <a:ln xmlns:a="http://schemas.openxmlformats.org/drawingml/2006/main" w="9525">
              <a:solidFill>
                <a:srgbClr val="52718A"/>
              </a:solidFill>
            </a:ln>
          </c:spPr>
          <c:marker>
            <c:symbol val="circle"/>
            <c:size val="10"/>
            <c:spPr>
              <a:solidFill xmlns:a="http://schemas.openxmlformats.org/drawingml/2006/main">
                <a:srgbClr val="52718A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CUSUM +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Data'!$E$2:$E$2</c:f>
              <c:numCache>
                <c:formatCode>General</c:formatCode>
                <c:ptCount val="1"/>
                <c:pt idx="0">
                  <c:v>0.092593</c:v>
                </c:pt>
              </c:numCache>
            </c:numRef>
          </c:xVal>
          <c:yVal>
            <c:numRef>
              <c:f>'Chart Data'!$F$2:$F$2</c:f>
              <c:numCache>
                <c:formatCode>0.0</c:formatCode>
                <c:ptCount val="1"/>
                <c:pt idx="0">
                  <c:v>0.598</c:v>
                </c:pt>
              </c:numCache>
            </c:numRef>
          </c:yVal>
        </c:ser>
        <c:ser>
          <c:idx val="3"/>
          <c:order val="3"/>
          <c:tx>
            <c:v>Разовый порог</c:v>
          </c:tx>
          <c:spPr>
            <a:solidFill xmlns:a="http://schemas.openxmlformats.org/drawingml/2006/main">
              <a:srgbClr val="52718A"/>
            </a:solidFill>
            <a:ln xmlns:a="http://schemas.openxmlformats.org/drawingml/2006/main" w="9525">
              <a:solidFill>
                <a:srgbClr val="52718A"/>
              </a:solidFill>
            </a:ln>
          </c:spPr>
          <c:marker>
            <c:symbol val="circle"/>
            <c:size val="10"/>
            <c:spPr>
              <a:solidFill xmlns:a="http://schemas.openxmlformats.org/drawingml/2006/main">
                <a:srgbClr val="52718A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Порог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l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Data'!$G$2:$G$2</c:f>
              <c:numCache>
                <c:formatCode>General</c:formatCode>
                <c:ptCount val="1"/>
                <c:pt idx="0">
                  <c:v>0.069444</c:v>
                </c:pt>
              </c:numCache>
            </c:numRef>
          </c:xVal>
          <c:yVal>
            <c:numRef>
              <c:f>'Chart Data'!$H$2:$H$2</c:f>
              <c:numCache>
                <c:formatCode>0.0</c:formatCode>
                <c:ptCount val="1"/>
                <c:pt idx="0">
                  <c:v>0.525</c:v>
                </c:pt>
              </c:numCache>
            </c:numRef>
          </c:yVal>
        </c:ser>
        <c:ser>
          <c:idx val="4"/>
          <c:order val="4"/>
          <c:tx>
            <c:v>Среднее 3 мес.</c:v>
          </c:tx>
          <c:spPr>
            <a:solidFill xmlns:a="http://schemas.openxmlformats.org/drawingml/2006/main">
              <a:srgbClr val="52718A"/>
            </a:solidFill>
            <a:ln xmlns:a="http://schemas.openxmlformats.org/drawingml/2006/main" w="9525">
              <a:solidFill>
                <a:srgbClr val="52718A"/>
              </a:solidFill>
            </a:ln>
          </c:spPr>
          <c:marker>
            <c:symbol val="circle"/>
            <c:size val="10"/>
            <c:spPr>
              <a:solidFill xmlns:a="http://schemas.openxmlformats.org/drawingml/2006/main">
                <a:srgbClr val="52718A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Среднее 3 мес.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l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Data'!$I$2:$I$2</c:f>
              <c:numCache>
                <c:formatCode>General</c:formatCode>
                <c:ptCount val="1"/>
                <c:pt idx="0">
                  <c:v>0.069444</c:v>
                </c:pt>
              </c:numCache>
            </c:numRef>
          </c:xVal>
          <c:yVal>
            <c:numRef>
              <c:f>'Chart Data'!$J$2:$J$2</c:f>
              <c:numCache>
                <c:formatCode>0.0</c:formatCode>
                <c:ptCount val="1"/>
                <c:pt idx="0">
                  <c:v>0.344</c:v>
                </c:pt>
              </c:numCache>
            </c:numRef>
          </c:yVal>
        </c:ser>
        <c:ser>
          <c:idx val="5"/>
          <c:order val="5"/>
          <c:tx>
            <c:v>BOCPD</c:v>
          </c:tx>
          <c:spPr>
            <a:solidFill xmlns:a="http://schemas.openxmlformats.org/drawingml/2006/main">
              <a:srgbClr val="52718A"/>
            </a:solidFill>
            <a:ln xmlns:a="http://schemas.openxmlformats.org/drawingml/2006/main" w="9525">
              <a:solidFill>
                <a:srgbClr val="52718A"/>
              </a:solidFill>
            </a:ln>
          </c:spPr>
          <c:marker>
            <c:symbol val="circle"/>
            <c:size val="10"/>
            <c:spPr>
              <a:solidFill xmlns:a="http://schemas.openxmlformats.org/drawingml/2006/main">
                <a:srgbClr val="52718A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183B32"/>
                        </a:solidFill>
                        <a:latin typeface="Noto Sans"/>
                        <a:ea typeface="Noto Sans"/>
                        <a:cs typeface="Noto Sans"/>
                      </a:rPr>
                      <a:t>BOCPD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183B32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Data'!$K$2:$K$2</c:f>
              <c:numCache>
                <c:formatCode>General</c:formatCode>
                <c:ptCount val="1"/>
                <c:pt idx="0">
                  <c:v>0.092593</c:v>
                </c:pt>
              </c:numCache>
            </c:numRef>
          </c:xVal>
          <c:yVal>
            <c:numRef>
              <c:f>'Chart Data'!$L$2:$L$2</c:f>
              <c:numCache>
                <c:formatCode>0.0</c:formatCode>
                <c:ptCount val="1"/>
                <c:pt idx="0">
                  <c:v>0.092</c:v>
                </c:pt>
              </c:numCache>
            </c:numRef>
          </c:yVal>
        </c:ser>
        <c:ser>
          <c:idx val="6"/>
          <c:order val="6"/>
          <c:tx>
            <c:v>PELT (офлайн)</c:v>
          </c:tx>
          <c:spPr>
            <a:solidFill xmlns:a="http://schemas.openxmlformats.org/drawingml/2006/main">
              <a:srgbClr val="919A96"/>
            </a:solidFill>
            <a:ln xmlns:a="http://schemas.openxmlformats.org/drawingml/2006/main" w="9525">
              <a:solidFill>
                <a:srgbClr val="919A96"/>
              </a:solidFill>
            </a:ln>
          </c:spPr>
          <c:marker>
            <c:symbol val="diamond"/>
            <c:size val="10"/>
            <c:spPr>
              <a:solidFill xmlns:a="http://schemas.openxmlformats.org/drawingml/2006/main">
                <a:srgbClr val="919A96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62706C"/>
                        </a:solidFill>
                        <a:latin typeface="Noto Sans"/>
                        <a:ea typeface="Noto Sans"/>
                        <a:cs typeface="Noto Sans"/>
                      </a:rPr>
                      <a:t>PELT (офлайн)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62706C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l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Data'!$M$2:$M$2</c:f>
              <c:numCache>
                <c:formatCode>General</c:formatCode>
                <c:ptCount val="1"/>
                <c:pt idx="0">
                  <c:v>0.138889</c:v>
                </c:pt>
              </c:numCache>
            </c:numRef>
          </c:xVal>
          <c:yVal>
            <c:numRef>
              <c:f>'Chart Data'!$N$2:$N$2</c:f>
              <c:numCache>
                <c:formatCode>0.0</c:formatCode>
                <c:ptCount val="1"/>
                <c:pt idx="0">
                  <c:v>0.722</c:v>
                </c:pt>
              </c:numCache>
            </c:numRef>
          </c:yVal>
        </c:ser>
        <c:ser>
          <c:idx val="7"/>
          <c:order val="7"/>
          <c:tx>
            <c:v>Kernel (офлайн)</c:v>
          </c:tx>
          <c:spPr>
            <a:solidFill xmlns:a="http://schemas.openxmlformats.org/drawingml/2006/main">
              <a:srgbClr val="919A96"/>
            </a:solidFill>
            <a:ln xmlns:a="http://schemas.openxmlformats.org/drawingml/2006/main" w="9525">
              <a:solidFill>
                <a:srgbClr val="919A96"/>
              </a:solidFill>
            </a:ln>
          </c:spPr>
          <c:marker>
            <c:symbol val="diamond"/>
            <c:size val="10"/>
            <c:spPr>
              <a:solidFill xmlns:a="http://schemas.openxmlformats.org/drawingml/2006/main">
                <a:srgbClr val="919A96"/>
              </a:solidFill>
            </c:spPr>
          </c:marke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 b="0">
                        <a:solidFill>
                          <a:srgbClr val="62706C"/>
                        </a:solidFill>
                        <a:latin typeface="Noto Sans"/>
                        <a:ea typeface="Noto Sans"/>
                        <a:cs typeface="Noto Sans"/>
                      </a:rPr>
                      <a:t>Kernel (офлайн)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 b="0">
                      <a:solidFill>
                        <a:srgbClr val="62706C"/>
                      </a:solidFill>
                      <a:latin typeface="Noto Sans"/>
                      <a:ea typeface="Noto Sans"/>
                      <a:cs typeface="Noto Sans"/>
                    </a:defRPr>
                  </a:pPr>
                </a:p>
              </c:tx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xVal>
            <c:numRef>
              <c:f>'Chart Data'!$O$2:$O$2</c:f>
              <c:numCache>
                <c:formatCode>General</c:formatCode>
                <c:ptCount val="1"/>
                <c:pt idx="0">
                  <c:v>0.023148</c:v>
                </c:pt>
              </c:numCache>
            </c:numRef>
          </c:xVal>
          <c:yVal>
            <c:numRef>
              <c:f>'Chart Data'!$P$2:$P$2</c:f>
              <c:numCache>
                <c:formatCode>0.0</c:formatCode>
                <c:ptCount val="1"/>
                <c:pt idx="0">
                  <c:v>0.188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Noto Sans"/>
                  <a:ea typeface="Noto Sans"/>
                  <a:cs typeface="Not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85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CE6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Noto Sans"/>
                    <a:ea typeface="Noto Sans"/>
                    <a:cs typeface="Noto Sans"/>
                  </a:rPr>
                  <a:t>F1 начала шока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Noto Sans"/>
                  <a:ea typeface="Noto Sans"/>
                  <a:cs typeface="Noto San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0.17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Noto Sans"/>
                    <a:ea typeface="Noto Sans"/>
                    <a:cs typeface="Noto Sans"/>
                  </a:rPr>
                  <a:t>FAR: ложные тревоги / 100 МО-месяцев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Noto Sans"/>
                  <a:ea typeface="Noto Sans"/>
                  <a:cs typeface="Noto San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  <c:majorUnit val="0.04"/>
      </c:valAx>
      <c:spPr>
        <a:solidFill xmlns:a="http://schemas.openxmlformats.org/drawingml/2006/main">
          <a:srgbClr val="FAFCF9"/>
        </a:solidFill>
      </c:spPr>
    </c:plotArea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Орск минус Оренбург, п.п.</c:v>
          </c:tx>
          <c:spPr>
            <a:ln xmlns:a="http://schemas.openxmlformats.org/drawingml/2006/main" w="28575">
              <a:solidFill>
                <a:srgbClr val="0C825D"/>
              </a:solidFill>
            </a:ln>
          </c:spPr>
          <c:marker>
            <c:symbol val="none"/>
          </c:marker>
          <c:cat>
            <c:numRef>
              <c:f>'Chart Data'!$A$2:$A$13</c:f>
              <c:numCache>
                <c:formatCode>General</c:formatCod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'Chart Data'!$B$2:$B$13</c:f>
              <c:numCache>
                <c:formatCode>0.0</c:formatCode>
                <c:ptCount val="12"/>
                <c:pt idx="0">
                  <c:v>2.68</c:v>
                </c:pt>
                <c:pt idx="1">
                  <c:v>2.031</c:v>
                </c:pt>
                <c:pt idx="2">
                  <c:v>1.836</c:v>
                </c:pt>
                <c:pt idx="3">
                  <c:v>3.15</c:v>
                </c:pt>
                <c:pt idx="4">
                  <c:v>9.194</c:v>
                </c:pt>
                <c:pt idx="5">
                  <c:v>6.232</c:v>
                </c:pt>
                <c:pt idx="6">
                  <c:v>6.109</c:v>
                </c:pt>
                <c:pt idx="7">
                  <c:v>4.339</c:v>
                </c:pt>
                <c:pt idx="8">
                  <c:v>4.175</c:v>
                </c:pt>
                <c:pt idx="9">
                  <c:v>6.009</c:v>
                </c:pt>
                <c:pt idx="10">
                  <c:v>3.509</c:v>
                </c:pt>
                <c:pt idx="11">
                  <c:v>2.397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"/>
                  <a:ea typeface="Noto Sans"/>
                  <a:cs typeface="Noto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"/>
                    <a:ea typeface="Noto Sans"/>
                    <a:cs typeface="Noto Sans"/>
                  </a:rPr>
                  <a:t>Месяц 2024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"/>
                  <a:ea typeface="Noto Sans"/>
                  <a:cs typeface="Noto San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11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CF9"/>
        </a:solidFill>
      </c:spPr>
    </c:plotArea>
    <c:plotVisOnly val="1"/>
  </c:chart>
  <c:spPr>
    <a:solidFill xmlns:a="http://schemas.openxmlformats.org/drawingml/2006/main">
      <a:srgbClr val="FAFCF9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6DDF0-A114-4F9B-8AF0-2522D670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Расходы муниципалитетов</a:t>
            </a:r>
          </a:p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 сигналы изменений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A3F92-A3FF-4A9D-B6AE-F9AA1C61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2DD71-BDFF-4776-BFD2-A6768ADD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СберИндекс · задача №2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0C12A-2880-476A-BF52-5F8CD4D4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Автор проекта: NikitaMeshDS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A101B-E527-42AC-ADDD-9FCBF8B2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7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Прогноз на 1, 3, 6 и 12 месяцев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C08D5-0EF1-4288-B213-13B7D1E8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88582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Сезонная модель с поправкой роста</a:t>
            </a:r>
          </a:p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 обнаружение изменений методом EWMA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1ADD8-AC4E-48A4-937C-278861AA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9191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c46484955b9447b8"/>
              </a:rPr>
              <a:t>github.com/NikitaMeshDS/sberindex-task2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1C003-AA78-4855-9884-54313B6F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9191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4ccbbe2cfd60433f"/>
              </a:rPr>
              <a:t>nikitameshds.github.io/sberindex-task2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f6fc97860496d"/>
          <a:stretch xmlns:a="http://schemas.openxmlformats.org/drawingml/2006/main"/>
        </p:blipFill>
        <p:spPr>
          <a:xfrm xmlns:a="http://schemas.openxmlformats.org/drawingml/2006/main">
            <a:off x="9525000" y="1809750"/>
            <a:ext cx="1981200" cy="19812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F62DF4-55FE-4DE3-834E-328D9F70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905250"/>
            <a:ext cx="22193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GitHub: открытый доступ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6FCAA-8FA9-4139-B558-09F58C81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962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Данные 2023–2024 · готовые материалы для самостоятельной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4230888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E2FE3-A69F-4A28-9598-CD9B7CE8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Итоги и карта семи критериев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A7C0C-604F-4877-A494-41CF4E9E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2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86B53-4835-48BD-B16B-820E2441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¹ К одному Prophet с профилем; интервалы условны на 2024. ² Ложные тревоги / 100 МО-месяцев на синтетике.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06B76-BAF6-4597-95F1-0DF588DB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MAE −42 / −23 / −28 / −56%¹ · EWMA F1 0,647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981200"/>
          <a:ext xmlns:a="http://schemas.openxmlformats.org/drawingml/2006/main" cx="10972800" cy="37814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762000"/>
                <a:gridCol w="5429250"/>
                <a:gridCol w="2495550"/>
              </a:tblGrid>
              <a:tr h="47267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Критерий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Вес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Доказательство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Слайды / отчёт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Методология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Формула и объяснение словами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 / §1 и 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Прогноз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 моделей, 4 горизонта и выбор по MAE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5–9 / §3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Детекторы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20%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8 методов, точность и ложные тревоги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13–15 / §5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Готовые модели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Сравнение, преимущества и ограничения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5, 10–11 / §4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Новости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15%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Два канала: прогноз и поиск изменений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16 / §6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Метрики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MAE, R² и объяснение каждой метрики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5–7 / §3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26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Интерпретация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Примеры МО и воспроизведение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12, 15, 17, 20 / §7–8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1322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CBF922-42EC-48E8-A1E5-E047B642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Данные и временная 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36220-3B37-4F08-8D8B-838BBAD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3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CB86A-B240-4050-99F3-846E2BF5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Исторические версии данных и сроки выпуска расходов неизвестны. Расчёт использует сценарий лага 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403C3-9499-4100-9E38-15E1FFC1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СберИндекс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2CDC3-9BBB-4FC2-A3E6-E010C9DF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352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2 190 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274EC-4BB3-42DD-AB18-EBD24C59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4766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24 месяца · 6 категорий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Средние расходы жителя, руб.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F1BD8-8F62-4B28-BB5A-F3C42C05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573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География и Росстат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A6A5E0-33E8-4A21-A308-06A21490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52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2 075 МО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21B83-8277-4C2A-9736-304527C8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09950"/>
            <a:ext cx="34766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Положительная история 2023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Рост зарплат: выпуск 27.12.2023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6AF39-97E8-4E7B-9B57-0AFF60BA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Временная проверка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A2728-66E9-4AEE-8211-A4F0C0E2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19350"/>
            <a:ext cx="352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35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1 / 3 / 6 / 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B7776-C125-4673-8E8E-E2CF0C09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09950"/>
            <a:ext cx="3476625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Горизонты в месяцах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Профили строим по 2023 году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3E99E-BA3E-409D-94B8-BC60F312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Факты для оценки: 2031 / 2031 / 2029 / 2023 МО</a:t>
            </a:r>
          </a:p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Внешние источники соединяем по дате доступности и территории</a:t>
            </a:r>
          </a:p>
        </p:txBody>
      </p:sp>
    </p:spTree>
    <p:extLst>
      <p:ext uri="{BB962C8B-B14F-4D97-AF65-F5344CB8AC3E}">
        <p14:creationId xmlns:p14="http://schemas.microsoft.com/office/powerpoint/2010/main" val="16500538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6342E-C36A-405E-A7BD-3D145665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Одна модель для четырёх горизонтов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3929B-C782-4E7F-BF43-10B08FC8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4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395CC-40C3-4951-8033-B628359B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17,2% — номинальный рост зарплат за октябрь 2023; опубликован 27.12.2023, затем заморожен.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0d1bf9d8442b2"/>
          <a:stretch xmlns:a="http://schemas.openxmlformats.org/drawingml/2006/main"/>
        </p:blipFill>
        <p:spPr>
          <a:xfrm xmlns:a="http://schemas.openxmlformats.org/drawingml/2006/main">
            <a:off x="2576664" y="1514475"/>
            <a:ext cx="6543371" cy="100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1B817-3749-4F45-AE27-E0AC1429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Берём текущий уровень, сдвигаем по сезонному профилю;</a:t>
            </a:r>
          </a:p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при переходе через Новый год добавляем годовой рост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6E9E7-7701-4FFF-AFCF-31F4FE99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Профиль = 0,5 × общий профиль + 0,5 × профиль региона</a:t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k — число переходов года; g = 0,172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C576D-8371-4E62-8379-D03CAABC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Выбор одной модели по MAE ранних целей h1 / h3 / h6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h12 не участвует в выборе; поздние цели показаны отдельно</a:t>
            </a:r>
          </a:p>
        </p:txBody>
      </p:sp>
    </p:spTree>
    <p:extLst>
      <p:ext uri="{BB962C8B-B14F-4D97-AF65-F5344CB8AC3E}">
        <p14:creationId xmlns:p14="http://schemas.microsoft.com/office/powerpoint/2010/main" val="1604107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C8FB8-7133-4AD3-BAEC-85FE72D4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Модель обходит Prophet на всех горизонтах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9D363-AC65-4FEC-B55F-DE28B13F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5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B5C33-0572-4C58-A714-C6F40CD5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MAE: руб./жителя. 2031 / 2031 / 2029 / 2023 МО; 12 / 10 / 7 / 1 дат. R² h1 — изменения внутри МО. HGB h12: нет обучаемых примеров.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C1CFA-46BA-4265-BDE4-B3281D21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095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MAE, руб./жителя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857375"/>
          <a:ext xmlns:a="http://schemas.openxmlformats.org/drawingml/2006/main" cx="5524500" cy="3267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91729207474cd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5033B-B8A2-4046-8601-F5105AA9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19225"/>
            <a:ext cx="5219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Полная панель: десять моделей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324600" y="1895475"/>
          <a:ext xmlns:a="http://schemas.openxmlformats.org/drawingml/2006/main" cx="5257800" cy="32099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33550"/>
                <a:gridCol w="704850"/>
                <a:gridCol w="704850"/>
                <a:gridCol w="704850"/>
                <a:gridCol w="704850"/>
                <a:gridCol w="704850"/>
              </a:tblGrid>
              <a:tr h="291811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Модель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h3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h6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h12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R² h1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Seasonal naive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4 086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4 352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4 359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4 701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-1.429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Prophet: базовый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1 815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1 766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2 171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2 906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0.240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Prophet: Fourier 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2 351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2 467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2 904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7 433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-0.832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Prophet + проф.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1 595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1 659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1 917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2 989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0.451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Сезонный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984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1 626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1 922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4 701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0.782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Иерархия 0,5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1 521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4 701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0.804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Direct HGB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2 147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1 258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3 176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-0.765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Chronos-2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2 154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2 710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4 036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9 458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Chronos + ков.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1 924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2 556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3 588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8 927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0.262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291811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Иерархия + рост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932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1 272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1 371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1 321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0.819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2B12B-B2BA-4544-AC62-6BCE8D60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Единый контроль на графике и в интервалах: Prophet с сезонным профилем.</a:t>
            </a:r>
          </a:p>
          <a:p xmlns:a="http://schemas.openxmlformats.org/drawingml/2006/main">
            <a:pPr>
              <a:defRPr sz="165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Снижение MAE: 42 / 23 / 28 / 56% на горизонтах 1 / 3 / 6 / 12 месяцев.</a:t>
            </a:r>
          </a:p>
        </p:txBody>
      </p:sp>
    </p:spTree>
    <p:extLst>
      <p:ext uri="{BB962C8B-B14F-4D97-AF65-F5344CB8AC3E}">
        <p14:creationId xmlns:p14="http://schemas.microsoft.com/office/powerpoint/2010/main" val="12904066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4A97E-E276-4DA7-8976-4E4C476E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Неопределённость выигрыша прогноза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BA1BB-7D5D-4873-8FBB-90D4654E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6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C542A-D575-4292-819C-8EF0F3D8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Интервалы выигрыша не содержат ноль. Узкое семейство h1/h3 исследовательское и добавлено после просмотра результатов.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667000"/>
                <a:gridCol w="3238500"/>
                <a:gridCol w="5067300"/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Горизонт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Снижение MAE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95% по регионам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 мес.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41.5%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37.2–45.5%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 мес.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23.3%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19.6–26.7%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6 мес.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28.5%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24.6–32.1%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12 мес.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55.8%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50.5–61.0%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89365-0F61-4834-977F-E7A3A6B2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Единый контроль: Prophet с сезонным профилем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2500 повторных выборок МО и регионов целиком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5B108-EA5B-48A9-9D55-8D3D8BF1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По датам, чувствительность Holm h1/h3: p = 0,034 / 0,307</a:t>
            </a:r>
          </a:p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Шесть тестов: p h1 = 0,102; h12: временной тест не определён</a:t>
            </a:r>
          </a:p>
        </p:txBody>
      </p:sp>
    </p:spTree>
    <p:extLst>
      <p:ext uri="{BB962C8B-B14F-4D97-AF65-F5344CB8AC3E}">
        <p14:creationId xmlns:p14="http://schemas.microsoft.com/office/powerpoint/2010/main" val="19639538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96064-9343-40AC-853F-58005B40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Как читать метрики качества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FFED3-F52A-42AA-A9D7-860F962A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7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B6490-5203-4D4B-9641-D8E27978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MAE усредняем по датам. WAPE считаем по всем парам; это разные способы взвешивания ошибок.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2957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2476500"/>
                <a:gridCol w="6210300"/>
              </a:tblGrid>
              <a:tr h="5369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Метрика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Что означает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MAE / WAPE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932 руб. / 3.04%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Средняя абсолютная ошибка на жителя. WAPE: сумма ошибок / сумма расходов.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R² внутри МО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0,819 на h1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Квадратичная ошибка на 82% ниже сравнения со средним фактом каждого МО.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Отрицательный R²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Naive, Fourier 3, HGB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R² &lt; 0: модель хуже среднего значения МО в оценочном окне.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95% интервал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Выигрыш выше нуля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Региональная выборка поддерживает выигрыш на 2024. Независимый временной тест не заменяет.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F1 / FAR / задержка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0,647 / 0,046 / 0,54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F1: баланс точности и полноты начала. FAR: ложные тревоги / 100 МО-месяцев. Задержка: по найденным.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Интервальный штраф IS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3237 → 4362 руб.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Ширина плюс штраф за промах. Меньше лучше; ×1,5 здесь проигрывает.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69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Нагрузка тревог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0,597 → 0,075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Эпизоды на 100 МО-месяцев: очередь проверки меньше в 8 раз. Реальные ложные тревоги неизвестны.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62284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430EE-DF31-40AC-ABC8-B0E5FB5D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Результат устойчив к росту 7–17%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68297-91C0-466F-9FAC-CB75F770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8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72130-AE74-448A-875E-4B55C80A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Сохранённый архив 2024; не независимое доказательство переноса. Все переходы года — из декабря 2023.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524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429000"/>
                <a:gridCol w="1885950"/>
                <a:gridCol w="1885950"/>
                <a:gridCol w="1885950"/>
                <a:gridCol w="1885950"/>
              </a:tblGrid>
              <a:tr h="631031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Поправка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h3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h6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h12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Без роста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937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1 521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1 909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4 701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ИПЦ: 7,48%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849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1 636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2 425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Зарплаты: 17,2%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932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1 272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1 371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1 321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7AE45-33DE-4D90-84D0-B87C575F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Любая ставка 7–17% снижает MAE к лучшему проверенному Prophet</a:t>
            </a:r>
          </a:p>
          <a:p xmlns:a="http://schemas.openxmlformats.org/drawingml/2006/main">
            <a:pPr>
              <a:def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на всех четырёх горизонтах: проверены границы выпуклой ошибки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720B3-C2CE-4A65-BD2C-7F770636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ИПЦ лучше на h1; зарплатная поправка — на h3 / h6 / h12</a:t>
            </a:r>
          </a:p>
        </p:txBody>
      </p:sp>
    </p:spTree>
    <p:extLst>
      <p:ext uri="{BB962C8B-B14F-4D97-AF65-F5344CB8AC3E}">
        <p14:creationId xmlns:p14="http://schemas.microsoft.com/office/powerpoint/2010/main" val="9309685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0A42B-AC34-4FDA-A746-7CB2A205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Перенос модели на другие категории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32E9B-C690-470B-B86A-64F8C2EE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9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4A5A02-C261-4CCA-BF46-50E479E4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Одна формула и рост 17,2%, без перенастройки. Снижение MAE к заранее закреплённому Prophet с профилем; отрицательное значение — проигрыш.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000500"/>
                <a:gridCol w="1743075"/>
                <a:gridCol w="1743075"/>
                <a:gridCol w="1743075"/>
                <a:gridCol w="1743075"/>
              </a:tblGrid>
              <a:tr h="455839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Категория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h1, %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h3, %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h6, %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h12, %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Все категории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41.5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23.3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28.5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55.8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Здоровье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9.9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28.4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Маркетплейсы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1.2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-34.7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-48.1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-57.6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Общественное питание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47.3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34.3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38.7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54.9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Продовольствие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51.1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36.7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22.3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-86.8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45583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Транспорт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31.5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17.5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26.0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52.1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DD39E-B05F-44EE-98C7-8BF1574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Единого преимущества на всех категориях нет</a:t>
            </a:r>
          </a:p>
          <a:p xmlns:a="http://schemas.openxmlformats.org/drawingml/2006/main">
            <a:pPr>
              <a:defRPr sz="195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Prophet настроен по общей сумме; категории отдельно не настраивались</a:t>
            </a:r>
          </a:p>
        </p:txBody>
      </p:sp>
    </p:spTree>
    <p:extLst>
      <p:ext uri="{BB962C8B-B14F-4D97-AF65-F5344CB8AC3E}">
        <p14:creationId xmlns:p14="http://schemas.microsoft.com/office/powerpoint/2010/main" val="11152167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7F88F-0C50-481F-8F4A-39382648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Год истории: сезонная модель сильнее готовых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6730E-A1B1-48CA-B171-E63FD158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10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D8F6B-358C-4204-90AB-1EB8D7EA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Одинаковые 7532 пары: 251 / 251 / 252 / 252 МО. MAE в рублях. Современное предобучение ограничивает ретроспективные выводы.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362075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34203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Модель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h3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h6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h12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Сезонный контроль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979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1 633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1 914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4 854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Выбранная модель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921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1 246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1 338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1 357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TimesFM 2.5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2 078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2 695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4 148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9 134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TimesFM · отношение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1 147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2 010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2 701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4 966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Moirai 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2 535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2 972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3 664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12 613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Moirai · отношение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1 801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2 302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7 369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TiRex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2 368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3 232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5 321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12 373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TiRex · отношение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1 204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2 360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3 519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5 047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Bolt · исходный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2 416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2 777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4 353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10 587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Bolt · одна эпоха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1 886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2 367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3 901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10 824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A898A-138B-4F19-BF19-25CBB490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Работают без дообучения на МО с историей</a:t>
            </a:r>
          </a:p>
          <a:p xmlns:a="http://schemas.openxmlformats.org/drawingml/2006/main">
            <a:pPr>
              <a:defRPr sz="180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На МО без истории не проверялись</a:t>
            </a:r>
          </a:p>
        </p:txBody>
      </p:sp>
    </p:spTree>
    <p:extLst>
      <p:ext uri="{BB962C8B-B14F-4D97-AF65-F5344CB8AC3E}">
        <p14:creationId xmlns:p14="http://schemas.microsoft.com/office/powerpoint/2010/main" val="4681735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4F672-0BC0-4511-89D2-62AA6C9F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Foundation-модели: преимущества и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4F2D1-B9C4-4CAA-B25F-D127D42D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11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59730-0F36-4127-AD0E-B662C434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Контроли различаются: уменьшение ошибки внутри семейства не означает превосходства выбранной сезонной модели.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8C236-D4BD-46B8-AA68-0E09DD79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Преимущества в экспериментах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36B98-315B-4E11-BB46-EA9317BA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38162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Без дообучения на новых МО с историей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TimesFM: сезонное отношение</a:t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−45% MAE на h1 к zero-shot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Bolt: одна эпоха обучения −22% на h1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Групповой Chronos-2: −27% на h1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583D1-B50A-4810-981C-8DDD225C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573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Границы применения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0414C-7EEC-4048-A25D-8A7F5F0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90800"/>
            <a:ext cx="5238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Год истории даёт один сезонный цикл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Ошибка h12 в 3,7–9,3 раза выше</a:t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выбранной модели на той же выборке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Состав предобучения неизвестен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Применение без истории не проверяли</a:t>
            </a:r>
          </a:p>
        </p:txBody>
      </p:sp>
    </p:spTree>
    <p:extLst>
      <p:ext uri="{BB962C8B-B14F-4D97-AF65-F5344CB8AC3E}">
        <p14:creationId xmlns:p14="http://schemas.microsoft.com/office/powerpoint/2010/main" val="4207256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35E62-B833-4321-AE78-ABC144C1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Реальные МО: факт, прогноз и интервал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FA9C3-8EC9-41A7-8569-58661E42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12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71369-DF27-45C7-8F9E-038E377F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Скользящие прогнозы h1. Иллюстративные 80% интервалы: ошибки трёх прошлых месяцев, масштаб 2023; лаг 0, гарантий покрытия нет.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A8028-D58B-4280-9334-B141925E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Факт — тёмная линия · прогноз — зелёная · светлые линии — границы интервала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FB54C-C0B5-4507-A2CE-0D728EF6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Уфа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3571875" cy="2743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4967f50148430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649ED-20F2-4CD1-A661-629DB025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Крупный город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9F71C-83CC-4333-8CF3-F4BDAA0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943100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Яльчикский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4352925" y="2571750"/>
          <a:ext xmlns:a="http://schemas.openxmlformats.org/drawingml/2006/main" cx="3571875" cy="2743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8b7646f8344f3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C7815-1F64-455C-BC12-188AAA05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4102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Район с низкими расходами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E2ED1-CAF1-4D6A-84BB-E4BB44CE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Орск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096250" y="2571750"/>
          <a:ext xmlns:a="http://schemas.openxmlformats.org/drawingml/2006/main" cx="3571875" cy="2743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28683c8ac1423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46937D-9F72-489B-AE57-6BAA713B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57500"/>
            <a:ext cx="19050" cy="2047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6A2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68BF4-39A1-412F-9745-AEEAEEA3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505075"/>
            <a:ext cx="2619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16A2E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B16A2E"/>
                </a:solidFill>
                <a:latin typeface="Noto Sans"/>
                <a:ea typeface="Noto Sans"/>
                <a:cs typeface="Noto Sans"/>
              </a:rPr>
              <a:t>Апрель: паводок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CDC249-02B6-44B5-9B8E-3B8450F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102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Паводок: кейс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6537109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2E274-A030-4AF4-A8F5-92630DDD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EWMA: лучший онлайн F1 и минимальный FAR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1AF1C-9402-4A82-93D9-D43F0385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13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598AF-3A20-4346-8178-F31D9CCD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Ложные тревоги — на синтетике, на 100 МО-месяцев. Задержка только по найденным началам; пропущенные события исключены.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6953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dd2b272e194129"/>
          </a:graphicData>
        </a:graphic>
      </p:graphicFrame>
      <p:graphicFrame>
        <p:nvGraphicFramePr>
          <p:cNvPr id="12" name=""/>
          <p:cNvGraphicFramePr/>
          <p:nvPr/>
        </p:nvGraphicFramePr>
        <p:xfrm>
          <a:off xmlns:a="http://schemas.openxmlformats.org/drawingml/2006/main" x="7677150" y="1752600"/>
          <a:ext xmlns:a="http://schemas.openxmlformats.org/drawingml/2006/main" cx="3905250" cy="32099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714375"/>
                <a:gridCol w="714375"/>
                <a:gridCol w="666750"/>
              </a:tblGrid>
              <a:tr h="35665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Метод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FAR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Мес.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EWMA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0.647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0.046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0.54</a:t>
                      </a:r>
                    </a:p>
                  </a:txBody>
                  <a:tcPr marL="91440" marR="91440" marT="45720" marB="45720">
                    <a:solidFill>
                      <a:srgbClr val="D9EEE2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CUSUM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0.602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CUSUM + разовый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0.598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0.093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0.38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Разовый порог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0.525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Среднее 3 мес.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0.344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0.069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0.99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BOCPD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0.093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PELT*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0.722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0.139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</a:tr>
              <a:tr h="356658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Kernel*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0.188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0.023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E5E8E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18465-8519-4FE5-924F-7332EE64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577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Серые ромбы и *: офлайн, используют будущий ряд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D9C5E-E513-4A71-AE86-8A2534A8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68770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EWMA: F1 0,647 при FAR 0,046. Задержка 0,54 мес.</a:t>
            </a:r>
          </a:p>
          <a:p xmlns:a="http://schemas.openxmlformats.org/drawingml/2006/main">
            <a:pPr>
              <a:def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420 начал найдены, 300 пропущены.</a:t>
            </a:r>
          </a:p>
        </p:txBody>
      </p:sp>
    </p:spTree>
    <p:extLst>
      <p:ext uri="{BB962C8B-B14F-4D97-AF65-F5344CB8AC3E}">
        <p14:creationId xmlns:p14="http://schemas.microsoft.com/office/powerpoint/2010/main" val="10307655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B547E-BD97-4CFC-BEB8-A85F5D7A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Региональный остаток выделяет локальный сигнал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A2758-905B-4BEB-8EC1-70F69F3C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14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7D382-9009-46BB-9797-BF169998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Весь доступный ряд сравнен с прежними порогами. Частота тревог — нагрузка мониторинга, не ложные срабатывания.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9089b437e4e9c"/>
          <a:stretch xmlns:a="http://schemas.openxmlformats.org/drawingml/2006/main"/>
        </p:blipFill>
        <p:spPr>
          <a:xfrm xmlns:a="http://schemas.openxmlformats.org/drawingml/2006/main">
            <a:off x="1688856" y="1409700"/>
            <a:ext cx="8814288" cy="100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02F92-EC33-4CEF-A951-01DBB51E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Только другие МО региона и факты того же доступного месяца</a:t>
            </a:r>
          </a:p>
          <a:p xmlns:a="http://schemas.openxmlformats.org/drawingml/2006/main">
            <a:pPr>
              <a:def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Не менее 5 соседей; пропуски остаются неизвестными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3790950"/>
          <a:ext xmlns:a="http://schemas.openxmlformats.org/drawingml/2006/main" cx="10972800" cy="18478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14750"/>
                <a:gridCol w="2190750"/>
                <a:gridCol w="2571750"/>
                <a:gridCol w="2495550"/>
              </a:tblGrid>
              <a:tr h="615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Остаток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МО-месяцы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Эпизоды EWMA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На 100 месяцев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Собственный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24 282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145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0.597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Относительно региона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24 081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0.075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8253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80459-A078-4B38-8656-382071D0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Орск: локальный сигнал на фоне региона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D930F-F7EA-46DC-B213-010DE913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15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F074B-EC8E-4FAF-8779-E02C0537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Орск минус Оренбург, годовой рост: +7,18 п.п. в мае–июле. Выбранное описательное окно; причинный эффект не установлен.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543050"/>
          <a:ext xmlns:a="http://schemas.openxmlformats.org/drawingml/2006/main" cx="109728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86b668a28e4dd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B09C1-CAD3-4EC2-B643-1BE3F683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Май: положительный региональный остаток — 16-е место из 2012 МО</a:t>
            </a:r>
          </a:p>
          <a:p xmlns:a="http://schemas.openxmlformats.org/drawingml/2006/main">
            <a:pPr>
              <a:defRPr sz="20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EWMA: 0,0345 &lt; порога 0,0743; автоматической тревоги нет</a:t>
            </a:r>
          </a:p>
        </p:txBody>
      </p:sp>
    </p:spTree>
    <p:extLst>
      <p:ext uri="{BB962C8B-B14F-4D97-AF65-F5344CB8AC3E}">
        <p14:creationId xmlns:p14="http://schemas.microsoft.com/office/powerpoint/2010/main" val="604076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E1CA-E3A3-4328-848B-01E14722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Новости входят в прогноз и поиск изменений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9406D-327E-4455-917A-E12405B2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16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07B72-DF5F-4B7E-A559-CD60FFA1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Прогноз: исходный реестр; детекция: расширенный корпус. ×1,5 — гипотеза, не калиброванная по новостям.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D0940-5357-4CCA-98BB-A789A464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971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Официальный</a:t>
            </a:r>
          </a:p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текст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34AD8-86F0-4800-9959-18DE63F0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097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7E956-C411-4BFE-AC4F-8DD15FB7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76375"/>
            <a:ext cx="1971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Qwen</a:t>
            </a:r>
          </a:p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JSON события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EB2AA-223F-4955-8990-94ACA0CF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097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8F3521-07F7-4D07-85F2-8192E663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76375"/>
            <a:ext cx="1971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Проверка</a:t>
            </a:r>
          </a:p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точной цитаты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5984E-3ED9-4E86-BB3B-908AC3D8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8097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81812-4557-46CF-8149-D5A8C61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76375"/>
            <a:ext cx="1971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Территория</a:t>
            </a:r>
          </a:p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ID / регион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29622-EDB8-4FC4-9981-C8883470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BC4A9-F6E9-441D-B62B-C5C884AA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476375"/>
            <a:ext cx="1971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Доступность</a:t>
            </a:r>
          </a:p>
          <a:p xmlns:a="http://schemas.openxmlformats.org/drawingml/2006/main">
            <a:pPr>
              <a:def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публикация +1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1C8E5-E636-41E9-9A2F-5E0BC02E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103 текстов; 12 фрагментов с цитатой; 3 ID МО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9FF54-E78F-423E-BCF8-BF5FE1C0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Новости в прогнозе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36B25-A7EE-438B-90B9-9AA0C734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53816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Новость известна к дате прогноза</a:t>
            </a:r>
          </a:p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Точка прежняя; радиус интервала ×1,5</a:t>
            </a:r>
          </a:p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Покрытие: 17/18 → 17/18 (94,4%)</a:t>
            </a:r>
          </a:p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Ширина: 2 852 → 4 278 руб.</a:t>
            </a:r>
          </a:p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Штраф IS: 3 237 → 4 362 руб.</a:t>
            </a:r>
          </a:p>
          <a:p xmlns:a="http://schemas.openxmlformats.org/drawingml/2006/main">
            <a:pPr>
              <a:def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Выигрыша нет; 18 пар, 6 дат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C9977-E076-42C6-9FAE-1F32D639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337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Новости в детекторе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E3D7C-7988-4000-A31E-8BF847BC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52387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Только явно названные МО</a:t>
            </a:r>
          </a:p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Порог × 0,75 на два месяца</a:t>
            </a:r>
          </a:p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145 → 145 эпизодов; 2 МО в панели</a:t>
            </a:r>
          </a:p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Сравнение с прежним порогом</a:t>
            </a:r>
          </a:p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Упоминание события не доказывает шок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B5CAAA-FF65-49F6-947C-7DDF2D33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Прогноз: python -m sberindex.external.news_interval_review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C427DE-BA65-47AE-B81F-218A7B11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Детекция: python -m sberindex.external.news_body_recovery</a:t>
            </a:r>
          </a:p>
        </p:txBody>
      </p:sp>
    </p:spTree>
    <p:extLst>
      <p:ext uri="{BB962C8B-B14F-4D97-AF65-F5344CB8AC3E}">
        <p14:creationId xmlns:p14="http://schemas.microsoft.com/office/powerpoint/2010/main" val="18204789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7AAAB0-71ED-46C3-A093-FA0A7529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Архитектура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131D7-5778-4B46-8F14-64E5CC89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17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51847-323E-4776-A7D2-172751ED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Конфигурации, исходные снимки и индивидуальные результаты сохранены вместе с происхождением и SHA256.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599EF-0216-420E-87B3-287058E7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971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Данные</a:t>
            </a:r>
          </a:p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 версии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41509-B507-4886-9C2F-A82F5C59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002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929634-C010-4424-994D-7291175F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971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Признаки</a:t>
            </a:r>
          </a:p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сезонность / рост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CBFAF-267F-41CB-A029-80749150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002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8B35D-E8CD-407E-AF42-8422DE8E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33550"/>
            <a:ext cx="1971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Модель</a:t>
            </a:r>
          </a:p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4 горизонта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10FFC-DEE6-4BC4-9C44-4E0D7D6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002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DA573-4F75-45A3-A079-950D4B78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33550"/>
            <a:ext cx="1971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E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Детектор</a:t>
            </a:r>
          </a:p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МО / регион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65DF9-545D-4DEE-AE21-E7956F02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02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C825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BBCDE-641A-44AF-B9D4-9C5B1B69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733550"/>
            <a:ext cx="1971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E2"/>
          </a:solidFill>
          <a:ln xmlns:a="http://schemas.openxmlformats.org/drawingml/2006/main" w="9525">
            <a:solidFill>
              <a:srgbClr val="A5C2B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Аналитик</a:t>
            </a:r>
          </a:p>
          <a:p xmlns:a="http://schemas.openxmlformats.org/drawingml/2006/main">
            <a:pPr>
              <a:def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проверка сигнала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E27D5-28C3-4094-B520-AD49B250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Новости → доступность и территория → контекст для аналитика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CF290-FDBD-4508-8920-ACB1F6B2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Что получает аналитик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C6653-461B-40EF-86CC-3B8143DD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Прогноз расходов · величина отклонения · подтверждающие источники</a:t>
            </a:r>
          </a:p>
          <a:p xmlns:a="http://schemas.openxmlformats.org/drawingml/2006/main">
            <a:pPr>
              <a:def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Очередь эпизодов для проверки; интерфейс показывает сохранённые 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643896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390F8-D446-4535-BE70-37860E44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2025: две версии роста сохранены для проверки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601682-6D92-45F2-AFC4-A7572DEE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18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C25C0-5520-43E6-8617-A1840395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Расчёт 07.10.2026 без муниципальных фактов 2025. Правило предложено после изучения 2024 и сообщения об агрегате 2025.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61DE9-8A92-40E4-B096-0E282C7D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В каждом файле: 8 092 прогноза · 2 023 одинаковых МО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1524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6619875"/>
                <a:gridCol w="2066925"/>
              </a:tblGrid>
              <a:tr h="50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Версия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Правило роста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Рост (медиана)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Исходная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Рост зарплат Росстата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17,2%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Новый кандидат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Медиана годового роста региона за 3 месяца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14,79%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FC13D-7D61-47DB-9DCD-BD067E44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Недостаточно годовой истории → документированный макроисточник</a:t>
            </a:r>
          </a:p>
          <a:p xmlns:a="http://schemas.openxmlformats.org/drawingml/2006/main">
            <a:pPr>
              <a:def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Медианный прогноз кандидата ниже на 2,05%; диапазон −6,01…+3,16%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CDCD8-8A46-49E9-B7D7-A44D2E03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2025: проверка покажет поведение при замедлении роста</a:t>
            </a:r>
          </a:p>
          <a:p xmlns:a="http://schemas.openxmlformats.org/drawingml/2006/main">
            <a:pPr>
              <a:defRPr sz="1875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Оба файла, входы и код имеют SHA256; прежний ансамбль также сохранён</a:t>
            </a:r>
          </a:p>
        </p:txBody>
      </p:sp>
    </p:spTree>
    <p:extLst>
      <p:ext uri="{BB962C8B-B14F-4D97-AF65-F5344CB8AC3E}">
        <p14:creationId xmlns:p14="http://schemas.microsoft.com/office/powerpoint/2010/main" val="208934021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E31AB-FB1F-4F63-9E4E-EB82E9DC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Границы доверия к результатам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BB540-7445-466E-8E38-B9034DD9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19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13E72-7BCC-491B-8083-252A7E78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Архив 2024 многократно изучен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935AC-0370-479A-B4CE-32BFF3CE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Независимого временного теста нет. На h12 одна целевая дата.</a:t>
            </a:r>
          </a:p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Интервалы по регионам условны на этих данных.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D9CCF-458B-4986-A3AF-46A877DB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Ограничения детекции и внешних источников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E7DCD-6B54-4846-87E5-59DD0D39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9728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В реальной панели шоки не размечены; частота ложных тревог неизвестна.</a:t>
            </a:r>
          </a:p>
          <a:p xmlns:a="http://schemas.openxmlformats.org/drawingml/2006/main">
            <a:pPr>
              <a:def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Расходные интервалы примеров иллюстративны.</a:t>
            </a:r>
          </a:p>
          <a:p xmlns:a="http://schemas.openxmlformats.org/drawingml/2006/main">
            <a:pPr>
              <a:def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Историческая доступность источников не подтверждена.</a:t>
            </a:r>
          </a:p>
          <a:p xmlns:a="http://schemas.openxmlformats.org/drawingml/2006/main">
            <a:pPr>
              <a:def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8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Предсказание будущих реальных шоков не доказано.</a:t>
            </a:r>
          </a:p>
        </p:txBody>
      </p:sp>
    </p:spTree>
    <p:extLst>
      <p:ext uri="{BB962C8B-B14F-4D97-AF65-F5344CB8AC3E}">
        <p14:creationId xmlns:p14="http://schemas.microsoft.com/office/powerpoint/2010/main" val="4307202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AA868-5745-491E-B69B-8DDD5699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Практические выводы из исследования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0319F-A0DB-4A6F-AA71-07D44051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20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4904B-2140-4FC9-A660-6F174123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Результаты относятся к изученному архиву 2024. Полные условия и ограничения — в отчёте.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8B5CC-2084-4511-8384-2F4D2C8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Сезонный профиль задаёт сильный ориентир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38744-E39C-4D54-8361-B6267015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На всех горизонтах ошибка в 1,3–2,3 раза ниже Prophet с профилем на архиве 2024.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D56C7-8914-481B-92D4-427FE363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Региональный остаток уменьшает очередь проверки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0472B-6CD9-472F-A714-81C94643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0,597 → 0,075 эпизода / 100 МО-месяцев. Орск: 16-е место из 2012, без тревоги.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46AA0-4229-4DDE-88B2-868290B9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Foundation-моделям помогает сезонное отношение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E7C62-FFEE-43F5-B951-D450F76B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TimesFM h1: −45% к zero-shot, но выбранная модель остаётся точнее.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634C4-14EF-4BA4-9DA9-5B20AECD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Рост следует проверять отдельно по категориям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AC6C77-A3A1-4A2D-AB52-72DE1AA4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Маркетплейсы: общая формула проигрывает на h3 / h6 / h12.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67E2B-C36E-4B4A-B125-CCD9B73D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Начать: README → критерий → доказательство → python3.12 run_review.py --mode verify</a:t>
            </a:r>
          </a:p>
        </p:txBody>
      </p:sp>
    </p:spTree>
    <p:extLst>
      <p:ext uri="{BB962C8B-B14F-4D97-AF65-F5344CB8AC3E}">
        <p14:creationId xmlns:p14="http://schemas.microsoft.com/office/powerpoint/2010/main" val="11994350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C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826D3-23A7-4A4D-82AD-2244F3E8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3300" b="1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Приложение: накопительный сигнал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9901D-CFD8-4F69-8982-EA904884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62700"/>
            <a:ext cx="81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21 / 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F3911-06BC-4741-AE87-5259ED0D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2706C"/>
                </a:solidFill>
                <a:latin typeface="Noto Sans"/>
                <a:ea typeface="Noto Sans"/>
                <a:cs typeface="Noto Sans"/>
              </a:rPr>
              <a:t>Апрель–декабрь 2024. Центр и порог по январю–марту; случаи уже были известны при разработке гипотезы.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333750"/>
                <a:gridCol w="2333625"/>
                <a:gridCol w="3048000"/>
                <a:gridCol w="2257425"/>
              </a:tblGrid>
              <a:tr h="682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Метод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МО-месяцы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Тревожные месяцы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Доля, %</a:t>
                      </a:r>
                    </a:p>
                  </a:txBody>
                  <a:tcPr marL="91440" marR="91440" marT="45720" marB="45720">
                    <a:solidFill>
                      <a:srgbClr val="183B32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CUSUM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18 201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8 819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48.45</a:t>
                      </a:r>
                    </a:p>
                  </a:txBody>
                  <a:tcPr marL="91440" marR="91440" marT="45720" marB="45720">
                    <a:solidFill>
                      <a:srgbClr val="F0F6F1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EWMA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18 201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6 656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2"/>
                          </a:solidFill>
                          <a:latin typeface="Noto Sans"/>
                          <a:ea typeface="Noto Sans"/>
                          <a:cs typeface="Noto Sans"/>
                        </a:rPr>
                        <a:t>36.57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28B57-9FEF-4DD3-9812-3F153D7B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Сигнал: годовой рост МО относительно других МО региона</a:t>
            </a:r>
          </a:p>
          <a:p xmlns:a="http://schemas.openxmlformats.org/drawingml/2006/main">
            <a:pPr>
              <a:def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0C825D"/>
                </a:solidFill>
                <a:latin typeface="Noto Sans"/>
                <a:ea typeface="Noto Sans"/>
                <a:cs typeface="Noto Sans"/>
              </a:rPr>
              <a:t>Слишком высокая нагрузка для замены основного детектора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E0E9C-400D-49A5-9916-43EF4D40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Для проверки отдельных МО готов локальный интерфейс</a:t>
            </a:r>
          </a:p>
          <a:p xmlns:a="http://schemas.openxmlformats.org/drawingml/2006/main">
            <a:pPr>
              <a:def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183B32"/>
                </a:solidFill>
                <a:latin typeface="Noto Sans"/>
                <a:ea typeface="Noto Sans"/>
                <a:cs typeface="Noto Sans"/>
              </a:rPr>
              <a:t>Расходы, прогноз, интервалы, очередь тревог и источники</a:t>
            </a:r>
          </a:p>
        </p:txBody>
      </p:sp>
    </p:spTree>
    <p:extLst>
      <p:ext uri="{BB962C8B-B14F-4D97-AF65-F5344CB8AC3E}">
        <p14:creationId xmlns:p14="http://schemas.microsoft.com/office/powerpoint/2010/main" val="15923292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2026-10-08T18:55:57.8220000Z</dcterms:created>
  <dcterms:modified xsi:type="dcterms:W3CDTF">2026-10-08T18:55:57.8220000Z</dcterms:modified>
</coreProperties>
</file>