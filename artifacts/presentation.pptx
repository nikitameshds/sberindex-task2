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5.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6.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dea1ae94415471e" /><Relationship Type="http://schemas.openxmlformats.org/officeDocument/2006/relationships/extended-properties" Target="/docProps/app.xml" Id="R178390d5d6754073" /><Relationship Type="http://schemas.openxmlformats.org/officeDocument/2006/relationships/officeDocument" Target="/ppt/presentation.xml" Id="Rcf4c025aac814164" /></Relationships>
</file>

<file path=ppt/presentation.xml><?xml version="1.0" encoding="utf-8"?>
<p:presentation xmlns:p="http://schemas.openxmlformats.org/presentationml/2006/main">
  <p:sldMasterIdLst>
    <p:sldMasterId xmlns:r="http://schemas.openxmlformats.org/officeDocument/2006/relationships" id="2147483648" r:id="R59cb20e73813468c"/>
  </p:sldMasterIdLst>
  <p:notesMasterIdLst>
    <p:notesMasterId xmlns:r="http://schemas.openxmlformats.org/officeDocument/2006/relationships" r:id="R09fc0654e89e4a5a"/>
  </p:notesMasterIdLst>
  <p:sldIdLst>
    <p:sldId xmlns:r="http://schemas.openxmlformats.org/officeDocument/2006/relationships" id="256" r:id="R6a080159137e4a1c"/>
    <p:sldId xmlns:r="http://schemas.openxmlformats.org/officeDocument/2006/relationships" id="257" r:id="R880478f35a704c16"/>
    <p:sldId xmlns:r="http://schemas.openxmlformats.org/officeDocument/2006/relationships" id="258" r:id="R72c731a36f29472a"/>
    <p:sldId xmlns:r="http://schemas.openxmlformats.org/officeDocument/2006/relationships" id="259" r:id="R7ae723a585074e41"/>
    <p:sldId xmlns:r="http://schemas.openxmlformats.org/officeDocument/2006/relationships" id="260" r:id="Rb9352c0671b7408a"/>
    <p:sldId xmlns:r="http://schemas.openxmlformats.org/officeDocument/2006/relationships" id="261" r:id="Re6e56d56fbd24c33"/>
    <p:sldId xmlns:r="http://schemas.openxmlformats.org/officeDocument/2006/relationships" id="262" r:id="R0a2e08d21f344332"/>
    <p:sldId xmlns:r="http://schemas.openxmlformats.org/officeDocument/2006/relationships" id="263" r:id="Rffbb523b76df4e91"/>
    <p:sldId xmlns:r="http://schemas.openxmlformats.org/officeDocument/2006/relationships" id="264" r:id="Ref275a85b9c541d8"/>
    <p:sldId xmlns:r="http://schemas.openxmlformats.org/officeDocument/2006/relationships" id="265" r:id="R614815ccc21540aa"/>
    <p:sldId xmlns:r="http://schemas.openxmlformats.org/officeDocument/2006/relationships" id="266" r:id="R2457af2416ce4f94"/>
    <p:sldId xmlns:r="http://schemas.openxmlformats.org/officeDocument/2006/relationships" id="267" r:id="R2dc883cbbaa44b8f"/>
    <p:sldId xmlns:r="http://schemas.openxmlformats.org/officeDocument/2006/relationships" id="268" r:id="R0658a4cc859c4674"/>
    <p:sldId xmlns:r="http://schemas.openxmlformats.org/officeDocument/2006/relationships" id="269" r:id="Ra816dd2a400543dc"/>
    <p:sldId xmlns:r="http://schemas.openxmlformats.org/officeDocument/2006/relationships" id="270" r:id="Rbc2d3d8d7dc0453f"/>
    <p:sldId xmlns:r="http://schemas.openxmlformats.org/officeDocument/2006/relationships" id="271" r:id="Rc3c092dfc5c34612"/>
    <p:sldId xmlns:r="http://schemas.openxmlformats.org/officeDocument/2006/relationships" id="272" r:id="Rab2bd860e9034aca"/>
    <p:sldId xmlns:r="http://schemas.openxmlformats.org/officeDocument/2006/relationships" id="273" r:id="Ra5075bc316384ba4"/>
    <p:sldId xmlns:r="http://schemas.openxmlformats.org/officeDocument/2006/relationships" id="274" r:id="Rbfd2dd8294584ff7"/>
    <p:sldId xmlns:r="http://schemas.openxmlformats.org/officeDocument/2006/relationships" id="275" r:id="R2cdfdbd7d7be4915"/>
    <p:sldId xmlns:r="http://schemas.openxmlformats.org/officeDocument/2006/relationships" id="276" r:id="Rb0b75cf708f043f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c5ec96aac4940ac" /><Relationship Type="http://schemas.openxmlformats.org/officeDocument/2006/relationships/slideMaster" Target="/ppt/slideMasters/slideMaster1.xml" Id="R59cb20e73813468c" /><Relationship Type="http://schemas.openxmlformats.org/officeDocument/2006/relationships/notesMaster" Target="/ppt/notesMasters/notesMaster1.xml" Id="R09fc0654e89e4a5a" /><Relationship Type="http://schemas.openxmlformats.org/officeDocument/2006/relationships/presProps" Target="/ppt/presProps.xml" Id="Rddc69cd1c7454e84" /><Relationship Type="http://schemas.openxmlformats.org/officeDocument/2006/relationships/tableStyles" Target="/ppt/tableStyles.xml" Id="R2986d294e14041da" /><Relationship Type="http://schemas.openxmlformats.org/officeDocument/2006/relationships/slide" Target="/ppt/slides/slide1.xml" Id="R6a080159137e4a1c" /><Relationship Type="http://schemas.openxmlformats.org/officeDocument/2006/relationships/slide" Target="/ppt/slides/slide2.xml" Id="R880478f35a704c16" /><Relationship Type="http://schemas.openxmlformats.org/officeDocument/2006/relationships/slide" Target="/ppt/slides/slide3.xml" Id="R72c731a36f29472a" /><Relationship Type="http://schemas.openxmlformats.org/officeDocument/2006/relationships/slide" Target="/ppt/slides/slide4.xml" Id="R7ae723a585074e41" /><Relationship Type="http://schemas.openxmlformats.org/officeDocument/2006/relationships/slide" Target="/ppt/slides/slide5.xml" Id="Rb9352c0671b7408a" /><Relationship Type="http://schemas.openxmlformats.org/officeDocument/2006/relationships/slide" Target="/ppt/slides/slide6.xml" Id="Re6e56d56fbd24c33" /><Relationship Type="http://schemas.openxmlformats.org/officeDocument/2006/relationships/slide" Target="/ppt/slides/slide7.xml" Id="R0a2e08d21f344332" /><Relationship Type="http://schemas.openxmlformats.org/officeDocument/2006/relationships/slide" Target="/ppt/slides/slide8.xml" Id="Rffbb523b76df4e91" /><Relationship Type="http://schemas.openxmlformats.org/officeDocument/2006/relationships/slide" Target="/ppt/slides/slide9.xml" Id="Ref275a85b9c541d8" /><Relationship Type="http://schemas.openxmlformats.org/officeDocument/2006/relationships/slide" Target="/ppt/slides/slide10.xml" Id="R614815ccc21540aa" /><Relationship Type="http://schemas.openxmlformats.org/officeDocument/2006/relationships/slide" Target="/ppt/slides/slide11.xml" Id="R2457af2416ce4f94" /><Relationship Type="http://schemas.openxmlformats.org/officeDocument/2006/relationships/slide" Target="/ppt/slides/slide12.xml" Id="R2dc883cbbaa44b8f" /><Relationship Type="http://schemas.openxmlformats.org/officeDocument/2006/relationships/slide" Target="/ppt/slides/slide13.xml" Id="R0658a4cc859c4674" /><Relationship Type="http://schemas.openxmlformats.org/officeDocument/2006/relationships/slide" Target="/ppt/slides/slide14.xml" Id="Ra816dd2a400543dc" /><Relationship Type="http://schemas.openxmlformats.org/officeDocument/2006/relationships/slide" Target="/ppt/slides/slide15.xml" Id="Rbc2d3d8d7dc0453f" /><Relationship Type="http://schemas.openxmlformats.org/officeDocument/2006/relationships/slide" Target="/ppt/slides/slide16.xml" Id="Rc3c092dfc5c34612" /><Relationship Type="http://schemas.openxmlformats.org/officeDocument/2006/relationships/slide" Target="/ppt/slides/slide17.xml" Id="Rab2bd860e9034aca" /><Relationship Type="http://schemas.openxmlformats.org/officeDocument/2006/relationships/slide" Target="/ppt/slides/slide18.xml" Id="Ra5075bc316384ba4" /><Relationship Type="http://schemas.openxmlformats.org/officeDocument/2006/relationships/slide" Target="/ppt/slides/slide19.xml" Id="Rbfd2dd8294584ff7" /><Relationship Type="http://schemas.openxmlformats.org/officeDocument/2006/relationships/slide" Target="/ppt/slides/slide20.xml" Id="R2cdfdbd7d7be4915" /><Relationship Type="http://schemas.openxmlformats.org/officeDocument/2006/relationships/slide" Target="/ppt/slides/slide21.xml" Id="Rb0b75cf708f043f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12f90bdca940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fa052e856114a6a" /><Relationship Type="http://schemas.openxmlformats.org/officeDocument/2006/relationships/notesMaster" Target="/ppt/notesMasters/notesMaster1.xml" Id="R7f0c2df7a2c6471f" /></Relationships>
</file>

<file path=ppt/notesSlides/_rels/notesSlide2.xml.rels>&#65279;<?xml version="1.0" encoding="utf-8"?><Relationships xmlns="http://schemas.openxmlformats.org/package/2006/relationships"><Relationship Type="http://schemas.openxmlformats.org/officeDocument/2006/relationships/slide" Target="/ppt/slides/slide2.xml" Id="Rcd3a4f6d319c40e8" /><Relationship Type="http://schemas.openxmlformats.org/officeDocument/2006/relationships/notesMaster" Target="/ppt/notesMasters/notesMaster1.xml" Id="Rd8ea83d2576d47d9" /></Relationships>
</file>

<file path=ppt/notesSlides/_rels/notesSlide3.xml.rels>&#65279;<?xml version="1.0" encoding="utf-8"?><Relationships xmlns="http://schemas.openxmlformats.org/package/2006/relationships"><Relationship Type="http://schemas.openxmlformats.org/officeDocument/2006/relationships/slide" Target="/ppt/slides/slide3.xml" Id="Rab787cba2d2a4668" /><Relationship Type="http://schemas.openxmlformats.org/officeDocument/2006/relationships/notesMaster" Target="/ppt/notesMasters/notesMaster1.xml" Id="R22d57fb8d29342fd" /></Relationships>
</file>

<file path=ppt/notesSlides/_rels/notesSlide4.xml.rels>&#65279;<?xml version="1.0" encoding="utf-8"?><Relationships xmlns="http://schemas.openxmlformats.org/package/2006/relationships"><Relationship Type="http://schemas.openxmlformats.org/officeDocument/2006/relationships/slide" Target="/ppt/slides/slide4.xml" Id="R599fc8e9c8e6403f" /><Relationship Type="http://schemas.openxmlformats.org/officeDocument/2006/relationships/notesMaster" Target="/ppt/notesMasters/notesMaster1.xml" Id="R5387a63dbda944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d73a2b6bb0904458" /><Relationship Type="http://schemas.openxmlformats.org/officeDocument/2006/relationships/notesMaster" Target="/ppt/notesMasters/notesMaster1.xml" Id="Rc3668fcd25224b7a" /></Relationships>
</file>

<file path=ppt/notesSlides/_rels/notesSlide6.xml.rels>&#65279;<?xml version="1.0" encoding="utf-8"?><Relationships xmlns="http://schemas.openxmlformats.org/package/2006/relationships"><Relationship Type="http://schemas.openxmlformats.org/officeDocument/2006/relationships/slide" Target="/ppt/slides/slide6.xml" Id="R13b5f307267e4117" /><Relationship Type="http://schemas.openxmlformats.org/officeDocument/2006/relationships/notesMaster" Target="/ppt/notesMasters/notesMaster1.xml" Id="Rdab03f82ee9144ff" /></Relationships>
</file>

<file path=ppt/notesSlides/_rels/notesSlide7.xml.rels>&#65279;<?xml version="1.0" encoding="utf-8"?><Relationships xmlns="http://schemas.openxmlformats.org/package/2006/relationships"><Relationship Type="http://schemas.openxmlformats.org/officeDocument/2006/relationships/slide" Target="/ppt/slides/slide7.xml" Id="R30c07b062b504daf" /><Relationship Type="http://schemas.openxmlformats.org/officeDocument/2006/relationships/notesMaster" Target="/ppt/notesMasters/notesMaster1.xml" Id="R89dafdb2f3734e16" /></Relationships>
</file>

<file path=ppt/notesSlides/_rels/notesSlide8.xml.rels>&#65279;<?xml version="1.0" encoding="utf-8"?><Relationships xmlns="http://schemas.openxmlformats.org/package/2006/relationships"><Relationship Type="http://schemas.openxmlformats.org/officeDocument/2006/relationships/slide" Target="/ppt/slides/slide8.xml" Id="R75b58ab4d3d54486" /><Relationship Type="http://schemas.openxmlformats.org/officeDocument/2006/relationships/notesMaster" Target="/ppt/notesMasters/notesMaster1.xml" Id="R0b80d18d2dc044e5" /></Relationships>
</file>

<file path=ppt/notesSlides/_rels/notesSlide9.xml.rels>&#65279;<?xml version="1.0" encoding="utf-8"?><Relationships xmlns="http://schemas.openxmlformats.org/package/2006/relationships"><Relationship Type="http://schemas.openxmlformats.org/officeDocument/2006/relationships/slide" Target="/ppt/slides/slide9.xml" Id="Ra5b2c4479645471f" /><Relationship Type="http://schemas.openxmlformats.org/officeDocument/2006/relationships/notesMaster" Target="/ppt/notesMasters/notesMaster1.xml" Id="R4490bdd8cff540a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261e5e828c647ef" /><Relationship Type="http://schemas.openxmlformats.org/officeDocument/2006/relationships/notesMaster" Target="/ppt/notesMasters/notesMaster1.xml" Id="R7bd86cf77ecb4b6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aa5c4c4ac75478b" /><Relationship Type="http://schemas.openxmlformats.org/officeDocument/2006/relationships/notesMaster" Target="/ppt/notesMasters/notesMaster1.xml" Id="R3034ce1058f74dd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41267bad11d497e" /><Relationship Type="http://schemas.openxmlformats.org/officeDocument/2006/relationships/notesMaster" Target="/ppt/notesMasters/notesMaster1.xml" Id="R3a6ba9536a0140e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3e9bbd701cb4320" /><Relationship Type="http://schemas.openxmlformats.org/officeDocument/2006/relationships/notesMaster" Target="/ppt/notesMasters/notesMaster1.xml" Id="Rdb53a0cef04f424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d26ca46dbaa4417" /><Relationship Type="http://schemas.openxmlformats.org/officeDocument/2006/relationships/notesMaster" Target="/ppt/notesMasters/notesMaster1.xml" Id="R96fb0189e49c4b6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0c38665d8a64ff6" /><Relationship Type="http://schemas.openxmlformats.org/officeDocument/2006/relationships/notesMaster" Target="/ppt/notesMasters/notesMaster1.xml" Id="R2eb703cd6385441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d525437de9046b6" /><Relationship Type="http://schemas.openxmlformats.org/officeDocument/2006/relationships/notesMaster" Target="/ppt/notesMasters/notesMaster1.xml" Id="R14682bcb84b6454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f2f5542a8a640a4" /><Relationship Type="http://schemas.openxmlformats.org/officeDocument/2006/relationships/notesMaster" Target="/ppt/notesMasters/notesMaster1.xml" Id="R79bd64155a5d4f9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13b286fcc684a87" /><Relationship Type="http://schemas.openxmlformats.org/officeDocument/2006/relationships/notesMaster" Target="/ppt/notesMasters/notesMaster1.xml" Id="R36dc5691797f462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d8157e4e5b14054" /><Relationship Type="http://schemas.openxmlformats.org/officeDocument/2006/relationships/notesMaster" Target="/ppt/notesMasters/notesMaster1.xml" Id="R8f7dace6202e48e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be404637a544536" /><Relationship Type="http://schemas.openxmlformats.org/officeDocument/2006/relationships/notesMaster" Target="/ppt/notesMasters/notesMaster1.xml" Id="R6260713acc4941b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7253f9887f142bf" /><Relationship Type="http://schemas.openxmlformats.org/officeDocument/2006/relationships/notesMaster" Target="/ppt/notesMasters/notesMaster1.xml" Id="R65418a32a049482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Author handle from repositoryowner, no additionalteamidentityclaimed. QR and native hyperlink target the public single-root submission repository. Viewer hyperlink targets GitHub Pages. Private research repository history is not published. Sources: jury_guide.json andreport. Retrospectivearchive2024, no independent2025facts.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Criterionweightsfromcompetition total100percent. Exactgainvsfixedpooled41.5339/23.3389/28.4866/55.7996; displayrounded42/23/28/56. h12bestdisabledcontrol54.53 retainedreport. EWMAevaluationonsetF1.646650, FAR2/4320*100=.0463. Foundationcompareactualsavedtables, notbenchmarkbreadthscore. Newsquoteclassificationnotspendingcausality. Slides19numbering andreportsectionmapping verifiedinpackagingaudit.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data/consumption.parquet; reports/full_cohort_review/coverage.csv; data_sources.json; growthsource officialpublication. Cohorteligibility determined onlyfrom2023. Geography2024snapshot availability unverified. Rawpanel2190IDs vs2075eligible vsvariable2031scored. No independent new-year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src/sberindex/forecasting/growth_bridge_review.py; configs/growth_bridge_review.json; reports/growth_bridge_review/selection.json. https://rosstat.gov.ru/storage/mediabank/osn-11-2023.pdf; https://rosstat.gov.ru/central-news?page=52&amp;per_page=10&amp;print=1. Source available from28Dec2023 scenario, search-index extraction, immutability unverified. Choice rule defined after inspection2024; no independent holdout.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reports/foundation_expansion_review/fullpanel_summary.csv/fullpanel_matched_predictions.parquet; same60700pairs full eligiblepanel, 2031/2031/2029/2023MO. Earlier251MOtable is superseded here. MainfullcohortselectedMAE932/1272/1371/1321 in report; This table and grouped-bar chart use the full matched panel. Bar control is the minimum MAE of the three Prophet variants separately at each horizon, including disabled at h12 (2906) instead of fixed profile (2989). directHGBh12 onlyfallback excluded. Covariate rowchronos2_profile notgroupedmodel; separate grouped2177to1589sourcefoundation_covariate_review. WithinMO R2pooledSSE overwithinactualvariation, notmeanlocalR2, notYoYR2. h12 denominator0, no R2.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forecast_uncertainty_review/cluster_intervals.csv, temporal_tests.csv. PaireddatebalancedMAE; slide uses fixed pooled comparator all horizons; h12 gain55.80 CIregion50.52to60.97; besttestedh12disabled54.53 separately in report. Crosssectional CIconditional2024, nottemporal CI; postselection tests exploratory. DM h1T12/h3T10, HACBartlett h-1, HLN,tT-1,Holm6tests none5%; requested posthoc two pooled-horizon family h1 p=.03406, h3 p=.30684, not preregistered. h6 numericpossiblebutwithheld byauditminT=max(8,2h+1), h12T1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fullpanel_summary.csv selectedh1 MAE932.296 WAPE3.040075 R2within.818567 =1-SSE/sum((actual-meanactualperMO)^2). No claim of variance of firstdifferences or82percent of all changes correctlypredicted. Mean comparator uses evaluationfacts and is descriptive,notoperationalforecast. WAPE ratio rows3.04notdirectMAEmeanratio due dateweighting. SyntheticF1/FAR/delay andrealmonitoringburden different populations, delay420matched excludes300misses. CI conditional2024,nottemporal.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presentation_claim_checks/evidence.json andgrid_check.csv. Convexbound: k0/1 forecastsaffineing, date-balancedMAE convex, endpointmaxat7%/17% strictlybelowbesttestedProphetallh. This isfixed diagnosticnot newgselection. NovCPI7.48released8Dec2023 admissible; annualDecCPI7.4released12Jan2024 excludedfromasofslide, retainedreportexpost. Groupcohortfull60700pairs, not251modeltable.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category_growth_review/full_pooled_summary.csv. Exactpairswithineachcategory, eligibility2023only, fixedg17.2 andweight.5, frozen pooledProphet asprimarynewcategorycontrol chosenpriorresults. Totalall3Prophetcached separately; no percategory tuning. Marketplace losesh3/h6/h12; g0ablationfullcategoryresults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foundation_expansion_review/summary.csv, bolt_epoch1_training.json,provenance.json. New3modelsall3modes exactly7532keys; causalratio, fixedensemble50/50 nottuned. FullBoltcontextJanJun2023/trainJulSep/validationOctDec, fixed1epoch17batches,no2024selection. Mainnewcheckpointdateslater2024 contaminationunknown. TiRexupstreamGitdynamicpadding; TimesFM2.5torchCPU notMLX3.0.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foundation_expansion_review/summary.csv andfoundation_covariate_review/summary.csv. TimesFM 1-1146.59/2078.02=.4482; Bolt epoch1 1-1885.67/2416.25=.2196; groupedChronos MAE2176.66to1589 from251MO h1 earliercontrolledreview. h12range foundationvariantsincludingseasonalratio4966.17/selected1357.02=3.6596 to12612.81/1357.02=9.2945. NewMO meanszero-shot with history,notcoldstartzeroobservations. No claim benefit universally orallmodeslonghorizons.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Source:presentation_comparison_cases/case_months.csv/calibration.csv/evidence.json. Ufa fixednamedcapital, low2023expensemunicipaldistrictfixedby2023proxy notpopulation norerrors, Orskfixedstresscase. Allcurves selectedhierarchy05_growth_bridge samecachedpoints. AprDecplot onlysinceJanMarinsufficientprevious3months. Forecastissuetargetstart assumedlag0 includespreviousmonthknownthen. Bandsnewposthocillustrative80rankglobalnormalizedresidualquantile, notoldblendbands orformalcoverageguarantee; serialdependence. Tables sourceincludesJanMarwithoutbands. Values rub/consumer, eachyaxisownscale, notsingleyearaheadforecast.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reports/presentation_claim_checks/evidence.json, short_history/comparison.csv/series_metrics.csv. Selectionfixedbeforeevaluation, eligibilitybestonlineonsetF1notfastest. Offlinetwoshadedrowsfullfuturesequencecannotcompareonline delay. FARdenominator4320nullmomonths/2alarms EWMA. EWMArecall420/720=.583. Delayonlytp±1monthmatchedfirstonsetmax(0,pred-onset), missesexcluded. Othermethodsfastdelaydoesnotimplyhighrecall.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reports/peer_residual_review/monitoring_burden.csv; protocol. Leave-one-outregionalmedian nofuturetimeinputs. Snapshot2024nottruehistoricalgeography. Thresholdssyntheticfrozen, noOrsktuning. Localchannelcanremovecommonregionalshock; retain ownchannel separately. Reducedburden doesnotprovebetterrecall.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reports/peer_residual_review/case_yoy.csv, alarm_panel.csv/REPORT.md. Orsk1673 Orenburg1665. Paireddifference notdifference-in-differencescausality design, Orenburgalsoaffected. All4frozenmethods no2024alarm. Paymentsandrepairplausiblehypothesis; municipalMFC announcesrentsupportMay2inMay6post, notindividualpaymentslinktoaggregateexpense.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Forecast: reports/news_interval_review/summary.csv news_pairs.csv audit.json configs/news_interval_review.json; identical18pairs9MO6dates, originalMCHSregistry, availableatforecast, prior3month80pct residualintervals,2023scale, lag0. Pointunchanged, fixedfactor1.5posthoc; coverage17/18 unchanged width2852.307to4278.461 IS3236.925to4361.646(alpha.2), notimprovement; notappliedtomainmodel. Negative +/-3pct preservedreport. Detection: expandedrecoveredquotedcorpus,differentcoverage fromforecast, source news_body_recovery_20261007 audit/monitoringburden. Commands requirefullarchiveandinstalledpackage. Metadatahistoricalversionunconfirmed. ISsourcehttps://journals.plos.org/ploscompbiol/article?id=10.1371/journal.pcbi.1008618 section2.2.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docs/ARCHITECTURE.md; existingCLIscientificpipeline. Nativeeditablearchitecture. Analystinterfaceisproposedrole/output notclaimeddeployedUI. Selectedpointforecastnonewsnumericfeature; eventcontextonlyuntilcoveragequalified. Controlleddatejoin beforeactualsignalinterpretation. CommandsavailableREADME, intentionallynotonslides.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selected_model_holdout_20261007/freeze_manifest.json and adaptive_growth_holdout_20261007/freeze_manifest.json, growth_rates.csv, change_from_fixed.csv. Both8092rows2023MO origDec2024+h1/3/6/12. Candidate g median ofthree monthly regional medians ofMOYoY, &gt;=10 valid2023eligiblepairs eachmonth. Otherwise lastdocumentedavailable macro17.2; no updatedmacroseriesclaimed. Profile2023 weight.5 unchanged. Median14.79427%, medianforecastchange-2.05267%, individualrange-6.01104to+3.161909%. Both2024diagnosticsidentical because allcrossingsorigDec2023 fallback. Candidateproposedafter2024review anduser2025aggregatecontext, notblind or preregistered. No2025municipalfacts; noindependentmetrics. Lag0assumption. Originalfreezeand75/25preserved.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Unchangedscientificlimitsfromreportsection9 andpreviousslide16. NegativecaseOrsknoalarm retained. Conditionalconfidenceandposthocselectionnotindependenttemporalvalidation. Availabilitylag0scenario. No future shock success or publicdeploymentclaim.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Usefuloutputsareimplementedresearchartifactsandcachedviewer, notliveforecastservice. No new scientificresultorcontestscore. Verifychecksfilesonly,noMAEretraining. Fullarchive required; weightsnotincluded. Finalbenefitsslidefollowslimitationsasrequested.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yoy_shift_review/monitoring_burden.csv, protocol. logyoyleaveoneoutregionalmedian, JanMarcalibration99percentile, AprDec18201targets, nofuturethresholdinputsbutcasesknown. NoOrskAprJunalarm; realFARunknown dueunlabeledabsence. Dashboardofflinecachedresults only, notlivepredictionsorconfirmedfuturealerts.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982645aef864ee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2a97694e6b84f7d" /><Relationship Type="http://schemas.openxmlformats.org/officeDocument/2006/relationships/slideLayout" Target="/ppt/slideLayouts/slideLayout1.xml" Id="R38a8eda69e2249b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8a8eda69e2249b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5bf380309c74d68" /><Relationship Type="http://schemas.openxmlformats.org/officeDocument/2006/relationships/hyperlink" Target="https://github.com/NikitaMeshDS/sberindex-task2" TargetMode="External" Id="R3da645c196bb461d" /><Relationship Type="http://schemas.openxmlformats.org/officeDocument/2006/relationships/hyperlink" Target="https://NikitaMeshDS.github.io/sberindex-task2/" TargetMode="External" Id="R0f2c5e177e37467e" /><Relationship Type="http://schemas.openxmlformats.org/officeDocument/2006/relationships/image" Target="/ppt/media/image.png" Id="R241e595257f744bf" /><Relationship Type="http://schemas.openxmlformats.org/officeDocument/2006/relationships/notesSlide" Target="/ppt/notesSlides/notesSlide1.xml" Id="Rd3ad7695382d47a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ddd3eda5a8f4908" /><Relationship Type="http://schemas.openxmlformats.org/officeDocument/2006/relationships/notesSlide" Target="/ppt/notesSlides/notesSlide2.xml" Id="R8b6bc44cc61947e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c6d26fdfef64183" /><Relationship Type="http://schemas.openxmlformats.org/officeDocument/2006/relationships/notesSlide" Target="/ppt/notesSlides/notesSlide3.xml" Id="Rdf7430f61b724cb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3d0b23cf996425d" /><Relationship Type="http://schemas.openxmlformats.org/officeDocument/2006/relationships/image" Target="/ppt/media/image2.png" Id="R1c3d600e6b5f4f4c" /><Relationship Type="http://schemas.openxmlformats.org/officeDocument/2006/relationships/notesSlide" Target="/ppt/notesSlides/notesSlide4.xml" Id="Rcb57b03a98b54db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0916224c50f45cf" /><Relationship Type="http://schemas.openxmlformats.org/officeDocument/2006/relationships/chart" Target="/ppt/slides/charts/chart1.xml" Id="R270733d6103c4f6f" /><Relationship Type="http://schemas.openxmlformats.org/officeDocument/2006/relationships/notesSlide" Target="/ppt/notesSlides/notesSlide5.xml" Id="R7cd1995bac264ce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cf2451cb75042d9" /><Relationship Type="http://schemas.openxmlformats.org/officeDocument/2006/relationships/notesSlide" Target="/ppt/notesSlides/notesSlide6.xml" Id="Rd73a80b71bf642d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346071ce0c44309" /><Relationship Type="http://schemas.openxmlformats.org/officeDocument/2006/relationships/notesSlide" Target="/ppt/notesSlides/notesSlide7.xml" Id="R1300013f865c4b4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a0dbba6c17c484a" /><Relationship Type="http://schemas.openxmlformats.org/officeDocument/2006/relationships/notesSlide" Target="/ppt/notesSlides/notesSlide8.xml" Id="R10db00f660314c7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0f9baec16cb4235" /><Relationship Type="http://schemas.openxmlformats.org/officeDocument/2006/relationships/notesSlide" Target="/ppt/notesSlides/notesSlide9.xml" Id="Rb3bdd34d0bbe4f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fa499627faf49a8" /><Relationship Type="http://schemas.openxmlformats.org/officeDocument/2006/relationships/notesSlide" Target="/ppt/notesSlides/notesSlide10.xml" Id="R8d9766cc863f426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6d3b23766104181" /><Relationship Type="http://schemas.openxmlformats.org/officeDocument/2006/relationships/notesSlide" Target="/ppt/notesSlides/notesSlide11.xml" Id="Rfdb269496452499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96a72db8f6b4904" /><Relationship Type="http://schemas.openxmlformats.org/officeDocument/2006/relationships/chart" Target="/ppt/slides/charts/chart2.xml" Id="R1df8ec3a6c8c4bec" /><Relationship Type="http://schemas.openxmlformats.org/officeDocument/2006/relationships/chart" Target="/ppt/slides/charts/chart3.xml" Id="R4adbdb617bcd468c" /><Relationship Type="http://schemas.openxmlformats.org/officeDocument/2006/relationships/chart" Target="/ppt/slides/charts/chart4.xml" Id="Rca50398878014bd3" /><Relationship Type="http://schemas.openxmlformats.org/officeDocument/2006/relationships/notesSlide" Target="/ppt/notesSlides/notesSlide12.xml" Id="Rfd406372d7e942f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ef67a89549a41c4" /><Relationship Type="http://schemas.openxmlformats.org/officeDocument/2006/relationships/chart" Target="/ppt/slides/charts/chart5.xml" Id="Re9be293dfe3d4979" /><Relationship Type="http://schemas.openxmlformats.org/officeDocument/2006/relationships/notesSlide" Target="/ppt/notesSlides/notesSlide13.xml" Id="Ra6b004be0d7940e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0b957de99ad43d3" /><Relationship Type="http://schemas.openxmlformats.org/officeDocument/2006/relationships/image" Target="/ppt/media/image3.png" Id="R0f9c29864032476f" /><Relationship Type="http://schemas.openxmlformats.org/officeDocument/2006/relationships/notesSlide" Target="/ppt/notesSlides/notesSlide14.xml" Id="R771f77e66292432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28b79d3b7674567" /><Relationship Type="http://schemas.openxmlformats.org/officeDocument/2006/relationships/chart" Target="/ppt/slides/charts/chart6.xml" Id="R60991e05db2b4b77" /><Relationship Type="http://schemas.openxmlformats.org/officeDocument/2006/relationships/notesSlide" Target="/ppt/notesSlides/notesSlide15.xml" Id="R2a1d3e483baa4a6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4f9e93adf4d4a20" /><Relationship Type="http://schemas.openxmlformats.org/officeDocument/2006/relationships/notesSlide" Target="/ppt/notesSlides/notesSlide16.xml" Id="R6e3c0c21316d4c9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636c013cb154cb5" /><Relationship Type="http://schemas.openxmlformats.org/officeDocument/2006/relationships/notesSlide" Target="/ppt/notesSlides/notesSlide17.xml" Id="R0fe98d731cc64d3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637300f3140432a" /><Relationship Type="http://schemas.openxmlformats.org/officeDocument/2006/relationships/notesSlide" Target="/ppt/notesSlides/notesSlide18.xml" Id="R0bbb846854a548a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94801a356f04b0a" /><Relationship Type="http://schemas.openxmlformats.org/officeDocument/2006/relationships/notesSlide" Target="/ppt/notesSlides/notesSlide19.xml" Id="R54791cf775d2420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7a189d9810042b6" /><Relationship Type="http://schemas.openxmlformats.org/officeDocument/2006/relationships/notesSlide" Target="/ppt/notesSlides/notesSlide20.xml" Id="Reb7942e060524d0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e9c4e1c4fe04a97" /><Relationship Type="http://schemas.openxmlformats.org/officeDocument/2006/relationships/notesSlide" Target="/ppt/notesSlides/notesSlide21.xml" Id="R5e606fa40347488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Выбранная модель</c:v>
          </c:tx>
          <c:spPr>
            <a:solidFill xmlns:a="http://schemas.openxmlformats.org/drawingml/2006/main">
              <a:srgbClr val="0C825D"/>
            </a:solidFill>
          </c:spPr>
          <c:dLbls>
            <c:dLbl>
              <c:idx val="0"/>
              <c:tx>
                <c:rich>
                  <a:bodyPr xmlns:a="http://schemas.openxmlformats.org/drawingml/2006/main"/>
                  <a:lstStyle xmlns:a="http://schemas.openxmlformats.org/drawingml/2006/main"/>
                  <a:p xmlns:a="http://schemas.openxmlformats.org/drawingml/2006/main">
                    <a:r>
                      <a:rPr sz="1425">
                        <a:latin typeface="Noto Sans"/>
                        <a:ea typeface="Noto Sans"/>
                        <a:cs typeface="Noto Sans"/>
                      </a:rPr>
                      <a:t>932</a:t>
                    </a:r>
                  </a:p>
                </c:rich>
              </c:tx>
              <c:txPr>
                <a:bodyPr xmlns:a="http://schemas.openxmlformats.org/drawingml/2006/main" anchorCtr="1"/>
                <a:lstStyle xmlns:a="http://schemas.openxmlformats.org/drawingml/2006/main"/>
                <a:p xmlns:a="http://schemas.openxmlformats.org/drawingml/2006/main">
                  <a:pPr>
                    <a:defRPr sz="1425">
                      <a:latin typeface="Noto Sans"/>
                      <a:ea typeface="Noto Sans"/>
                      <a:cs typeface="Noto Sans"/>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425">
                        <a:latin typeface="Noto Sans"/>
                        <a:ea typeface="Noto Sans"/>
                        <a:cs typeface="Noto Sans"/>
                      </a:rPr>
                      <a:t>1 272</a:t>
                    </a:r>
                  </a:p>
                </c:rich>
              </c:tx>
              <c:txPr>
                <a:bodyPr xmlns:a="http://schemas.openxmlformats.org/drawingml/2006/main" anchorCtr="1"/>
                <a:lstStyle xmlns:a="http://schemas.openxmlformats.org/drawingml/2006/main"/>
                <a:p xmlns:a="http://schemas.openxmlformats.org/drawingml/2006/main">
                  <a:pPr>
                    <a:defRPr sz="1425">
                      <a:latin typeface="Noto Sans"/>
                      <a:ea typeface="Noto Sans"/>
                      <a:cs typeface="Noto Sans"/>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425">
                        <a:latin typeface="Noto Sans"/>
                        <a:ea typeface="Noto Sans"/>
                        <a:cs typeface="Noto Sans"/>
                      </a:rPr>
                      <a:t>1 371</a:t>
                    </a:r>
                  </a:p>
                </c:rich>
              </c:tx>
              <c:txPr>
                <a:bodyPr xmlns:a="http://schemas.openxmlformats.org/drawingml/2006/main" anchorCtr="1"/>
                <a:lstStyle xmlns:a="http://schemas.openxmlformats.org/drawingml/2006/main"/>
                <a:p xmlns:a="http://schemas.openxmlformats.org/drawingml/2006/main">
                  <a:pPr>
                    <a:defRPr sz="1425">
                      <a:latin typeface="Noto Sans"/>
                      <a:ea typeface="Noto Sans"/>
                      <a:cs typeface="Noto Sans"/>
                    </a:defRPr>
                  </a:pPr>
                </a:p>
              </c:txPr>
              <c:dLblPos val="outEnd"/>
              <c:showLegendKey val="0"/>
              <c:showVal val="0"/>
              <c:showCatName val="0"/>
              <c:showSerName val="0"/>
              <c:showPercent val="0"/>
              <c:showBubbleSize val="0"/>
            </c:dLbl>
            <c:dLbl>
              <c:idx val="3"/>
              <c:tx>
                <c:rich>
                  <a:bodyPr xmlns:a="http://schemas.openxmlformats.org/drawingml/2006/main"/>
                  <a:lstStyle xmlns:a="http://schemas.openxmlformats.org/drawingml/2006/main"/>
                  <a:p xmlns:a="http://schemas.openxmlformats.org/drawingml/2006/main">
                    <a:r>
                      <a:rPr sz="1425">
                        <a:latin typeface="Noto Sans"/>
                        <a:ea typeface="Noto Sans"/>
                        <a:cs typeface="Noto Sans"/>
                      </a:rPr>
                      <a:t>1 321</a:t>
                    </a:r>
                  </a:p>
                </c:rich>
              </c:tx>
              <c:txPr>
                <a:bodyPr xmlns:a="http://schemas.openxmlformats.org/drawingml/2006/main" anchorCtr="1"/>
                <a:lstStyle xmlns:a="http://schemas.openxmlformats.org/drawingml/2006/main"/>
                <a:p xmlns:a="http://schemas.openxmlformats.org/drawingml/2006/main">
                  <a:pPr>
                    <a:defRPr sz="1425">
                      <a:latin typeface="Noto Sans"/>
                      <a:ea typeface="Noto Sans"/>
                      <a:cs typeface="Noto Sans"/>
                    </a:defRPr>
                  </a:pPr>
                </a:p>
              </c:txPr>
              <c:dLblPos val="outEnd"/>
              <c:showLegendKey val="0"/>
              <c:showVal val="0"/>
              <c:showCatName val="0"/>
              <c:showSerName val="0"/>
              <c:showPercent val="0"/>
              <c:showBubbleSize val="0"/>
            </c:dLbl>
          </c:dLbls>
          <c:cat>
            <c:strRef>
              <c:f>'Chart Data'!$A$2:$A$5</c:f>
              <c:strCache>
                <c:ptCount val="4"/>
                <c:pt idx="0">
                  <c:v>h1</c:v>
                </c:pt>
                <c:pt idx="1">
                  <c:v>h3</c:v>
                </c:pt>
                <c:pt idx="2">
                  <c:v>h6</c:v>
                </c:pt>
                <c:pt idx="3">
                  <c:v>h12</c:v>
                </c:pt>
              </c:strCache>
            </c:strRef>
          </c:cat>
          <c:val>
            <c:numRef>
              <c:f>'Chart Data'!$B$2:$B$5</c:f>
              <c:numCache>
                <c:formatCode>0</c:formatCode>
                <c:ptCount val="4"/>
                <c:pt idx="0">
                  <c:v>932.296</c:v>
                </c:pt>
                <c:pt idx="1">
                  <c:v>1272.19</c:v>
                </c:pt>
                <c:pt idx="2">
                  <c:v>1370.661</c:v>
                </c:pt>
                <c:pt idx="3">
                  <c:v>1321.264</c:v>
                </c:pt>
              </c:numCache>
            </c:numRef>
          </c:val>
        </c:ser>
        <c:ser>
          <c:idx val="1"/>
          <c:order val="1"/>
          <c:tx>
            <c:v>Лучший Prophet</c:v>
          </c:tx>
          <c:spPr>
            <a:solidFill xmlns:a="http://schemas.openxmlformats.org/drawingml/2006/main">
              <a:srgbClr val="52718A"/>
            </a:solidFill>
          </c:spPr>
          <c:dLbls>
            <c:dLbl>
              <c:idx val="0"/>
              <c:tx>
                <c:rich>
                  <a:bodyPr xmlns:a="http://schemas.openxmlformats.org/drawingml/2006/main"/>
                  <a:lstStyle xmlns:a="http://schemas.openxmlformats.org/drawingml/2006/main"/>
                  <a:p xmlns:a="http://schemas.openxmlformats.org/drawingml/2006/main">
                    <a:r>
                      <a:rPr sz="1425">
                        <a:latin typeface="Noto Sans"/>
                        <a:ea typeface="Noto Sans"/>
                        <a:cs typeface="Noto Sans"/>
                      </a:rPr>
                      <a:t>1 595</a:t>
                    </a:r>
                  </a:p>
                </c:rich>
              </c:tx>
              <c:txPr>
                <a:bodyPr xmlns:a="http://schemas.openxmlformats.org/drawingml/2006/main" anchorCtr="1"/>
                <a:lstStyle xmlns:a="http://schemas.openxmlformats.org/drawingml/2006/main"/>
                <a:p xmlns:a="http://schemas.openxmlformats.org/drawingml/2006/main">
                  <a:pPr>
                    <a:defRPr sz="1425">
                      <a:latin typeface="Noto Sans"/>
                      <a:ea typeface="Noto Sans"/>
                      <a:cs typeface="Noto Sans"/>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425">
                        <a:latin typeface="Noto Sans"/>
                        <a:ea typeface="Noto Sans"/>
                        <a:cs typeface="Noto Sans"/>
                      </a:rPr>
                      <a:t>1 659</a:t>
                    </a:r>
                  </a:p>
                </c:rich>
              </c:tx>
              <c:txPr>
                <a:bodyPr xmlns:a="http://schemas.openxmlformats.org/drawingml/2006/main" anchorCtr="1"/>
                <a:lstStyle xmlns:a="http://schemas.openxmlformats.org/drawingml/2006/main"/>
                <a:p xmlns:a="http://schemas.openxmlformats.org/drawingml/2006/main">
                  <a:pPr>
                    <a:defRPr sz="1425">
                      <a:latin typeface="Noto Sans"/>
                      <a:ea typeface="Noto Sans"/>
                      <a:cs typeface="Noto Sans"/>
                    </a:defRPr>
                  </a:pPr>
                </a:p>
              </c:txPr>
              <c:dLblPos val="outEnd"/>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425">
                        <a:latin typeface="Noto Sans"/>
                        <a:ea typeface="Noto Sans"/>
                        <a:cs typeface="Noto Sans"/>
                      </a:rPr>
                      <a:t>1 917</a:t>
                    </a:r>
                  </a:p>
                </c:rich>
              </c:tx>
              <c:txPr>
                <a:bodyPr xmlns:a="http://schemas.openxmlformats.org/drawingml/2006/main" anchorCtr="1"/>
                <a:lstStyle xmlns:a="http://schemas.openxmlformats.org/drawingml/2006/main"/>
                <a:p xmlns:a="http://schemas.openxmlformats.org/drawingml/2006/main">
                  <a:pPr>
                    <a:defRPr sz="1425">
                      <a:latin typeface="Noto Sans"/>
                      <a:ea typeface="Noto Sans"/>
                      <a:cs typeface="Noto Sans"/>
                    </a:defRPr>
                  </a:pPr>
                </a:p>
              </c:txPr>
              <c:dLblPos val="outEnd"/>
              <c:showLegendKey val="0"/>
              <c:showVal val="0"/>
              <c:showCatName val="0"/>
              <c:showSerName val="0"/>
              <c:showPercent val="0"/>
              <c:showBubbleSize val="0"/>
            </c:dLbl>
            <c:dLbl>
              <c:idx val="3"/>
              <c:tx>
                <c:rich>
                  <a:bodyPr xmlns:a="http://schemas.openxmlformats.org/drawingml/2006/main"/>
                  <a:lstStyle xmlns:a="http://schemas.openxmlformats.org/drawingml/2006/main"/>
                  <a:p xmlns:a="http://schemas.openxmlformats.org/drawingml/2006/main">
                    <a:r>
                      <a:rPr sz="1425">
                        <a:latin typeface="Noto Sans"/>
                        <a:ea typeface="Noto Sans"/>
                        <a:cs typeface="Noto Sans"/>
                      </a:rPr>
                      <a:t>2 906</a:t>
                    </a:r>
                  </a:p>
                </c:rich>
              </c:tx>
              <c:txPr>
                <a:bodyPr xmlns:a="http://schemas.openxmlformats.org/drawingml/2006/main" anchorCtr="1"/>
                <a:lstStyle xmlns:a="http://schemas.openxmlformats.org/drawingml/2006/main"/>
                <a:p xmlns:a="http://schemas.openxmlformats.org/drawingml/2006/main">
                  <a:pPr>
                    <a:defRPr sz="1425">
                      <a:latin typeface="Noto Sans"/>
                      <a:ea typeface="Noto Sans"/>
                      <a:cs typeface="Noto Sans"/>
                    </a:defRPr>
                  </a:pPr>
                </a:p>
              </c:txPr>
              <c:dLblPos val="outEnd"/>
              <c:showLegendKey val="0"/>
              <c:showVal val="0"/>
              <c:showCatName val="0"/>
              <c:showSerName val="0"/>
              <c:showPercent val="0"/>
              <c:showBubbleSize val="0"/>
            </c:dLbl>
          </c:dLbls>
          <c:cat>
            <c:strRef>
              <c:f>'Chart Data'!$C$2:$C$5</c:f>
              <c:strCache>
                <c:ptCount val="4"/>
                <c:pt idx="0">
                  <c:v>h1</c:v>
                </c:pt>
                <c:pt idx="1">
                  <c:v>h3</c:v>
                </c:pt>
                <c:pt idx="2">
                  <c:v>h6</c:v>
                </c:pt>
                <c:pt idx="3">
                  <c:v>h12</c:v>
                </c:pt>
              </c:strCache>
            </c:strRef>
          </c:cat>
          <c:val>
            <c:numRef>
              <c:f>'Chart Data'!$D$2:$D$5</c:f>
              <c:numCache>
                <c:formatCode>0</c:formatCode>
                <c:ptCount val="4"/>
                <c:pt idx="0">
                  <c:v>1594.593</c:v>
                </c:pt>
                <c:pt idx="1">
                  <c:v>1659.498</c:v>
                </c:pt>
                <c:pt idx="2">
                  <c:v>1916.648</c:v>
                </c:pt>
                <c:pt idx="3">
                  <c:v>2905.799</c:v>
                </c:pt>
              </c:numCache>
            </c:numRef>
          </c:val>
        </c:ser>
        <c:dLbls>
          <c:txPr>
            <a:bodyPr xmlns:a="http://schemas.openxmlformats.org/drawingml/2006/main" anchorCtr="1"/>
            <a:lstStyle xmlns:a="http://schemas.openxmlformats.org/drawingml/2006/main"/>
            <a:p xmlns:a="http://schemas.openxmlformats.org/drawingml/2006/main">
              <a:pPr>
                <a:defRPr sz="1425">
                  <a:latin typeface="Noto Sans"/>
                  <a:ea typeface="Noto Sans"/>
                  <a:cs typeface="Noto Sans"/>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Noto Sans"/>
                <a:ea typeface="Noto Sans"/>
                <a:cs typeface="Noto Sans"/>
              </a:defRPr>
            </a:pPr>
          </a:p>
        </c:txPr>
        <c:crossAx val="48672768"/>
      </c:catAx>
      <c:valAx>
        <c:axId val="48672768"/>
        <c:scaling>
          <c:orientation val="minMax"/>
          <c:max val="3500"/>
          <c:min val="0"/>
        </c:scaling>
        <c:delete val="0"/>
        <c:axPos val="l"/>
        <c:majorGridlines>
          <c:spPr>
            <a:ln xmlns:a="http://schemas.openxmlformats.org/drawingml/2006/main" w="7620">
              <a:solidFill>
                <a:srgbClr val="DCE6D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Noto Sans"/>
                <a:ea typeface="Noto Sans"/>
                <a:cs typeface="Noto Sans"/>
              </a:defRPr>
            </a:pPr>
          </a:p>
        </c:txPr>
        <c:crossAx val="48650112"/>
        <c:crossBetween val="between"/>
      </c:valAx>
      <c:spPr>
        <a:solidFill xmlns:a="http://schemas.openxmlformats.org/drawingml/2006/main">
          <a:srgbClr val="FAFCF9"/>
        </a:solidFill>
      </c:spPr>
    </c:plotArea>
    <c:legend>
      <c:legendPos val="b"/>
      <c:overlay val="0"/>
      <c:txPr>
        <a:bodyPr xmlns:a="http://schemas.openxmlformats.org/drawingml/2006/main" anchorCtr="1"/>
        <a:lstStyle xmlns:a="http://schemas.openxmlformats.org/drawingml/2006/main"/>
        <a:p xmlns:a="http://schemas.openxmlformats.org/drawingml/2006/main">
          <a:pPr>
            <a:defRPr sz="1500">
              <a:latin typeface="Noto Sans"/>
              <a:ea typeface="Noto Sans"/>
              <a:cs typeface="Noto Sans"/>
            </a:defRPr>
          </a:pPr>
        </a:p>
      </c:txPr>
    </c:legend>
    <c:plotVisOnly val="1"/>
  </c:chart>
  <c:spPr>
    <a:solidFill xmlns:a="http://schemas.openxmlformats.org/drawingml/2006/main">
      <a:srgbClr val="FAFCF9"/>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Верхняя граница 80%</c:v>
          </c:tx>
          <c:spPr>
            <a:ln xmlns:a="http://schemas.openxmlformats.org/drawingml/2006/main" w="13335">
              <a:solidFill>
                <a:srgbClr val="9DBEAC"/>
              </a:solidFill>
            </a:ln>
          </c:spPr>
          <c:marker>
            <c:symbol val="none"/>
          </c:marker>
          <c:cat>
            <c:numRef>
              <c:f>'Chart Data'!$A$2:$A$10</c:f>
              <c:numCache>
                <c:formatCode>General</c:formatCode>
                <c:ptCount val="9"/>
                <c:pt idx="0">
                  <c:v>04</c:v>
                </c:pt>
                <c:pt idx="1">
                  <c:v>05</c:v>
                </c:pt>
                <c:pt idx="2">
                  <c:v>06</c:v>
                </c:pt>
                <c:pt idx="3">
                  <c:v>07</c:v>
                </c:pt>
                <c:pt idx="4">
                  <c:v>08</c:v>
                </c:pt>
                <c:pt idx="5">
                  <c:v>09</c:v>
                </c:pt>
                <c:pt idx="6">
                  <c:v>10</c:v>
                </c:pt>
                <c:pt idx="7">
                  <c:v>11</c:v>
                </c:pt>
                <c:pt idx="8">
                  <c:v>12</c:v>
                </c:pt>
              </c:numCache>
            </c:numRef>
          </c:cat>
          <c:val>
            <c:numRef>
              <c:f>'Chart Data'!$B$2:$B$10</c:f>
              <c:numCache>
                <c:formatCode>0</c:formatCode>
                <c:ptCount val="9"/>
                <c:pt idx="0">
                  <c:v>36822.749</c:v>
                </c:pt>
                <c:pt idx="1">
                  <c:v>38981.084</c:v>
                </c:pt>
                <c:pt idx="2">
                  <c:v>37541.528</c:v>
                </c:pt>
                <c:pt idx="3">
                  <c:v>39530.635</c:v>
                </c:pt>
                <c:pt idx="4">
                  <c:v>38812.274</c:v>
                </c:pt>
                <c:pt idx="5">
                  <c:v>36166.86</c:v>
                </c:pt>
                <c:pt idx="6">
                  <c:v>37760.719</c:v>
                </c:pt>
                <c:pt idx="7">
                  <c:v>38630.906</c:v>
                </c:pt>
                <c:pt idx="8">
                  <c:v>45272.807</c:v>
                </c:pt>
              </c:numCache>
            </c:numRef>
          </c:val>
          <c:smooth val="0"/>
        </c:ser>
        <c:ser>
          <c:idx val="1"/>
          <c:order val="1"/>
          <c:tx>
            <c:v>Нижняя граница 80%</c:v>
          </c:tx>
          <c:spPr>
            <a:ln xmlns:a="http://schemas.openxmlformats.org/drawingml/2006/main" w="13335">
              <a:solidFill>
                <a:srgbClr val="9DBEAC"/>
              </a:solidFill>
            </a:ln>
          </c:spPr>
          <c:marker>
            <c:symbol val="none"/>
          </c:marker>
          <c:cat>
            <c:numRef>
              <c:f>'Chart Data'!$C$2:$C$10</c:f>
              <c:numCache>
                <c:formatCode>General</c:formatCode>
                <c:ptCount val="9"/>
                <c:pt idx="0">
                  <c:v>04</c:v>
                </c:pt>
                <c:pt idx="1">
                  <c:v>05</c:v>
                </c:pt>
                <c:pt idx="2">
                  <c:v>06</c:v>
                </c:pt>
                <c:pt idx="3">
                  <c:v>07</c:v>
                </c:pt>
                <c:pt idx="4">
                  <c:v>08</c:v>
                </c:pt>
                <c:pt idx="5">
                  <c:v>09</c:v>
                </c:pt>
                <c:pt idx="6">
                  <c:v>10</c:v>
                </c:pt>
                <c:pt idx="7">
                  <c:v>11</c:v>
                </c:pt>
                <c:pt idx="8">
                  <c:v>12</c:v>
                </c:pt>
              </c:numCache>
            </c:numRef>
          </c:cat>
          <c:val>
            <c:numRef>
              <c:f>'Chart Data'!$D$2:$D$10</c:f>
              <c:numCache>
                <c:formatCode>0</c:formatCode>
                <c:ptCount val="9"/>
                <c:pt idx="0">
                  <c:v>31605.144</c:v>
                </c:pt>
                <c:pt idx="1">
                  <c:v>34825.552</c:v>
                </c:pt>
                <c:pt idx="2">
                  <c:v>33755.532</c:v>
                </c:pt>
                <c:pt idx="3">
                  <c:v>35690.82</c:v>
                </c:pt>
                <c:pt idx="4">
                  <c:v>35866.091</c:v>
                </c:pt>
                <c:pt idx="5">
                  <c:v>33418.894</c:v>
                </c:pt>
                <c:pt idx="6">
                  <c:v>34950.431</c:v>
                </c:pt>
                <c:pt idx="7">
                  <c:v>35855.007</c:v>
                </c:pt>
                <c:pt idx="8">
                  <c:v>42184.93</c:v>
                </c:pt>
              </c:numCache>
            </c:numRef>
          </c:val>
          <c:smooth val="0"/>
        </c:ser>
        <c:ser>
          <c:idx val="2"/>
          <c:order val="2"/>
          <c:tx>
            <c:v>Факт</c:v>
          </c:tx>
          <c:spPr>
            <a:noFill xmlns:a="http://schemas.openxmlformats.org/drawingml/2006/main"/>
            <a:ln xmlns:a="http://schemas.openxmlformats.org/drawingml/2006/main" w="23813">
              <a:solidFill>
                <a:srgbClr val="183B32"/>
              </a:solidFill>
            </a:ln>
          </c:spPr>
          <c:marker>
            <c:symbol val="none"/>
          </c:marker>
          <c:cat>
            <c:numRef>
              <c:f>'Chart Data'!$E$2:$E$10</c:f>
              <c:numCache>
                <c:formatCode>General</c:formatCode>
                <c:ptCount val="9"/>
                <c:pt idx="0">
                  <c:v>04</c:v>
                </c:pt>
                <c:pt idx="1">
                  <c:v>05</c:v>
                </c:pt>
                <c:pt idx="2">
                  <c:v>06</c:v>
                </c:pt>
                <c:pt idx="3">
                  <c:v>07</c:v>
                </c:pt>
                <c:pt idx="4">
                  <c:v>08</c:v>
                </c:pt>
                <c:pt idx="5">
                  <c:v>09</c:v>
                </c:pt>
                <c:pt idx="6">
                  <c:v>10</c:v>
                </c:pt>
                <c:pt idx="7">
                  <c:v>11</c:v>
                </c:pt>
                <c:pt idx="8">
                  <c:v>12</c:v>
                </c:pt>
              </c:numCache>
            </c:numRef>
          </c:cat>
          <c:val>
            <c:numRef>
              <c:f>'Chart Data'!$F$2:$F$10</c:f>
              <c:numCache>
                <c:formatCode>0</c:formatCode>
                <c:ptCount val="9"/>
                <c:pt idx="0">
                  <c:v>35833</c:v>
                </c:pt>
                <c:pt idx="1">
                  <c:v>35615</c:v>
                </c:pt>
                <c:pt idx="2">
                  <c:v>35988</c:v>
                </c:pt>
                <c:pt idx="3">
                  <c:v>36788</c:v>
                </c:pt>
                <c:pt idx="4">
                  <c:v>37597</c:v>
                </c:pt>
                <c:pt idx="5">
                  <c:v>34999</c:v>
                </c:pt>
                <c:pt idx="6">
                  <c:v>36530</c:v>
                </c:pt>
                <c:pt idx="7">
                  <c:v>37011</c:v>
                </c:pt>
                <c:pt idx="8">
                  <c:v>42485</c:v>
                </c:pt>
              </c:numCache>
            </c:numRef>
          </c:val>
          <c:smooth val="0"/>
        </c:ser>
        <c:ser>
          <c:idx val="3"/>
          <c:order val="3"/>
          <c:tx>
            <c:v>Прогноз h1</c:v>
          </c:tx>
          <c:spPr>
            <a:noFill xmlns:a="http://schemas.openxmlformats.org/drawingml/2006/main"/>
            <a:ln xmlns:a="http://schemas.openxmlformats.org/drawingml/2006/main" w="23813">
              <a:solidFill>
                <a:srgbClr val="0C825D"/>
              </a:solidFill>
            </a:ln>
          </c:spPr>
          <c:marker>
            <c:symbol val="none"/>
          </c:marker>
          <c:cat>
            <c:numRef>
              <c:f>'Chart Data'!$G$2:$G$10</c:f>
              <c:numCache>
                <c:formatCode>General</c:formatCode>
                <c:ptCount val="9"/>
                <c:pt idx="0">
                  <c:v>04</c:v>
                </c:pt>
                <c:pt idx="1">
                  <c:v>05</c:v>
                </c:pt>
                <c:pt idx="2">
                  <c:v>06</c:v>
                </c:pt>
                <c:pt idx="3">
                  <c:v>07</c:v>
                </c:pt>
                <c:pt idx="4">
                  <c:v>08</c:v>
                </c:pt>
                <c:pt idx="5">
                  <c:v>09</c:v>
                </c:pt>
                <c:pt idx="6">
                  <c:v>10</c:v>
                </c:pt>
                <c:pt idx="7">
                  <c:v>11</c:v>
                </c:pt>
                <c:pt idx="8">
                  <c:v>12</c:v>
                </c:pt>
              </c:numCache>
            </c:numRef>
          </c:cat>
          <c:val>
            <c:numRef>
              <c:f>'Chart Data'!$H$2:$H$10</c:f>
              <c:numCache>
                <c:formatCode>0</c:formatCode>
                <c:ptCount val="9"/>
                <c:pt idx="0">
                  <c:v>34213.947</c:v>
                </c:pt>
                <c:pt idx="1">
                  <c:v>36903.318</c:v>
                </c:pt>
                <c:pt idx="2">
                  <c:v>35648.53</c:v>
                </c:pt>
                <c:pt idx="3">
                  <c:v>37610.728</c:v>
                </c:pt>
                <c:pt idx="4">
                  <c:v>37339.182</c:v>
                </c:pt>
                <c:pt idx="5">
                  <c:v>34792.877</c:v>
                </c:pt>
                <c:pt idx="6">
                  <c:v>36355.575</c:v>
                </c:pt>
                <c:pt idx="7">
                  <c:v>37242.957</c:v>
                </c:pt>
                <c:pt idx="8">
                  <c:v>43728.868</c:v>
                </c:pt>
              </c:numCache>
            </c:numRef>
          </c:val>
          <c:smooth val="0"/>
        </c:ser>
        <c:dLbls>
          <c:txPr>
            <a:bodyPr xmlns:a="http://schemas.openxmlformats.org/drawingml/2006/main" anchorCtr="1"/>
            <a:lstStyle xmlns:a="http://schemas.openxmlformats.org/drawingml/2006/main"/>
            <a:p xmlns:a="http://schemas.openxmlformats.org/drawingml/2006/main">
              <a:pPr>
                <a:defRPr>
                  <a:latin typeface="Noto Sans"/>
                  <a:ea typeface="Noto Sans"/>
                  <a:cs typeface="Noto San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Noto Sans"/>
                <a:ea typeface="Noto Sans"/>
                <a:cs typeface="Noto Sans"/>
              </a:defRPr>
            </a:pPr>
          </a:p>
        </c:txPr>
        <c:crossAx val="48672768"/>
      </c:catAx>
      <c:valAx>
        <c:axId val="48672768"/>
        <c:scaling>
          <c:orientation val="minMax"/>
          <c:max val="46000"/>
          <c:min val="3000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Noto Sans"/>
                <a:ea typeface="Noto Sans"/>
                <a:cs typeface="Noto Sans"/>
              </a:defRPr>
            </a:pPr>
          </a:p>
        </c:txPr>
        <c:crossAx val="48650112"/>
        <c:crossBetween val="between"/>
      </c:valAx>
      <c:spPr>
        <a:solidFill xmlns:a="http://schemas.openxmlformats.org/drawingml/2006/main">
          <a:srgbClr val="FAFCF9"/>
        </a:solidFill>
      </c:spPr>
    </c:plotArea>
    <c:plotVisOnly val="1"/>
  </c:chart>
  <c:spPr>
    <a:solidFill xmlns:a="http://schemas.openxmlformats.org/drawingml/2006/main">
      <a:srgbClr val="FAFCF9"/>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Верхняя граница 80%</c:v>
          </c:tx>
          <c:spPr>
            <a:ln xmlns:a="http://schemas.openxmlformats.org/drawingml/2006/main" w="13335">
              <a:solidFill>
                <a:srgbClr val="9DBEAC"/>
              </a:solidFill>
            </a:ln>
          </c:spPr>
          <c:marker>
            <c:symbol val="none"/>
          </c:marker>
          <c:cat>
            <c:numRef>
              <c:f>'Chart Data'!$A$2:$A$10</c:f>
              <c:numCache>
                <c:formatCode>General</c:formatCode>
                <c:ptCount val="9"/>
                <c:pt idx="0">
                  <c:v>04</c:v>
                </c:pt>
                <c:pt idx="1">
                  <c:v>05</c:v>
                </c:pt>
                <c:pt idx="2">
                  <c:v>06</c:v>
                </c:pt>
                <c:pt idx="3">
                  <c:v>07</c:v>
                </c:pt>
                <c:pt idx="4">
                  <c:v>08</c:v>
                </c:pt>
                <c:pt idx="5">
                  <c:v>09</c:v>
                </c:pt>
                <c:pt idx="6">
                  <c:v>10</c:v>
                </c:pt>
                <c:pt idx="7">
                  <c:v>11</c:v>
                </c:pt>
                <c:pt idx="8">
                  <c:v>12</c:v>
                </c:pt>
              </c:numCache>
            </c:numRef>
          </c:cat>
          <c:val>
            <c:numRef>
              <c:f>'Chart Data'!$B$2:$B$10</c:f>
              <c:numCache>
                <c:formatCode>0</c:formatCode>
                <c:ptCount val="9"/>
                <c:pt idx="0">
                  <c:v>14067.784</c:v>
                </c:pt>
                <c:pt idx="1">
                  <c:v>16363.875</c:v>
                </c:pt>
                <c:pt idx="2">
                  <c:v>15911.483</c:v>
                </c:pt>
                <c:pt idx="3">
                  <c:v>17170.687</c:v>
                </c:pt>
                <c:pt idx="4">
                  <c:v>15716.203</c:v>
                </c:pt>
                <c:pt idx="5">
                  <c:v>13971.597</c:v>
                </c:pt>
                <c:pt idx="6">
                  <c:v>14609.469</c:v>
                </c:pt>
                <c:pt idx="7">
                  <c:v>14533.667</c:v>
                </c:pt>
                <c:pt idx="8">
                  <c:v>16343.253</c:v>
                </c:pt>
              </c:numCache>
            </c:numRef>
          </c:val>
          <c:smooth val="0"/>
        </c:ser>
        <c:ser>
          <c:idx val="1"/>
          <c:order val="1"/>
          <c:tx>
            <c:v>Нижняя граница 80%</c:v>
          </c:tx>
          <c:spPr>
            <a:ln xmlns:a="http://schemas.openxmlformats.org/drawingml/2006/main" w="13335">
              <a:solidFill>
                <a:srgbClr val="9DBEAC"/>
              </a:solidFill>
            </a:ln>
          </c:spPr>
          <c:marker>
            <c:symbol val="none"/>
          </c:marker>
          <c:cat>
            <c:numRef>
              <c:f>'Chart Data'!$C$2:$C$10</c:f>
              <c:numCache>
                <c:formatCode>General</c:formatCode>
                <c:ptCount val="9"/>
                <c:pt idx="0">
                  <c:v>04</c:v>
                </c:pt>
                <c:pt idx="1">
                  <c:v>05</c:v>
                </c:pt>
                <c:pt idx="2">
                  <c:v>06</c:v>
                </c:pt>
                <c:pt idx="3">
                  <c:v>07</c:v>
                </c:pt>
                <c:pt idx="4">
                  <c:v>08</c:v>
                </c:pt>
                <c:pt idx="5">
                  <c:v>09</c:v>
                </c:pt>
                <c:pt idx="6">
                  <c:v>10</c:v>
                </c:pt>
                <c:pt idx="7">
                  <c:v>11</c:v>
                </c:pt>
                <c:pt idx="8">
                  <c:v>12</c:v>
                </c:pt>
              </c:numCache>
            </c:numRef>
          </c:cat>
          <c:val>
            <c:numRef>
              <c:f>'Chart Data'!$D$2:$D$10</c:f>
              <c:numCache>
                <c:formatCode>0</c:formatCode>
                <c:ptCount val="9"/>
                <c:pt idx="0">
                  <c:v>11792.567</c:v>
                </c:pt>
                <c:pt idx="1">
                  <c:v>14551.791</c:v>
                </c:pt>
                <c:pt idx="2">
                  <c:v>14260.542</c:v>
                </c:pt>
                <c:pt idx="3">
                  <c:v>15496.277</c:v>
                </c:pt>
                <c:pt idx="4">
                  <c:v>14431.475</c:v>
                </c:pt>
                <c:pt idx="5">
                  <c:v>12773.305</c:v>
                </c:pt>
                <c:pt idx="6">
                  <c:v>13384</c:v>
                </c:pt>
                <c:pt idx="7">
                  <c:v>13323.193</c:v>
                </c:pt>
                <c:pt idx="8">
                  <c:v>14996.737</c:v>
                </c:pt>
              </c:numCache>
            </c:numRef>
          </c:val>
          <c:smooth val="0"/>
        </c:ser>
        <c:ser>
          <c:idx val="2"/>
          <c:order val="2"/>
          <c:tx>
            <c:v>Факт</c:v>
          </c:tx>
          <c:spPr>
            <a:noFill xmlns:a="http://schemas.openxmlformats.org/drawingml/2006/main"/>
            <a:ln xmlns:a="http://schemas.openxmlformats.org/drawingml/2006/main" w="23813">
              <a:solidFill>
                <a:srgbClr val="183B32"/>
              </a:solidFill>
            </a:ln>
          </c:spPr>
          <c:marker>
            <c:symbol val="none"/>
          </c:marker>
          <c:cat>
            <c:numRef>
              <c:f>'Chart Data'!$E$2:$E$10</c:f>
              <c:numCache>
                <c:formatCode>General</c:formatCode>
                <c:ptCount val="9"/>
                <c:pt idx="0">
                  <c:v>04</c:v>
                </c:pt>
                <c:pt idx="1">
                  <c:v>05</c:v>
                </c:pt>
                <c:pt idx="2">
                  <c:v>06</c:v>
                </c:pt>
                <c:pt idx="3">
                  <c:v>07</c:v>
                </c:pt>
                <c:pt idx="4">
                  <c:v>08</c:v>
                </c:pt>
                <c:pt idx="5">
                  <c:v>09</c:v>
                </c:pt>
                <c:pt idx="6">
                  <c:v>10</c:v>
                </c:pt>
                <c:pt idx="7">
                  <c:v>11</c:v>
                </c:pt>
                <c:pt idx="8">
                  <c:v>12</c:v>
                </c:pt>
              </c:numCache>
            </c:numRef>
          </c:cat>
          <c:val>
            <c:numRef>
              <c:f>'Chart Data'!$F$2:$F$10</c:f>
              <c:numCache>
                <c:formatCode>0</c:formatCode>
                <c:ptCount val="9"/>
                <c:pt idx="0">
                  <c:v>14938</c:v>
                </c:pt>
                <c:pt idx="1">
                  <c:v>15129</c:v>
                </c:pt>
                <c:pt idx="2">
                  <c:v>15545</c:v>
                </c:pt>
                <c:pt idx="3">
                  <c:v>14994</c:v>
                </c:pt>
                <c:pt idx="4">
                  <c:v>14221</c:v>
                </c:pt>
                <c:pt idx="5">
                  <c:v>13597</c:v>
                </c:pt>
                <c:pt idx="6">
                  <c:v>13561</c:v>
                </c:pt>
                <c:pt idx="7">
                  <c:v>13350</c:v>
                </c:pt>
                <c:pt idx="8">
                  <c:v>16864</c:v>
                </c:pt>
              </c:numCache>
            </c:numRef>
          </c:val>
          <c:smooth val="0"/>
        </c:ser>
        <c:ser>
          <c:idx val="3"/>
          <c:order val="3"/>
          <c:tx>
            <c:v>Прогноз h1</c:v>
          </c:tx>
          <c:spPr>
            <a:noFill xmlns:a="http://schemas.openxmlformats.org/drawingml/2006/main"/>
            <a:ln xmlns:a="http://schemas.openxmlformats.org/drawingml/2006/main" w="23813">
              <a:solidFill>
                <a:srgbClr val="0C825D"/>
              </a:solidFill>
            </a:ln>
          </c:spPr>
          <c:marker>
            <c:symbol val="none"/>
          </c:marker>
          <c:cat>
            <c:numRef>
              <c:f>'Chart Data'!$G$2:$G$10</c:f>
              <c:numCache>
                <c:formatCode>General</c:formatCode>
                <c:ptCount val="9"/>
                <c:pt idx="0">
                  <c:v>04</c:v>
                </c:pt>
                <c:pt idx="1">
                  <c:v>05</c:v>
                </c:pt>
                <c:pt idx="2">
                  <c:v>06</c:v>
                </c:pt>
                <c:pt idx="3">
                  <c:v>07</c:v>
                </c:pt>
                <c:pt idx="4">
                  <c:v>08</c:v>
                </c:pt>
                <c:pt idx="5">
                  <c:v>09</c:v>
                </c:pt>
                <c:pt idx="6">
                  <c:v>10</c:v>
                </c:pt>
                <c:pt idx="7">
                  <c:v>11</c:v>
                </c:pt>
                <c:pt idx="8">
                  <c:v>12</c:v>
                </c:pt>
              </c:numCache>
            </c:numRef>
          </c:cat>
          <c:val>
            <c:numRef>
              <c:f>'Chart Data'!$H$2:$H$10</c:f>
              <c:numCache>
                <c:formatCode>0</c:formatCode>
                <c:ptCount val="9"/>
                <c:pt idx="0">
                  <c:v>12930.176</c:v>
                </c:pt>
                <c:pt idx="1">
                  <c:v>15457.833</c:v>
                </c:pt>
                <c:pt idx="2">
                  <c:v>15086.012</c:v>
                </c:pt>
                <c:pt idx="3">
                  <c:v>16333.482</c:v>
                </c:pt>
                <c:pt idx="4">
                  <c:v>15073.839</c:v>
                </c:pt>
                <c:pt idx="5">
                  <c:v>13372.451</c:v>
                </c:pt>
                <c:pt idx="6">
                  <c:v>13996.734</c:v>
                </c:pt>
                <c:pt idx="7">
                  <c:v>13928.43</c:v>
                </c:pt>
                <c:pt idx="8">
                  <c:v>15669.995</c:v>
                </c:pt>
              </c:numCache>
            </c:numRef>
          </c:val>
          <c:smooth val="0"/>
        </c:ser>
        <c:dLbls>
          <c:txPr>
            <a:bodyPr xmlns:a="http://schemas.openxmlformats.org/drawingml/2006/main" anchorCtr="1"/>
            <a:lstStyle xmlns:a="http://schemas.openxmlformats.org/drawingml/2006/main"/>
            <a:p xmlns:a="http://schemas.openxmlformats.org/drawingml/2006/main">
              <a:pPr>
                <a:defRPr>
                  <a:latin typeface="Noto Sans"/>
                  <a:ea typeface="Noto Sans"/>
                  <a:cs typeface="Noto San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Noto Sans"/>
                <a:ea typeface="Noto Sans"/>
                <a:cs typeface="Noto Sans"/>
              </a:defRPr>
            </a:pPr>
          </a:p>
        </c:txPr>
        <c:crossAx val="48672768"/>
      </c:catAx>
      <c:valAx>
        <c:axId val="48672768"/>
        <c:scaling>
          <c:orientation val="minMax"/>
          <c:max val="18000"/>
          <c:min val="1100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Noto Sans"/>
                <a:ea typeface="Noto Sans"/>
                <a:cs typeface="Noto Sans"/>
              </a:defRPr>
            </a:pPr>
          </a:p>
        </c:txPr>
        <c:crossAx val="48650112"/>
        <c:crossBetween val="between"/>
      </c:valAx>
      <c:spPr>
        <a:solidFill xmlns:a="http://schemas.openxmlformats.org/drawingml/2006/main">
          <a:srgbClr val="FAFCF9"/>
        </a:solidFill>
      </c:spPr>
    </c:plotArea>
    <c:plotVisOnly val="1"/>
  </c:chart>
  <c:spPr>
    <a:solidFill xmlns:a="http://schemas.openxmlformats.org/drawingml/2006/main">
      <a:srgbClr val="FAFCF9"/>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lineChart>
        <c:grouping val="standard"/>
        <c:varyColors val="0"/>
        <c:ser>
          <c:idx val="0"/>
          <c:order val="0"/>
          <c:tx>
            <c:v>Верхняя граница 80%</c:v>
          </c:tx>
          <c:spPr>
            <a:ln xmlns:a="http://schemas.openxmlformats.org/drawingml/2006/main" w="13335">
              <a:solidFill>
                <a:srgbClr val="9DBEAC"/>
              </a:solidFill>
            </a:ln>
          </c:spPr>
          <c:marker>
            <c:symbol val="none"/>
          </c:marker>
          <c:cat>
            <c:numRef>
              <c:f>'Chart Data'!$A$2:$A$10</c:f>
              <c:numCache>
                <c:formatCode>General</c:formatCode>
                <c:ptCount val="9"/>
                <c:pt idx="0">
                  <c:v>04</c:v>
                </c:pt>
                <c:pt idx="1">
                  <c:v>05</c:v>
                </c:pt>
                <c:pt idx="2">
                  <c:v>06</c:v>
                </c:pt>
                <c:pt idx="3">
                  <c:v>07</c:v>
                </c:pt>
                <c:pt idx="4">
                  <c:v>08</c:v>
                </c:pt>
                <c:pt idx="5">
                  <c:v>09</c:v>
                </c:pt>
                <c:pt idx="6">
                  <c:v>10</c:v>
                </c:pt>
                <c:pt idx="7">
                  <c:v>11</c:v>
                </c:pt>
                <c:pt idx="8">
                  <c:v>12</c:v>
                </c:pt>
              </c:numCache>
            </c:numRef>
          </c:cat>
          <c:val>
            <c:numRef>
              <c:f>'Chart Data'!$B$2:$B$10</c:f>
              <c:numCache>
                <c:formatCode>0</c:formatCode>
                <c:ptCount val="9"/>
                <c:pt idx="0">
                  <c:v>30685.047</c:v>
                </c:pt>
                <c:pt idx="1">
                  <c:v>32900.297</c:v>
                </c:pt>
                <c:pt idx="2">
                  <c:v>34529.318</c:v>
                </c:pt>
                <c:pt idx="3">
                  <c:v>35309.227</c:v>
                </c:pt>
                <c:pt idx="4">
                  <c:v>34195.408</c:v>
                </c:pt>
                <c:pt idx="5">
                  <c:v>31637.478</c:v>
                </c:pt>
                <c:pt idx="6">
                  <c:v>32438.633</c:v>
                </c:pt>
                <c:pt idx="7">
                  <c:v>34701.699</c:v>
                </c:pt>
                <c:pt idx="8">
                  <c:v>40660.538</c:v>
                </c:pt>
              </c:numCache>
            </c:numRef>
          </c:val>
          <c:smooth val="0"/>
        </c:ser>
        <c:ser>
          <c:idx val="1"/>
          <c:order val="1"/>
          <c:tx>
            <c:v>Нижняя граница 80%</c:v>
          </c:tx>
          <c:spPr>
            <a:ln xmlns:a="http://schemas.openxmlformats.org/drawingml/2006/main" w="13335">
              <a:solidFill>
                <a:srgbClr val="9DBEAC"/>
              </a:solidFill>
            </a:ln>
          </c:spPr>
          <c:marker>
            <c:symbol val="none"/>
          </c:marker>
          <c:cat>
            <c:numRef>
              <c:f>'Chart Data'!$C$2:$C$10</c:f>
              <c:numCache>
                <c:formatCode>General</c:formatCode>
                <c:ptCount val="9"/>
                <c:pt idx="0">
                  <c:v>04</c:v>
                </c:pt>
                <c:pt idx="1">
                  <c:v>05</c:v>
                </c:pt>
                <c:pt idx="2">
                  <c:v>06</c:v>
                </c:pt>
                <c:pt idx="3">
                  <c:v>07</c:v>
                </c:pt>
                <c:pt idx="4">
                  <c:v>08</c:v>
                </c:pt>
                <c:pt idx="5">
                  <c:v>09</c:v>
                </c:pt>
                <c:pt idx="6">
                  <c:v>10</c:v>
                </c:pt>
                <c:pt idx="7">
                  <c:v>11</c:v>
                </c:pt>
                <c:pt idx="8">
                  <c:v>12</c:v>
                </c:pt>
              </c:numCache>
            </c:numRef>
          </c:cat>
          <c:val>
            <c:numRef>
              <c:f>'Chart Data'!$D$2:$D$10</c:f>
              <c:numCache>
                <c:formatCode>0</c:formatCode>
                <c:ptCount val="9"/>
                <c:pt idx="0">
                  <c:v>26377.361</c:v>
                </c:pt>
                <c:pt idx="1">
                  <c:v>29469.464</c:v>
                </c:pt>
                <c:pt idx="2">
                  <c:v>31403.578</c:v>
                </c:pt>
                <c:pt idx="3">
                  <c:v>32139.053</c:v>
                </c:pt>
                <c:pt idx="4">
                  <c:v>31763.022</c:v>
                </c:pt>
                <c:pt idx="5">
                  <c:v>29368.741</c:v>
                </c:pt>
                <c:pt idx="6">
                  <c:v>30118.443</c:v>
                </c:pt>
                <c:pt idx="7">
                  <c:v>32409.9</c:v>
                </c:pt>
                <c:pt idx="8">
                  <c:v>38111.168</c:v>
                </c:pt>
              </c:numCache>
            </c:numRef>
          </c:val>
          <c:smooth val="0"/>
        </c:ser>
        <c:ser>
          <c:idx val="2"/>
          <c:order val="2"/>
          <c:tx>
            <c:v>Факт</c:v>
          </c:tx>
          <c:spPr>
            <a:noFill xmlns:a="http://schemas.openxmlformats.org/drawingml/2006/main"/>
            <a:ln xmlns:a="http://schemas.openxmlformats.org/drawingml/2006/main" w="23813">
              <a:solidFill>
                <a:srgbClr val="183B32"/>
              </a:solidFill>
            </a:ln>
          </c:spPr>
          <c:marker>
            <c:symbol val="none"/>
          </c:marker>
          <c:cat>
            <c:numRef>
              <c:f>'Chart Data'!$E$2:$E$10</c:f>
              <c:numCache>
                <c:formatCode>General</c:formatCode>
                <c:ptCount val="9"/>
                <c:pt idx="0">
                  <c:v>04</c:v>
                </c:pt>
                <c:pt idx="1">
                  <c:v>05</c:v>
                </c:pt>
                <c:pt idx="2">
                  <c:v>06</c:v>
                </c:pt>
                <c:pt idx="3">
                  <c:v>07</c:v>
                </c:pt>
                <c:pt idx="4">
                  <c:v>08</c:v>
                </c:pt>
                <c:pt idx="5">
                  <c:v>09</c:v>
                </c:pt>
                <c:pt idx="6">
                  <c:v>10</c:v>
                </c:pt>
                <c:pt idx="7">
                  <c:v>11</c:v>
                </c:pt>
                <c:pt idx="8">
                  <c:v>12</c:v>
                </c:pt>
              </c:numCache>
            </c:numRef>
          </c:cat>
          <c:val>
            <c:numRef>
              <c:f>'Chart Data'!$F$2:$F$10</c:f>
              <c:numCache>
                <c:formatCode>0</c:formatCode>
                <c:ptCount val="9"/>
                <c:pt idx="0">
                  <c:v>30327</c:v>
                </c:pt>
                <c:pt idx="1">
                  <c:v>32831</c:v>
                </c:pt>
                <c:pt idx="2">
                  <c:v>32257</c:v>
                </c:pt>
                <c:pt idx="3">
                  <c:v>32470</c:v>
                </c:pt>
                <c:pt idx="4">
                  <c:v>32637</c:v>
                </c:pt>
                <c:pt idx="5">
                  <c:v>30287</c:v>
                </c:pt>
                <c:pt idx="6">
                  <c:v>32665</c:v>
                </c:pt>
                <c:pt idx="7">
                  <c:v>33299</c:v>
                </c:pt>
                <c:pt idx="8">
                  <c:v>37851</c:v>
                </c:pt>
              </c:numCache>
            </c:numRef>
          </c:val>
          <c:smooth val="0"/>
        </c:ser>
        <c:ser>
          <c:idx val="3"/>
          <c:order val="3"/>
          <c:tx>
            <c:v>Прогноз h1</c:v>
          </c:tx>
          <c:spPr>
            <a:noFill xmlns:a="http://schemas.openxmlformats.org/drawingml/2006/main"/>
            <a:ln xmlns:a="http://schemas.openxmlformats.org/drawingml/2006/main" w="23813">
              <a:solidFill>
                <a:srgbClr val="0C825D"/>
              </a:solidFill>
            </a:ln>
          </c:spPr>
          <c:marker>
            <c:symbol val="none"/>
          </c:marker>
          <c:cat>
            <c:numRef>
              <c:f>'Chart Data'!$G$2:$G$10</c:f>
              <c:numCache>
                <c:formatCode>General</c:formatCode>
                <c:ptCount val="9"/>
                <c:pt idx="0">
                  <c:v>04</c:v>
                </c:pt>
                <c:pt idx="1">
                  <c:v>05</c:v>
                </c:pt>
                <c:pt idx="2">
                  <c:v>06</c:v>
                </c:pt>
                <c:pt idx="3">
                  <c:v>07</c:v>
                </c:pt>
                <c:pt idx="4">
                  <c:v>08</c:v>
                </c:pt>
                <c:pt idx="5">
                  <c:v>09</c:v>
                </c:pt>
                <c:pt idx="6">
                  <c:v>10</c:v>
                </c:pt>
                <c:pt idx="7">
                  <c:v>11</c:v>
                </c:pt>
                <c:pt idx="8">
                  <c:v>12</c:v>
                </c:pt>
              </c:numCache>
            </c:numRef>
          </c:cat>
          <c:val>
            <c:numRef>
              <c:f>'Chart Data'!$H$2:$H$10</c:f>
              <c:numCache>
                <c:formatCode>0</c:formatCode>
                <c:ptCount val="9"/>
                <c:pt idx="0">
                  <c:v>28531.204</c:v>
                </c:pt>
                <c:pt idx="1">
                  <c:v>31184.88</c:v>
                </c:pt>
                <c:pt idx="2">
                  <c:v>32966.448</c:v>
                </c:pt>
                <c:pt idx="3">
                  <c:v>33724.14</c:v>
                </c:pt>
                <c:pt idx="4">
                  <c:v>32979.215</c:v>
                </c:pt>
                <c:pt idx="5">
                  <c:v>30503.11</c:v>
                </c:pt>
                <c:pt idx="6">
                  <c:v>31278.538</c:v>
                </c:pt>
                <c:pt idx="7">
                  <c:v>33555.799</c:v>
                </c:pt>
                <c:pt idx="8">
                  <c:v>39385.853</c:v>
                </c:pt>
              </c:numCache>
            </c:numRef>
          </c:val>
          <c:smooth val="0"/>
        </c:ser>
        <c:dLbls>
          <c:txPr>
            <a:bodyPr xmlns:a="http://schemas.openxmlformats.org/drawingml/2006/main" anchorCtr="1"/>
            <a:lstStyle xmlns:a="http://schemas.openxmlformats.org/drawingml/2006/main"/>
            <a:p xmlns:a="http://schemas.openxmlformats.org/drawingml/2006/main">
              <a:pPr>
                <a:defRPr>
                  <a:latin typeface="Noto Sans"/>
                  <a:ea typeface="Noto Sans"/>
                  <a:cs typeface="Noto San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Noto Sans"/>
                <a:ea typeface="Noto Sans"/>
                <a:cs typeface="Noto Sans"/>
              </a:defRPr>
            </a:pPr>
          </a:p>
        </c:txPr>
        <c:crossAx val="48672768"/>
      </c:catAx>
      <c:valAx>
        <c:axId val="48672768"/>
        <c:scaling>
          <c:orientation val="minMax"/>
          <c:max val="41000"/>
          <c:min val="2500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Noto Sans"/>
                <a:ea typeface="Noto Sans"/>
                <a:cs typeface="Noto Sans"/>
              </a:defRPr>
            </a:pPr>
          </a:p>
        </c:txPr>
        <c:crossAx val="48650112"/>
        <c:crossBetween val="between"/>
      </c:valAx>
      <c:spPr>
        <a:solidFill xmlns:a="http://schemas.openxmlformats.org/drawingml/2006/main">
          <a:srgbClr val="FAFCF9"/>
        </a:solidFill>
      </c:spPr>
    </c:plotArea>
    <c:plotVisOnly val="1"/>
  </c:chart>
  <c:spPr>
    <a:solidFill xmlns:a="http://schemas.openxmlformats.org/drawingml/2006/main">
      <a:srgbClr val="FAFCF9"/>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marker"/>
        <c:ser>
          <c:idx val="0"/>
          <c:order val="0"/>
          <c:tx>
            <c:v>EWMA</c:v>
          </c:tx>
          <c:spPr>
            <a:solidFill xmlns:a="http://schemas.openxmlformats.org/drawingml/2006/main">
              <a:srgbClr val="0C825D"/>
            </a:solidFill>
            <a:ln xmlns:a="http://schemas.openxmlformats.org/drawingml/2006/main" w="9525">
              <a:solidFill>
                <a:srgbClr val="0C825D"/>
              </a:solidFill>
            </a:ln>
          </c:spPr>
          <c:marker>
            <c:symbol val="circle"/>
            <c:size val="14"/>
            <c:spPr>
              <a:solidFill xmlns:a="http://schemas.openxmlformats.org/drawingml/2006/main">
                <a:srgbClr val="0C825D"/>
              </a:solidFill>
            </c:spPr>
          </c:marker>
          <c:dLbls>
            <c:dLbl>
              <c:idx val="0"/>
              <c:tx>
                <c:rich>
                  <a:bodyPr xmlns:a="http://schemas.openxmlformats.org/drawingml/2006/main"/>
                  <a:lstStyle xmlns:a="http://schemas.openxmlformats.org/drawingml/2006/main"/>
                  <a:p xmlns:a="http://schemas.openxmlformats.org/drawingml/2006/main">
                    <a:r>
                      <a:rPr sz="1425" b="1">
                        <a:solidFill>
                          <a:srgbClr val="183B32"/>
                        </a:solidFill>
                        <a:latin typeface="Noto Sans"/>
                        <a:ea typeface="Noto Sans"/>
                        <a:cs typeface="Noto Sans"/>
                      </a:rPr>
                      <a:t>EWMA</a:t>
                    </a:r>
                  </a:p>
                </c:rich>
              </c:tx>
              <c:txPr>
                <a:bodyPr xmlns:a="http://schemas.openxmlformats.org/drawingml/2006/main" anchorCtr="1"/>
                <a:lstStyle xmlns:a="http://schemas.openxmlformats.org/drawingml/2006/main"/>
                <a:p xmlns:a="http://schemas.openxmlformats.org/drawingml/2006/main">
                  <a:pPr>
                    <a:defRPr sz="1425" b="1">
                      <a:solidFill>
                        <a:srgbClr val="183B32"/>
                      </a:solidFill>
                      <a:latin typeface="Noto Sans"/>
                      <a:ea typeface="Noto Sans"/>
                      <a:cs typeface="Noto Sans"/>
                    </a:defRPr>
                  </a:pPr>
                </a:p>
              </c:txPr>
              <c:dLblPos val="l"/>
              <c:showLegendKey val="0"/>
              <c:showVal val="0"/>
              <c:showCatName val="0"/>
              <c:showSerName val="0"/>
              <c:showPercent val="0"/>
              <c:showBubbleSize val="0"/>
            </c:dLbl>
          </c:dLbls>
          <c:xVal>
            <c:numRef>
              <c:f>'Chart Data'!$A$2:$A$2</c:f>
              <c:numCache>
                <c:formatCode>General</c:formatCode>
                <c:ptCount val="1"/>
                <c:pt idx="0">
                  <c:v>0.046296</c:v>
                </c:pt>
              </c:numCache>
            </c:numRef>
          </c:xVal>
          <c:yVal>
            <c:numRef>
              <c:f>'Chart Data'!$B$2:$B$2</c:f>
              <c:numCache>
                <c:formatCode>0.0</c:formatCode>
                <c:ptCount val="1"/>
                <c:pt idx="0">
                  <c:v>0.647</c:v>
                </c:pt>
              </c:numCache>
            </c:numRef>
          </c:yVal>
        </c:ser>
        <c:ser>
          <c:idx val="1"/>
          <c:order val="1"/>
          <c:tx>
            <c:v>CUSUM</c:v>
          </c:tx>
          <c:spPr>
            <a:solidFill xmlns:a="http://schemas.openxmlformats.org/drawingml/2006/main">
              <a:srgbClr val="52718A"/>
            </a:solidFill>
            <a:ln xmlns:a="http://schemas.openxmlformats.org/drawingml/2006/main" w="9525">
              <a:solidFill>
                <a:srgbClr val="52718A"/>
              </a:solidFill>
            </a:ln>
          </c:spPr>
          <c:marker>
            <c:symbol val="circle"/>
            <c:size val="10"/>
            <c:spPr>
              <a:solidFill xmlns:a="http://schemas.openxmlformats.org/drawingml/2006/main">
                <a:srgbClr val="52718A"/>
              </a:solidFill>
            </c:spPr>
          </c:marker>
          <c:dLbls>
            <c:dLbl>
              <c:idx val="0"/>
              <c:tx>
                <c:rich>
                  <a:bodyPr xmlns:a="http://schemas.openxmlformats.org/drawingml/2006/main"/>
                  <a:lstStyle xmlns:a="http://schemas.openxmlformats.org/drawingml/2006/main"/>
                  <a:p xmlns:a="http://schemas.openxmlformats.org/drawingml/2006/main">
                    <a:r>
                      <a:rPr sz="1425" b="0">
                        <a:solidFill>
                          <a:srgbClr val="183B32"/>
                        </a:solidFill>
                        <a:latin typeface="Noto Sans"/>
                        <a:ea typeface="Noto Sans"/>
                        <a:cs typeface="Noto Sans"/>
                      </a:rPr>
                      <a:t>CUSUM</a:t>
                    </a:r>
                  </a:p>
                </c:rich>
              </c:tx>
              <c:txPr>
                <a:bodyPr xmlns:a="http://schemas.openxmlformats.org/drawingml/2006/main" anchorCtr="1"/>
                <a:lstStyle xmlns:a="http://schemas.openxmlformats.org/drawingml/2006/main"/>
                <a:p xmlns:a="http://schemas.openxmlformats.org/drawingml/2006/main">
                  <a:pPr>
                    <a:defRPr sz="1425" b="0">
                      <a:solidFill>
                        <a:srgbClr val="183B32"/>
                      </a:solidFill>
                      <a:latin typeface="Noto Sans"/>
                      <a:ea typeface="Noto Sans"/>
                      <a:cs typeface="Noto Sans"/>
                    </a:defRPr>
                  </a:pPr>
                </a:p>
              </c:txPr>
              <c:dLblPos val="t"/>
              <c:showLegendKey val="0"/>
              <c:showVal val="0"/>
              <c:showCatName val="0"/>
              <c:showSerName val="0"/>
              <c:showPercent val="0"/>
              <c:showBubbleSize val="0"/>
            </c:dLbl>
          </c:dLbls>
          <c:xVal>
            <c:numRef>
              <c:f>'Chart Data'!$C$2:$C$2</c:f>
              <c:numCache>
                <c:formatCode>General</c:formatCode>
                <c:ptCount val="1"/>
                <c:pt idx="0">
                  <c:v>0.069444</c:v>
                </c:pt>
              </c:numCache>
            </c:numRef>
          </c:xVal>
          <c:yVal>
            <c:numRef>
              <c:f>'Chart Data'!$D$2:$D$2</c:f>
              <c:numCache>
                <c:formatCode>0.0</c:formatCode>
                <c:ptCount val="1"/>
                <c:pt idx="0">
                  <c:v>0.602</c:v>
                </c:pt>
              </c:numCache>
            </c:numRef>
          </c:yVal>
        </c:ser>
        <c:ser>
          <c:idx val="2"/>
          <c:order val="2"/>
          <c:tx>
            <c:v>CUSUM +</c:v>
          </c:tx>
          <c:spPr>
            <a:solidFill xmlns:a="http://schemas.openxmlformats.org/drawingml/2006/main">
              <a:srgbClr val="52718A"/>
            </a:solidFill>
            <a:ln xmlns:a="http://schemas.openxmlformats.org/drawingml/2006/main" w="9525">
              <a:solidFill>
                <a:srgbClr val="52718A"/>
              </a:solidFill>
            </a:ln>
          </c:spPr>
          <c:marker>
            <c:symbol val="circle"/>
            <c:size val="10"/>
            <c:spPr>
              <a:solidFill xmlns:a="http://schemas.openxmlformats.org/drawingml/2006/main">
                <a:srgbClr val="52718A"/>
              </a:solidFill>
            </c:spPr>
          </c:marker>
          <c:dLbls>
            <c:dLbl>
              <c:idx val="0"/>
              <c:tx>
                <c:rich>
                  <a:bodyPr xmlns:a="http://schemas.openxmlformats.org/drawingml/2006/main"/>
                  <a:lstStyle xmlns:a="http://schemas.openxmlformats.org/drawingml/2006/main"/>
                  <a:p xmlns:a="http://schemas.openxmlformats.org/drawingml/2006/main">
                    <a:r>
                      <a:rPr sz="1425" b="0">
                        <a:solidFill>
                          <a:srgbClr val="183B32"/>
                        </a:solidFill>
                        <a:latin typeface="Noto Sans"/>
                        <a:ea typeface="Noto Sans"/>
                        <a:cs typeface="Noto Sans"/>
                      </a:rPr>
                      <a:t>CUSUM +</a:t>
                    </a:r>
                  </a:p>
                </c:rich>
              </c:tx>
              <c:txPr>
                <a:bodyPr xmlns:a="http://schemas.openxmlformats.org/drawingml/2006/main" anchorCtr="1"/>
                <a:lstStyle xmlns:a="http://schemas.openxmlformats.org/drawingml/2006/main"/>
                <a:p xmlns:a="http://schemas.openxmlformats.org/drawingml/2006/main">
                  <a:pPr>
                    <a:defRPr sz="1425" b="0">
                      <a:solidFill>
                        <a:srgbClr val="183B32"/>
                      </a:solidFill>
                      <a:latin typeface="Noto Sans"/>
                      <a:ea typeface="Noto Sans"/>
                      <a:cs typeface="Noto Sans"/>
                    </a:defRPr>
                  </a:pPr>
                </a:p>
              </c:txPr>
              <c:dLblPos val="r"/>
              <c:showLegendKey val="0"/>
              <c:showVal val="0"/>
              <c:showCatName val="0"/>
              <c:showSerName val="0"/>
              <c:showPercent val="0"/>
              <c:showBubbleSize val="0"/>
            </c:dLbl>
          </c:dLbls>
          <c:xVal>
            <c:numRef>
              <c:f>'Chart Data'!$E$2:$E$2</c:f>
              <c:numCache>
                <c:formatCode>General</c:formatCode>
                <c:ptCount val="1"/>
                <c:pt idx="0">
                  <c:v>0.092593</c:v>
                </c:pt>
              </c:numCache>
            </c:numRef>
          </c:xVal>
          <c:yVal>
            <c:numRef>
              <c:f>'Chart Data'!$F$2:$F$2</c:f>
              <c:numCache>
                <c:formatCode>0.0</c:formatCode>
                <c:ptCount val="1"/>
                <c:pt idx="0">
                  <c:v>0.598</c:v>
                </c:pt>
              </c:numCache>
            </c:numRef>
          </c:yVal>
        </c:ser>
        <c:ser>
          <c:idx val="3"/>
          <c:order val="3"/>
          <c:tx>
            <c:v>Разовый порог</c:v>
          </c:tx>
          <c:spPr>
            <a:solidFill xmlns:a="http://schemas.openxmlformats.org/drawingml/2006/main">
              <a:srgbClr val="52718A"/>
            </a:solidFill>
            <a:ln xmlns:a="http://schemas.openxmlformats.org/drawingml/2006/main" w="9525">
              <a:solidFill>
                <a:srgbClr val="52718A"/>
              </a:solidFill>
            </a:ln>
          </c:spPr>
          <c:marker>
            <c:symbol val="circle"/>
            <c:size val="10"/>
            <c:spPr>
              <a:solidFill xmlns:a="http://schemas.openxmlformats.org/drawingml/2006/main">
                <a:srgbClr val="52718A"/>
              </a:solidFill>
            </c:spPr>
          </c:marker>
          <c:dLbls>
            <c:dLbl>
              <c:idx val="0"/>
              <c:tx>
                <c:rich>
                  <a:bodyPr xmlns:a="http://schemas.openxmlformats.org/drawingml/2006/main"/>
                  <a:lstStyle xmlns:a="http://schemas.openxmlformats.org/drawingml/2006/main"/>
                  <a:p xmlns:a="http://schemas.openxmlformats.org/drawingml/2006/main">
                    <a:r>
                      <a:rPr sz="1425" b="0">
                        <a:solidFill>
                          <a:srgbClr val="183B32"/>
                        </a:solidFill>
                        <a:latin typeface="Noto Sans"/>
                        <a:ea typeface="Noto Sans"/>
                        <a:cs typeface="Noto Sans"/>
                      </a:rPr>
                      <a:t>Порог</a:t>
                    </a:r>
                  </a:p>
                </c:rich>
              </c:tx>
              <c:txPr>
                <a:bodyPr xmlns:a="http://schemas.openxmlformats.org/drawingml/2006/main" anchorCtr="1"/>
                <a:lstStyle xmlns:a="http://schemas.openxmlformats.org/drawingml/2006/main"/>
                <a:p xmlns:a="http://schemas.openxmlformats.org/drawingml/2006/main">
                  <a:pPr>
                    <a:defRPr sz="1425" b="0">
                      <a:solidFill>
                        <a:srgbClr val="183B32"/>
                      </a:solidFill>
                      <a:latin typeface="Noto Sans"/>
                      <a:ea typeface="Noto Sans"/>
                      <a:cs typeface="Noto Sans"/>
                    </a:defRPr>
                  </a:pPr>
                </a:p>
              </c:txPr>
              <c:dLblPos val="l"/>
              <c:showLegendKey val="0"/>
              <c:showVal val="0"/>
              <c:showCatName val="0"/>
              <c:showSerName val="0"/>
              <c:showPercent val="0"/>
              <c:showBubbleSize val="0"/>
            </c:dLbl>
          </c:dLbls>
          <c:xVal>
            <c:numRef>
              <c:f>'Chart Data'!$G$2:$G$2</c:f>
              <c:numCache>
                <c:formatCode>General</c:formatCode>
                <c:ptCount val="1"/>
                <c:pt idx="0">
                  <c:v>0.069444</c:v>
                </c:pt>
              </c:numCache>
            </c:numRef>
          </c:xVal>
          <c:yVal>
            <c:numRef>
              <c:f>'Chart Data'!$H$2:$H$2</c:f>
              <c:numCache>
                <c:formatCode>0.0</c:formatCode>
                <c:ptCount val="1"/>
                <c:pt idx="0">
                  <c:v>0.525</c:v>
                </c:pt>
              </c:numCache>
            </c:numRef>
          </c:yVal>
        </c:ser>
        <c:ser>
          <c:idx val="4"/>
          <c:order val="4"/>
          <c:tx>
            <c:v>Среднее 3 мес.</c:v>
          </c:tx>
          <c:spPr>
            <a:solidFill xmlns:a="http://schemas.openxmlformats.org/drawingml/2006/main">
              <a:srgbClr val="52718A"/>
            </a:solidFill>
            <a:ln xmlns:a="http://schemas.openxmlformats.org/drawingml/2006/main" w="9525">
              <a:solidFill>
                <a:srgbClr val="52718A"/>
              </a:solidFill>
            </a:ln>
          </c:spPr>
          <c:marker>
            <c:symbol val="circle"/>
            <c:size val="10"/>
            <c:spPr>
              <a:solidFill xmlns:a="http://schemas.openxmlformats.org/drawingml/2006/main">
                <a:srgbClr val="52718A"/>
              </a:solidFill>
            </c:spPr>
          </c:marker>
          <c:dLbls>
            <c:dLbl>
              <c:idx val="0"/>
              <c:tx>
                <c:rich>
                  <a:bodyPr xmlns:a="http://schemas.openxmlformats.org/drawingml/2006/main"/>
                  <a:lstStyle xmlns:a="http://schemas.openxmlformats.org/drawingml/2006/main"/>
                  <a:p xmlns:a="http://schemas.openxmlformats.org/drawingml/2006/main">
                    <a:r>
                      <a:rPr sz="1425" b="0">
                        <a:solidFill>
                          <a:srgbClr val="183B32"/>
                        </a:solidFill>
                        <a:latin typeface="Noto Sans"/>
                        <a:ea typeface="Noto Sans"/>
                        <a:cs typeface="Noto Sans"/>
                      </a:rPr>
                      <a:t>Среднее 3 мес.</a:t>
                    </a:r>
                  </a:p>
                </c:rich>
              </c:tx>
              <c:txPr>
                <a:bodyPr xmlns:a="http://schemas.openxmlformats.org/drawingml/2006/main" anchorCtr="1"/>
                <a:lstStyle xmlns:a="http://schemas.openxmlformats.org/drawingml/2006/main"/>
                <a:p xmlns:a="http://schemas.openxmlformats.org/drawingml/2006/main">
                  <a:pPr>
                    <a:defRPr sz="1425" b="0">
                      <a:solidFill>
                        <a:srgbClr val="183B32"/>
                      </a:solidFill>
                      <a:latin typeface="Noto Sans"/>
                      <a:ea typeface="Noto Sans"/>
                      <a:cs typeface="Noto Sans"/>
                    </a:defRPr>
                  </a:pPr>
                </a:p>
              </c:txPr>
              <c:dLblPos val="l"/>
              <c:showLegendKey val="0"/>
              <c:showVal val="0"/>
              <c:showCatName val="0"/>
              <c:showSerName val="0"/>
              <c:showPercent val="0"/>
              <c:showBubbleSize val="0"/>
            </c:dLbl>
          </c:dLbls>
          <c:xVal>
            <c:numRef>
              <c:f>'Chart Data'!$I$2:$I$2</c:f>
              <c:numCache>
                <c:formatCode>General</c:formatCode>
                <c:ptCount val="1"/>
                <c:pt idx="0">
                  <c:v>0.069444</c:v>
                </c:pt>
              </c:numCache>
            </c:numRef>
          </c:xVal>
          <c:yVal>
            <c:numRef>
              <c:f>'Chart Data'!$J$2:$J$2</c:f>
              <c:numCache>
                <c:formatCode>0.0</c:formatCode>
                <c:ptCount val="1"/>
                <c:pt idx="0">
                  <c:v>0.344</c:v>
                </c:pt>
              </c:numCache>
            </c:numRef>
          </c:yVal>
        </c:ser>
        <c:ser>
          <c:idx val="5"/>
          <c:order val="5"/>
          <c:tx>
            <c:v>BOCPD</c:v>
          </c:tx>
          <c:spPr>
            <a:solidFill xmlns:a="http://schemas.openxmlformats.org/drawingml/2006/main">
              <a:srgbClr val="52718A"/>
            </a:solidFill>
            <a:ln xmlns:a="http://schemas.openxmlformats.org/drawingml/2006/main" w="9525">
              <a:solidFill>
                <a:srgbClr val="52718A"/>
              </a:solidFill>
            </a:ln>
          </c:spPr>
          <c:marker>
            <c:symbol val="circle"/>
            <c:size val="10"/>
            <c:spPr>
              <a:solidFill xmlns:a="http://schemas.openxmlformats.org/drawingml/2006/main">
                <a:srgbClr val="52718A"/>
              </a:solidFill>
            </c:spPr>
          </c:marker>
          <c:dLbls>
            <c:dLbl>
              <c:idx val="0"/>
              <c:tx>
                <c:rich>
                  <a:bodyPr xmlns:a="http://schemas.openxmlformats.org/drawingml/2006/main"/>
                  <a:lstStyle xmlns:a="http://schemas.openxmlformats.org/drawingml/2006/main"/>
                  <a:p xmlns:a="http://schemas.openxmlformats.org/drawingml/2006/main">
                    <a:r>
                      <a:rPr sz="1425" b="0">
                        <a:solidFill>
                          <a:srgbClr val="183B32"/>
                        </a:solidFill>
                        <a:latin typeface="Noto Sans"/>
                        <a:ea typeface="Noto Sans"/>
                        <a:cs typeface="Noto Sans"/>
                      </a:rPr>
                      <a:t>BOCPD</a:t>
                    </a:r>
                  </a:p>
                </c:rich>
              </c:tx>
              <c:txPr>
                <a:bodyPr xmlns:a="http://schemas.openxmlformats.org/drawingml/2006/main" anchorCtr="1"/>
                <a:lstStyle xmlns:a="http://schemas.openxmlformats.org/drawingml/2006/main"/>
                <a:p xmlns:a="http://schemas.openxmlformats.org/drawingml/2006/main">
                  <a:pPr>
                    <a:defRPr sz="1425" b="0">
                      <a:solidFill>
                        <a:srgbClr val="183B32"/>
                      </a:solidFill>
                      <a:latin typeface="Noto Sans"/>
                      <a:ea typeface="Noto Sans"/>
                      <a:cs typeface="Noto Sans"/>
                    </a:defRPr>
                  </a:pPr>
                </a:p>
              </c:txPr>
              <c:dLblPos val="r"/>
              <c:showLegendKey val="0"/>
              <c:showVal val="0"/>
              <c:showCatName val="0"/>
              <c:showSerName val="0"/>
              <c:showPercent val="0"/>
              <c:showBubbleSize val="0"/>
            </c:dLbl>
          </c:dLbls>
          <c:xVal>
            <c:numRef>
              <c:f>'Chart Data'!$K$2:$K$2</c:f>
              <c:numCache>
                <c:formatCode>General</c:formatCode>
                <c:ptCount val="1"/>
                <c:pt idx="0">
                  <c:v>0.092593</c:v>
                </c:pt>
              </c:numCache>
            </c:numRef>
          </c:xVal>
          <c:yVal>
            <c:numRef>
              <c:f>'Chart Data'!$L$2:$L$2</c:f>
              <c:numCache>
                <c:formatCode>0.0</c:formatCode>
                <c:ptCount val="1"/>
                <c:pt idx="0">
                  <c:v>0.092</c:v>
                </c:pt>
              </c:numCache>
            </c:numRef>
          </c:yVal>
        </c:ser>
        <c:ser>
          <c:idx val="6"/>
          <c:order val="6"/>
          <c:tx>
            <c:v>PELT (офлайн)</c:v>
          </c:tx>
          <c:spPr>
            <a:solidFill xmlns:a="http://schemas.openxmlformats.org/drawingml/2006/main">
              <a:srgbClr val="919A96"/>
            </a:solidFill>
            <a:ln xmlns:a="http://schemas.openxmlformats.org/drawingml/2006/main" w="9525">
              <a:solidFill>
                <a:srgbClr val="919A96"/>
              </a:solidFill>
            </a:ln>
          </c:spPr>
          <c:marker>
            <c:symbol val="diamond"/>
            <c:size val="10"/>
            <c:spPr>
              <a:solidFill xmlns:a="http://schemas.openxmlformats.org/drawingml/2006/main">
                <a:srgbClr val="919A96"/>
              </a:solidFill>
            </c:spPr>
          </c:marker>
          <c:dLbls>
            <c:dLbl>
              <c:idx val="0"/>
              <c:tx>
                <c:rich>
                  <a:bodyPr xmlns:a="http://schemas.openxmlformats.org/drawingml/2006/main"/>
                  <a:lstStyle xmlns:a="http://schemas.openxmlformats.org/drawingml/2006/main"/>
                  <a:p xmlns:a="http://schemas.openxmlformats.org/drawingml/2006/main">
                    <a:r>
                      <a:rPr sz="1425" b="0">
                        <a:solidFill>
                          <a:srgbClr val="62706C"/>
                        </a:solidFill>
                        <a:latin typeface="Noto Sans"/>
                        <a:ea typeface="Noto Sans"/>
                        <a:cs typeface="Noto Sans"/>
                      </a:rPr>
                      <a:t>PELT (офлайн)</a:t>
                    </a:r>
                  </a:p>
                </c:rich>
              </c:tx>
              <c:txPr>
                <a:bodyPr xmlns:a="http://schemas.openxmlformats.org/drawingml/2006/main" anchorCtr="1"/>
                <a:lstStyle xmlns:a="http://schemas.openxmlformats.org/drawingml/2006/main"/>
                <a:p xmlns:a="http://schemas.openxmlformats.org/drawingml/2006/main">
                  <a:pPr>
                    <a:defRPr sz="1425" b="0">
                      <a:solidFill>
                        <a:srgbClr val="62706C"/>
                      </a:solidFill>
                      <a:latin typeface="Noto Sans"/>
                      <a:ea typeface="Noto Sans"/>
                      <a:cs typeface="Noto Sans"/>
                    </a:defRPr>
                  </a:pPr>
                </a:p>
              </c:txPr>
              <c:dLblPos val="l"/>
              <c:showLegendKey val="0"/>
              <c:showVal val="0"/>
              <c:showCatName val="0"/>
              <c:showSerName val="0"/>
              <c:showPercent val="0"/>
              <c:showBubbleSize val="0"/>
            </c:dLbl>
          </c:dLbls>
          <c:xVal>
            <c:numRef>
              <c:f>'Chart Data'!$M$2:$M$2</c:f>
              <c:numCache>
                <c:formatCode>General</c:formatCode>
                <c:ptCount val="1"/>
                <c:pt idx="0">
                  <c:v>0.138889</c:v>
                </c:pt>
              </c:numCache>
            </c:numRef>
          </c:xVal>
          <c:yVal>
            <c:numRef>
              <c:f>'Chart Data'!$N$2:$N$2</c:f>
              <c:numCache>
                <c:formatCode>0.0</c:formatCode>
                <c:ptCount val="1"/>
                <c:pt idx="0">
                  <c:v>0.722</c:v>
                </c:pt>
              </c:numCache>
            </c:numRef>
          </c:yVal>
        </c:ser>
        <c:ser>
          <c:idx val="7"/>
          <c:order val="7"/>
          <c:tx>
            <c:v>Kernel (офлайн)</c:v>
          </c:tx>
          <c:spPr>
            <a:solidFill xmlns:a="http://schemas.openxmlformats.org/drawingml/2006/main">
              <a:srgbClr val="919A96"/>
            </a:solidFill>
            <a:ln xmlns:a="http://schemas.openxmlformats.org/drawingml/2006/main" w="9525">
              <a:solidFill>
                <a:srgbClr val="919A96"/>
              </a:solidFill>
            </a:ln>
          </c:spPr>
          <c:marker>
            <c:symbol val="diamond"/>
            <c:size val="10"/>
            <c:spPr>
              <a:solidFill xmlns:a="http://schemas.openxmlformats.org/drawingml/2006/main">
                <a:srgbClr val="919A96"/>
              </a:solidFill>
            </c:spPr>
          </c:marker>
          <c:dLbls>
            <c:dLbl>
              <c:idx val="0"/>
              <c:tx>
                <c:rich>
                  <a:bodyPr xmlns:a="http://schemas.openxmlformats.org/drawingml/2006/main"/>
                  <a:lstStyle xmlns:a="http://schemas.openxmlformats.org/drawingml/2006/main"/>
                  <a:p xmlns:a="http://schemas.openxmlformats.org/drawingml/2006/main">
                    <a:r>
                      <a:rPr sz="1425" b="0">
                        <a:solidFill>
                          <a:srgbClr val="62706C"/>
                        </a:solidFill>
                        <a:latin typeface="Noto Sans"/>
                        <a:ea typeface="Noto Sans"/>
                        <a:cs typeface="Noto Sans"/>
                      </a:rPr>
                      <a:t>Kernel (офлайн)</a:t>
                    </a:r>
                  </a:p>
                </c:rich>
              </c:tx>
              <c:txPr>
                <a:bodyPr xmlns:a="http://schemas.openxmlformats.org/drawingml/2006/main" anchorCtr="1"/>
                <a:lstStyle xmlns:a="http://schemas.openxmlformats.org/drawingml/2006/main"/>
                <a:p xmlns:a="http://schemas.openxmlformats.org/drawingml/2006/main">
                  <a:pPr>
                    <a:defRPr sz="1425" b="0">
                      <a:solidFill>
                        <a:srgbClr val="62706C"/>
                      </a:solidFill>
                      <a:latin typeface="Noto Sans"/>
                      <a:ea typeface="Noto Sans"/>
                      <a:cs typeface="Noto Sans"/>
                    </a:defRPr>
                  </a:pPr>
                </a:p>
              </c:txPr>
              <c:dLblPos val="r"/>
              <c:showLegendKey val="0"/>
              <c:showVal val="0"/>
              <c:showCatName val="0"/>
              <c:showSerName val="0"/>
              <c:showPercent val="0"/>
              <c:showBubbleSize val="0"/>
            </c:dLbl>
          </c:dLbls>
          <c:xVal>
            <c:numRef>
              <c:f>'Chart Data'!$O$2:$O$2</c:f>
              <c:numCache>
                <c:formatCode>General</c:formatCode>
                <c:ptCount val="1"/>
                <c:pt idx="0">
                  <c:v>0.023148</c:v>
                </c:pt>
              </c:numCache>
            </c:numRef>
          </c:xVal>
          <c:yVal>
            <c:numRef>
              <c:f>'Chart Data'!$P$2:$P$2</c:f>
              <c:numCache>
                <c:formatCode>0.0</c:formatCode>
                <c:ptCount val="1"/>
                <c:pt idx="0">
                  <c:v>0.188</c:v>
                </c:pt>
              </c:numCache>
            </c:numRef>
          </c:yVal>
        </c:ser>
        <c:dLbls>
          <c:txPr>
            <a:bodyPr xmlns:a="http://schemas.openxmlformats.org/drawingml/2006/main" anchorCtr="1"/>
            <a:lstStyle xmlns:a="http://schemas.openxmlformats.org/drawingml/2006/main"/>
            <a:p xmlns:a="http://schemas.openxmlformats.org/drawingml/2006/main">
              <a:pPr>
                <a:defRPr sz="1425">
                  <a:latin typeface="Noto Sans"/>
                  <a:ea typeface="Noto Sans"/>
                  <a:cs typeface="Noto Sans"/>
                </a:defRPr>
              </a:pPr>
            </a:p>
          </c:txPr>
          <c:showLegendKey val="0"/>
          <c:showVal val="0"/>
          <c:showCatName val="0"/>
          <c:showSerName val="0"/>
          <c:showPercent val="0"/>
          <c:showBubbleSize val="0"/>
          <c:showLeaderLines val="0"/>
        </c:dLbls>
        <c:axId val="48650112"/>
        <c:axId val="48672768"/>
      </c:scatterChart>
      <c:valAx>
        <c:axId val="48672768"/>
        <c:scaling>
          <c:orientation val="minMax"/>
          <c:max val="0.85"/>
          <c:min val="0"/>
        </c:scaling>
        <c:delete val="0"/>
        <c:axPos val="l"/>
        <c:majorGridlines>
          <c:spPr>
            <a:ln xmlns:a="http://schemas.openxmlformats.org/drawingml/2006/main" w="7620">
              <a:solidFill>
                <a:srgbClr val="DCE6DD"/>
              </a:solidFill>
            </a:ln>
          </c:spPr>
        </c:majorGridlines>
        <c:title>
          <c:tx>
            <c:rich>
              <a:bodyPr xmlns:a="http://schemas.openxmlformats.org/drawingml/2006/main"/>
              <a:lstStyle xmlns:a="http://schemas.openxmlformats.org/drawingml/2006/main"/>
              <a:p xmlns:a="http://schemas.openxmlformats.org/drawingml/2006/main">
                <a:r>
                  <a:rPr sz="1500">
                    <a:latin typeface="Noto Sans"/>
                    <a:ea typeface="Noto Sans"/>
                    <a:cs typeface="Noto Sans"/>
                  </a:rPr>
                  <a:t>F1 начала шока</a:t>
                </a:r>
              </a:p>
            </c:rich>
          </c:tx>
          <c:overlay val="0"/>
          <c:txPr>
            <a:bodyPr xmlns:a="http://schemas.openxmlformats.org/drawingml/2006/main" anchorCtr="1"/>
            <a:lstStyle xmlns:a="http://schemas.openxmlformats.org/drawingml/2006/main"/>
            <a:p xmlns:a="http://schemas.openxmlformats.org/drawingml/2006/main">
              <a:pPr>
                <a:defRPr sz="1500">
                  <a:latin typeface="Noto Sans"/>
                  <a:ea typeface="Noto Sans"/>
                  <a:cs typeface="Noto Sans"/>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Noto Sans"/>
                <a:ea typeface="Noto Sans"/>
                <a:cs typeface="Noto Sans"/>
              </a:defRPr>
            </a:pPr>
          </a:p>
        </c:txPr>
        <c:crossAx val="48650112"/>
        <c:majorUnit val="0.2"/>
      </c:valAx>
      <c:valAx>
        <c:axId val="48650112"/>
        <c:scaling>
          <c:orientation val="minMax"/>
          <c:max val="0.17"/>
          <c:min val="0"/>
        </c:scaling>
        <c:delete val="0"/>
        <c:axPos val="b"/>
        <c:title>
          <c:tx>
            <c:rich>
              <a:bodyPr xmlns:a="http://schemas.openxmlformats.org/drawingml/2006/main"/>
              <a:lstStyle xmlns:a="http://schemas.openxmlformats.org/drawingml/2006/main"/>
              <a:p xmlns:a="http://schemas.openxmlformats.org/drawingml/2006/main">
                <a:r>
                  <a:rPr sz="1500">
                    <a:latin typeface="Noto Sans"/>
                    <a:ea typeface="Noto Sans"/>
                    <a:cs typeface="Noto Sans"/>
                  </a:rPr>
                  <a:t>FAR: ложные тревоги / 100 МО-месяцев</a:t>
                </a:r>
              </a:p>
            </c:rich>
          </c:tx>
          <c:overlay val="0"/>
          <c:txPr>
            <a:bodyPr xmlns:a="http://schemas.openxmlformats.org/drawingml/2006/main" anchorCtr="1"/>
            <a:lstStyle xmlns:a="http://schemas.openxmlformats.org/drawingml/2006/main"/>
            <a:p xmlns:a="http://schemas.openxmlformats.org/drawingml/2006/main">
              <a:pPr>
                <a:defRPr sz="1500">
                  <a:latin typeface="Noto Sans"/>
                  <a:ea typeface="Noto Sans"/>
                  <a:cs typeface="Noto Sans"/>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Noto Sans"/>
                <a:ea typeface="Noto Sans"/>
                <a:cs typeface="Noto Sans"/>
              </a:defRPr>
            </a:pPr>
          </a:p>
        </c:txPr>
        <c:crossAx val="48672768"/>
        <c:majorUnit val="0.04"/>
      </c:valAx>
      <c:spPr>
        <a:solidFill xmlns:a="http://schemas.openxmlformats.org/drawingml/2006/main">
          <a:srgbClr val="FAFCF9"/>
        </a:solidFill>
      </c:spPr>
    </c:plotArea>
    <c:plotVisOnly val="1"/>
  </c:chart>
  <c:spPr>
    <a:solidFill xmlns:a="http://schemas.openxmlformats.org/drawingml/2006/main">
      <a:srgbClr val="FAFCF9"/>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lineChart>
        <c:grouping val="standard"/>
        <c:varyColors val="0"/>
        <c:ser>
          <c:idx val="0"/>
          <c:order val="0"/>
          <c:tx>
            <c:v>Орск минус Оренбург, п.п.</c:v>
          </c:tx>
          <c:spPr>
            <a:ln xmlns:a="http://schemas.openxmlformats.org/drawingml/2006/main" w="28575">
              <a:solidFill>
                <a:srgbClr val="0C825D"/>
              </a:solidFill>
            </a:ln>
          </c:spPr>
          <c:marker>
            <c:symbol val="none"/>
          </c:marker>
          <c:cat>
            <c:numRef>
              <c:f>'Chart Data'!$A$2:$A$13</c:f>
              <c:numCache>
                <c:formatCode>General</c:formatCode>
                <c:ptCount val="12"/>
                <c:pt idx="0">
                  <c:v>01</c:v>
                </c:pt>
                <c:pt idx="1">
                  <c:v>02</c:v>
                </c:pt>
                <c:pt idx="2">
                  <c:v>03</c:v>
                </c:pt>
                <c:pt idx="3">
                  <c:v>04</c:v>
                </c:pt>
                <c:pt idx="4">
                  <c:v>05</c:v>
                </c:pt>
                <c:pt idx="5">
                  <c:v>06</c:v>
                </c:pt>
                <c:pt idx="6">
                  <c:v>07</c:v>
                </c:pt>
                <c:pt idx="7">
                  <c:v>08</c:v>
                </c:pt>
                <c:pt idx="8">
                  <c:v>09</c:v>
                </c:pt>
                <c:pt idx="9">
                  <c:v>10</c:v>
                </c:pt>
                <c:pt idx="10">
                  <c:v>11</c:v>
                </c:pt>
                <c:pt idx="11">
                  <c:v>12</c:v>
                </c:pt>
              </c:numCache>
            </c:numRef>
          </c:cat>
          <c:val>
            <c:numRef>
              <c:f>'Chart Data'!$B$2:$B$13</c:f>
              <c:numCache>
                <c:formatCode>0.0</c:formatCode>
                <c:ptCount val="12"/>
                <c:pt idx="0">
                  <c:v>2.68</c:v>
                </c:pt>
                <c:pt idx="1">
                  <c:v>2.031</c:v>
                </c:pt>
                <c:pt idx="2">
                  <c:v>1.836</c:v>
                </c:pt>
                <c:pt idx="3">
                  <c:v>3.15</c:v>
                </c:pt>
                <c:pt idx="4">
                  <c:v>9.194</c:v>
                </c:pt>
                <c:pt idx="5">
                  <c:v>6.232</c:v>
                </c:pt>
                <c:pt idx="6">
                  <c:v>6.109</c:v>
                </c:pt>
                <c:pt idx="7">
                  <c:v>4.339</c:v>
                </c:pt>
                <c:pt idx="8">
                  <c:v>4.175</c:v>
                </c:pt>
                <c:pt idx="9">
                  <c:v>6.009</c:v>
                </c:pt>
                <c:pt idx="10">
                  <c:v>3.509</c:v>
                </c:pt>
                <c:pt idx="11">
                  <c:v>2.397</c:v>
                </c:pt>
              </c:numCache>
            </c:numRef>
          </c:val>
          <c:smooth val="0"/>
        </c:ser>
        <c:dLbls>
          <c:txPr>
            <a:bodyPr xmlns:a="http://schemas.openxmlformats.org/drawingml/2006/main" anchorCtr="1"/>
            <a:lstStyle xmlns:a="http://schemas.openxmlformats.org/drawingml/2006/main"/>
            <a:p xmlns:a="http://schemas.openxmlformats.org/drawingml/2006/main">
              <a:pPr>
                <a:defRPr>
                  <a:latin typeface="Noto Sans"/>
                  <a:ea typeface="Noto Sans"/>
                  <a:cs typeface="Noto San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Noto Sans"/>
                    <a:ea typeface="Noto Sans"/>
                    <a:cs typeface="Noto Sans"/>
                  </a:rPr>
                  <a:t>Месяц 2024</a:t>
                </a:r>
              </a:p>
            </c:rich>
          </c:tx>
          <c:overlay val="0"/>
          <c:txPr>
            <a:bodyPr xmlns:a="http://schemas.openxmlformats.org/drawingml/2006/main" anchorCtr="1"/>
            <a:lstStyle xmlns:a="http://schemas.openxmlformats.org/drawingml/2006/main"/>
            <a:p xmlns:a="http://schemas.openxmlformats.org/drawingml/2006/main">
              <a:pPr>
                <a:defRPr>
                  <a:latin typeface="Noto Sans"/>
                  <a:ea typeface="Noto Sans"/>
                  <a:cs typeface="Noto Sans"/>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Noto Sans"/>
                <a:ea typeface="Noto Sans"/>
                <a:cs typeface="Noto Sans"/>
              </a:defRPr>
            </a:pPr>
          </a:p>
        </c:txPr>
        <c:crossAx val="48672768"/>
      </c:catAx>
      <c:valAx>
        <c:axId val="48672768"/>
        <c:scaling>
          <c:orientation val="minMax"/>
          <c:max val="11"/>
          <c:min val="0"/>
        </c:scaling>
        <c:delete val="0"/>
        <c:axPos val="l"/>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Noto Sans"/>
                <a:ea typeface="Noto Sans"/>
                <a:cs typeface="Noto Sans"/>
              </a:defRPr>
            </a:pPr>
          </a:p>
        </c:txPr>
        <c:crossAx val="48650112"/>
        <c:crossBetween val="between"/>
      </c:valAx>
      <c:spPr>
        <a:solidFill xmlns:a="http://schemas.openxmlformats.org/drawingml/2006/main">
          <a:srgbClr val="FAFCF9"/>
        </a:solidFill>
      </c:spPr>
    </c:plotArea>
    <c:plotVisOnly val="1"/>
  </c:chart>
  <c:spPr>
    <a:solidFill xmlns:a="http://schemas.openxmlformats.org/drawingml/2006/main">
      <a:srgbClr val="FAFCF9"/>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2BC9502-882E-400C-ACDB-B25FE7C413FB}"/>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Расходы муниципалитетов</a:t>
            </a:r>
          </a:p>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и сигналы изменений</a:t>
            </a:r>
          </a:p>
        </p:txBody>
      </p:sp>
      <p:sp>
        <p:nvSpPr>
          <p:cNvPr id="2" name="">
            <a:extLst xmlns:a="http://schemas.openxmlformats.org/drawingml/2006/main">
              <a:ext uri="{FF2B5EF4-FFF2-40B4-BE49-F238E27FC236}">
                <a16:creationId xmlns:a16="http://schemas.microsoft.com/office/drawing/2014/main" id="{1694A96F-64DA-40CB-BE50-AF888D76E32F}"/>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1 / 21</a:t>
            </a:r>
          </a:p>
        </p:txBody>
      </p:sp>
      <p:sp>
        <p:nvSpPr>
          <p:cNvPr id="3" name="">
            <a:extLst xmlns:a="http://schemas.openxmlformats.org/drawingml/2006/main">
              <a:ext uri="{FF2B5EF4-FFF2-40B4-BE49-F238E27FC236}">
                <a16:creationId xmlns:a16="http://schemas.microsoft.com/office/drawing/2014/main" id="{1E40E393-D8EF-4738-A693-97D442D529D5}"/>
              </a:ext>
            </a:extLst>
          </p:cNvPr>
          <p:cNvSpPr>
            <a:spLocks xmlns:a="http://schemas.openxmlformats.org/drawingml/2006/main" noGrp="1"/>
          </p:cNvSpPr>
          <p:nvPr/>
        </p:nvSpPr>
        <p:spPr>
          <a:xfrm xmlns:a="http://schemas.openxmlformats.org/drawingml/2006/main">
            <a:off x="609600" y="1790700"/>
            <a:ext cx="885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0C825D"/>
                </a:solidFill>
                <a:latin typeface="Noto Sans"/>
                <a:ea typeface="Noto Sans"/>
                <a:cs typeface="Noto Sans"/>
              </a:defRPr>
            </a:pPr>
            <a:r>
              <a:rPr sz="2100" b="0">
                <a:solidFill>
                  <a:srgbClr val="0C825D"/>
                </a:solidFill>
                <a:latin typeface="Noto Sans"/>
                <a:ea typeface="Noto Sans"/>
                <a:cs typeface="Noto Sans"/>
              </a:rPr>
              <a:t>СберИндекс · задача №2</a:t>
            </a:r>
          </a:p>
        </p:txBody>
      </p:sp>
      <p:sp>
        <p:nvSpPr>
          <p:cNvPr id="4" name="">
            <a:extLst xmlns:a="http://schemas.openxmlformats.org/drawingml/2006/main">
              <a:ext uri="{FF2B5EF4-FFF2-40B4-BE49-F238E27FC236}">
                <a16:creationId xmlns:a16="http://schemas.microsoft.com/office/drawing/2014/main" id="{F1F49271-1947-40D8-9942-0342DC0C46AC}"/>
              </a:ext>
            </a:extLst>
          </p:cNvPr>
          <p:cNvSpPr>
            <a:spLocks xmlns:a="http://schemas.openxmlformats.org/drawingml/2006/main" noGrp="1"/>
          </p:cNvSpPr>
          <p:nvPr/>
        </p:nvSpPr>
        <p:spPr>
          <a:xfrm xmlns:a="http://schemas.openxmlformats.org/drawingml/2006/main">
            <a:off x="609600" y="2333625"/>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B32"/>
                </a:solidFill>
                <a:latin typeface="Noto Sans"/>
                <a:ea typeface="Noto Sans"/>
                <a:cs typeface="Noto Sans"/>
              </a:defRPr>
            </a:pPr>
            <a:r>
              <a:rPr sz="1875" b="0">
                <a:solidFill>
                  <a:srgbClr val="183B32"/>
                </a:solidFill>
                <a:latin typeface="Noto Sans"/>
                <a:ea typeface="Noto Sans"/>
                <a:cs typeface="Noto Sans"/>
              </a:rPr>
              <a:t>Автор проекта: NikitaMeshDS</a:t>
            </a:r>
          </a:p>
        </p:txBody>
      </p:sp>
      <p:sp>
        <p:nvSpPr>
          <p:cNvPr id="5" name="">
            <a:extLst xmlns:a="http://schemas.openxmlformats.org/drawingml/2006/main">
              <a:ext uri="{FF2B5EF4-FFF2-40B4-BE49-F238E27FC236}">
                <a16:creationId xmlns:a16="http://schemas.microsoft.com/office/drawing/2014/main" id="{B44CC1EE-DB27-4375-9D67-1CC6EFE37FF8}"/>
              </a:ext>
            </a:extLst>
          </p:cNvPr>
          <p:cNvSpPr>
            <a:spLocks xmlns:a="http://schemas.openxmlformats.org/drawingml/2006/main" noGrp="1"/>
          </p:cNvSpPr>
          <p:nvPr/>
        </p:nvSpPr>
        <p:spPr>
          <a:xfrm xmlns:a="http://schemas.openxmlformats.org/drawingml/2006/main">
            <a:off x="609600" y="3133725"/>
            <a:ext cx="8858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83B32"/>
                </a:solidFill>
                <a:latin typeface="Noto Sans"/>
                <a:ea typeface="Noto Sans"/>
                <a:cs typeface="Noto Sans"/>
              </a:defRPr>
            </a:pPr>
            <a:r>
              <a:rPr sz="2700" b="1">
                <a:solidFill>
                  <a:srgbClr val="183B32"/>
                </a:solidFill>
                <a:latin typeface="Noto Sans"/>
                <a:ea typeface="Noto Sans"/>
                <a:cs typeface="Noto Sans"/>
              </a:rPr>
              <a:t>Прогноз на 1, 3, 6 и 12 месяцев</a:t>
            </a:r>
          </a:p>
        </p:txBody>
      </p:sp>
      <p:sp>
        <p:nvSpPr>
          <p:cNvPr id="6" name="">
            <a:extLst xmlns:a="http://schemas.openxmlformats.org/drawingml/2006/main">
              <a:ext uri="{FF2B5EF4-FFF2-40B4-BE49-F238E27FC236}">
                <a16:creationId xmlns:a16="http://schemas.microsoft.com/office/drawing/2014/main" id="{7615CB8F-5C7F-469D-ACEE-6027D233A4D9}"/>
              </a:ext>
            </a:extLst>
          </p:cNvPr>
          <p:cNvSpPr>
            <a:spLocks xmlns:a="http://schemas.openxmlformats.org/drawingml/2006/main" noGrp="1"/>
          </p:cNvSpPr>
          <p:nvPr/>
        </p:nvSpPr>
        <p:spPr>
          <a:xfrm xmlns:a="http://schemas.openxmlformats.org/drawingml/2006/main">
            <a:off x="609600" y="3933825"/>
            <a:ext cx="88582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B32"/>
                </a:solidFill>
                <a:latin typeface="Noto Sans"/>
                <a:ea typeface="Noto Sans"/>
                <a:cs typeface="Noto Sans"/>
              </a:defRPr>
            </a:pPr>
            <a:r>
              <a:rPr sz="2100" b="0">
                <a:solidFill>
                  <a:srgbClr val="183B32"/>
                </a:solidFill>
                <a:latin typeface="Noto Sans"/>
                <a:ea typeface="Noto Sans"/>
                <a:cs typeface="Noto Sans"/>
              </a:rPr>
              <a:t>Сезонная модель с поправкой роста</a:t>
            </a:r>
          </a:p>
          <a:p xmlns:a="http://schemas.openxmlformats.org/drawingml/2006/main">
            <a:pPr>
              <a:defRPr sz="2100" b="0">
                <a:solidFill>
                  <a:srgbClr val="183B32"/>
                </a:solidFill>
                <a:latin typeface="Noto Sans"/>
                <a:ea typeface="Noto Sans"/>
                <a:cs typeface="Noto Sans"/>
              </a:defRPr>
            </a:pPr>
            <a:r>
              <a:rPr sz="2100" b="0">
                <a:solidFill>
                  <a:srgbClr val="183B32"/>
                </a:solidFill>
                <a:latin typeface="Noto Sans"/>
                <a:ea typeface="Noto Sans"/>
                <a:cs typeface="Noto Sans"/>
              </a:rPr>
              <a:t>и обнаружение изменений методом EWMA</a:t>
            </a:r>
          </a:p>
        </p:txBody>
      </p:sp>
      <p:sp>
        <p:nvSpPr>
          <p:cNvPr id="7" name="">
            <a:extLst xmlns:a="http://schemas.openxmlformats.org/drawingml/2006/main">
              <a:ext uri="{FF2B5EF4-FFF2-40B4-BE49-F238E27FC236}">
                <a16:creationId xmlns:a16="http://schemas.microsoft.com/office/drawing/2014/main" id="{6F1F746B-C1C7-472F-A708-B6FEE35D15A1}"/>
              </a:ext>
            </a:extLst>
          </p:cNvPr>
          <p:cNvSpPr>
            <a:spLocks xmlns:a="http://schemas.openxmlformats.org/drawingml/2006/main" noGrp="1"/>
          </p:cNvSpPr>
          <p:nvPr/>
        </p:nvSpPr>
        <p:spPr>
          <a:xfrm xmlns:a="http://schemas.openxmlformats.org/drawingml/2006/main">
            <a:off x="609600" y="5057775"/>
            <a:ext cx="9191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0C825D"/>
                </a:solidFill>
                <a:latin typeface="Noto Sans"/>
                <a:ea typeface="Noto Sans"/>
                <a:cs typeface="Noto Sans"/>
              </a:defRPr>
            </a:pPr>
            <a:r>
              <a:rPr sz="1725" b="0">
                <a:solidFill>
                  <a:srgbClr val="0C825D"/>
                </a:solidFill>
                <a:latin typeface="Noto Sans"/>
                <a:ea typeface="Noto Sans"/>
                <a:cs typeface="Noto Sans"/>
                <a:hlinkClick xmlns:r="http://schemas.openxmlformats.org/officeDocument/2006/relationships" r:id="R3da645c196bb461d"/>
              </a:rPr>
              <a:t>github.com/NikitaMeshDS/sberindex-task2</a:t>
            </a:r>
          </a:p>
        </p:txBody>
      </p:sp>
      <p:sp>
        <p:nvSpPr>
          <p:cNvPr id="8" name="">
            <a:extLst xmlns:a="http://schemas.openxmlformats.org/drawingml/2006/main">
              <a:ext uri="{FF2B5EF4-FFF2-40B4-BE49-F238E27FC236}">
                <a16:creationId xmlns:a16="http://schemas.microsoft.com/office/drawing/2014/main" id="{58B9927C-0C2F-4DA5-B216-131CEC9D4B3E}"/>
              </a:ext>
            </a:extLst>
          </p:cNvPr>
          <p:cNvSpPr>
            <a:spLocks xmlns:a="http://schemas.openxmlformats.org/drawingml/2006/main" noGrp="1"/>
          </p:cNvSpPr>
          <p:nvPr/>
        </p:nvSpPr>
        <p:spPr>
          <a:xfrm xmlns:a="http://schemas.openxmlformats.org/drawingml/2006/main">
            <a:off x="609600" y="5514975"/>
            <a:ext cx="9191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0C825D"/>
                </a:solidFill>
                <a:latin typeface="Noto Sans"/>
                <a:ea typeface="Noto Sans"/>
                <a:cs typeface="Noto Sans"/>
              </a:defRPr>
            </a:pPr>
            <a:r>
              <a:rPr sz="1725" b="0">
                <a:solidFill>
                  <a:srgbClr val="0C825D"/>
                </a:solidFill>
                <a:latin typeface="Noto Sans"/>
                <a:ea typeface="Noto Sans"/>
                <a:cs typeface="Noto Sans"/>
                <a:hlinkClick xmlns:r="http://schemas.openxmlformats.org/officeDocument/2006/relationships" r:id="R0f2c5e177e37467e"/>
              </a:rPr>
              <a:t>nikitameshds.github.io/sberindex-task2</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41e595257f744bf"/>
          <a:stretch xmlns:a="http://schemas.openxmlformats.org/drawingml/2006/main"/>
        </p:blipFill>
        <p:spPr>
          <a:xfrm xmlns:a="http://schemas.openxmlformats.org/drawingml/2006/main">
            <a:off x="9525000" y="1809750"/>
            <a:ext cx="1981200" cy="198120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917B3310-253E-4BC0-87B7-FC2AE0B34310}"/>
              </a:ext>
            </a:extLst>
          </p:cNvPr>
          <p:cNvSpPr>
            <a:spLocks xmlns:a="http://schemas.openxmlformats.org/drawingml/2006/main" noGrp="1"/>
          </p:cNvSpPr>
          <p:nvPr/>
        </p:nvSpPr>
        <p:spPr>
          <a:xfrm xmlns:a="http://schemas.openxmlformats.org/drawingml/2006/main">
            <a:off x="9401175" y="3905250"/>
            <a:ext cx="22193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2706C"/>
                </a:solidFill>
                <a:latin typeface="Noto Sans"/>
                <a:ea typeface="Noto Sans"/>
                <a:cs typeface="Noto Sans"/>
              </a:defRPr>
            </a:pPr>
            <a:r>
              <a:rPr sz="1350" b="0">
                <a:solidFill>
                  <a:srgbClr val="62706C"/>
                </a:solidFill>
                <a:latin typeface="Noto Sans"/>
                <a:ea typeface="Noto Sans"/>
                <a:cs typeface="Noto Sans"/>
              </a:rPr>
              <a:t>GitHub: открытый доступ</a:t>
            </a:r>
          </a:p>
        </p:txBody>
      </p:sp>
      <p:sp>
        <p:nvSpPr>
          <p:cNvPr id="11" name="">
            <a:extLst xmlns:a="http://schemas.openxmlformats.org/drawingml/2006/main">
              <a:ext uri="{FF2B5EF4-FFF2-40B4-BE49-F238E27FC236}">
                <a16:creationId xmlns:a16="http://schemas.microsoft.com/office/drawing/2014/main" id="{6ED6DFE6-C489-4C1D-A235-8A36AA367873}"/>
              </a:ext>
            </a:extLst>
          </p:cNvPr>
          <p:cNvSpPr>
            <a:spLocks xmlns:a="http://schemas.openxmlformats.org/drawingml/2006/main" noGrp="1"/>
          </p:cNvSpPr>
          <p:nvPr/>
        </p:nvSpPr>
        <p:spPr>
          <a:xfrm xmlns:a="http://schemas.openxmlformats.org/drawingml/2006/main">
            <a:off x="609600" y="6096000"/>
            <a:ext cx="962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2706C"/>
                </a:solidFill>
                <a:latin typeface="Noto Sans"/>
                <a:ea typeface="Noto Sans"/>
                <a:cs typeface="Noto Sans"/>
              </a:defRPr>
            </a:pPr>
            <a:r>
              <a:rPr sz="1575" b="0">
                <a:solidFill>
                  <a:srgbClr val="62706C"/>
                </a:solidFill>
                <a:latin typeface="Noto Sans"/>
                <a:ea typeface="Noto Sans"/>
                <a:cs typeface="Noto Sans"/>
              </a:rPr>
              <a:t>Данные 2023–2024 · готовые материалы для самостоятельной проверки</a:t>
            </a:r>
          </a:p>
        </p:txBody>
      </p:sp>
    </p:spTree>
    <p:extLst>
      <p:ext uri="{BB962C8B-B14F-4D97-AF65-F5344CB8AC3E}">
        <p14:creationId xmlns:p14="http://schemas.microsoft.com/office/powerpoint/2010/main" val="26586559"/>
      </p:ext>
    </p:extLst>
  </p:cSld>
</p:sld>
</file>

<file path=ppt/slides/slide2.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1E93540-4E74-4FAD-8386-AAF8E6919986}"/>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Итоги и карта семи критериев</a:t>
            </a:r>
          </a:p>
        </p:txBody>
      </p:sp>
      <p:sp>
        <p:nvSpPr>
          <p:cNvPr id="2" name="">
            <a:extLst xmlns:a="http://schemas.openxmlformats.org/drawingml/2006/main">
              <a:ext uri="{FF2B5EF4-FFF2-40B4-BE49-F238E27FC236}">
                <a16:creationId xmlns:a16="http://schemas.microsoft.com/office/drawing/2014/main" id="{6B54CA37-C6B1-4B7B-88E0-8BA7CA86904E}"/>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2 / 21</a:t>
            </a:r>
          </a:p>
        </p:txBody>
      </p:sp>
      <p:sp>
        <p:nvSpPr>
          <p:cNvPr id="3" name="">
            <a:extLst xmlns:a="http://schemas.openxmlformats.org/drawingml/2006/main">
              <a:ext uri="{FF2B5EF4-FFF2-40B4-BE49-F238E27FC236}">
                <a16:creationId xmlns:a16="http://schemas.microsoft.com/office/drawing/2014/main" id="{BE3C5C04-87D9-4C4F-9E79-20E253A9D4E9}"/>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¹ К одному Prophet с профилем; интервалы условны на 2024. ² Ложные тревоги / 100 МО-месяцев на синтетике.</a:t>
            </a:r>
          </a:p>
        </p:txBody>
      </p:sp>
      <p:sp>
        <p:nvSpPr>
          <p:cNvPr id="4" name="">
            <a:extLst xmlns:a="http://schemas.openxmlformats.org/drawingml/2006/main">
              <a:ext uri="{FF2B5EF4-FFF2-40B4-BE49-F238E27FC236}">
                <a16:creationId xmlns:a16="http://schemas.microsoft.com/office/drawing/2014/main" id="{CB08A171-649E-4B70-8F86-39CC4F8C9F1D}"/>
              </a:ext>
            </a:extLst>
          </p:cNvPr>
          <p:cNvSpPr>
            <a:spLocks xmlns:a="http://schemas.openxmlformats.org/drawingml/2006/main" noGrp="1"/>
          </p:cNvSpPr>
          <p:nvPr/>
        </p:nvSpPr>
        <p:spPr>
          <a:xfrm xmlns:a="http://schemas.openxmlformats.org/drawingml/2006/main">
            <a:off x="609600" y="143827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C825D"/>
                </a:solidFill>
                <a:latin typeface="Noto Sans"/>
                <a:ea typeface="Noto Sans"/>
                <a:cs typeface="Noto Sans"/>
              </a:defRPr>
            </a:pPr>
            <a:r>
              <a:rPr sz="2325" b="1">
                <a:solidFill>
                  <a:srgbClr val="0C825D"/>
                </a:solidFill>
                <a:latin typeface="Noto Sans"/>
                <a:ea typeface="Noto Sans"/>
                <a:cs typeface="Noto Sans"/>
              </a:rPr>
              <a:t>MAE −42 / −23 / −28 / −56%¹ · EWMA F1 0,647</a:t>
            </a:r>
          </a:p>
        </p:txBody>
      </p:sp>
      <p:graphicFrame>
        <p:nvGraphicFramePr>
          <p:cNvPr id="10" name=""/>
          <p:cNvGraphicFramePr/>
          <p:nvPr/>
        </p:nvGraphicFramePr>
        <p:xfrm>
          <a:off xmlns:a="http://schemas.openxmlformats.org/drawingml/2006/main" x="609600" y="1981200"/>
          <a:ext xmlns:a="http://schemas.openxmlformats.org/drawingml/2006/main" cx="10972800" cy="3781425"/>
        </p:xfrm>
        <a:graphic xmlns:a="http://schemas.openxmlformats.org/drawingml/2006/main">
          <a:graphicData uri="http://schemas.openxmlformats.org/drawingml/2006/table">
            <a:tbl>
              <a:tblPr firstRow="1" bandRow="0"/>
              <a:tblGrid>
                <a:gridCol w="2286000"/>
                <a:gridCol w="762000"/>
                <a:gridCol w="5429250"/>
                <a:gridCol w="2495550"/>
              </a:tblGrid>
              <a:tr h="472678">
                <a:tc>
                  <a:txBody>
                    <a:bodyPr/>
                    <a:lstStyle/>
                    <a:p>
                      <a:r>
                        <a:rPr sz="1800" b="1">
                          <a:solidFill>
                            <a:srgbClr val="FFFFFF"/>
                          </a:solidFill>
                          <a:latin typeface="Noto Sans"/>
                          <a:ea typeface="Noto Sans"/>
                          <a:cs typeface="Noto Sans"/>
                        </a:rPr>
                        <a:t>Критерий</a:t>
                      </a:r>
                    </a:p>
                  </a:txBody>
                  <a:tcPr marL="91440" marR="91440" marT="45720" marB="45720">
                    <a:solidFill>
                      <a:srgbClr val="183B32"/>
                    </a:solidFill>
                  </a:tcPr>
                </a:tc>
                <a:tc>
                  <a:txBody>
                    <a:bodyPr/>
                    <a:lstStyle/>
                    <a:p>
                      <a:r>
                        <a:rPr sz="1800" b="1">
                          <a:solidFill>
                            <a:srgbClr val="FFFFFF"/>
                          </a:solidFill>
                          <a:latin typeface="Noto Sans"/>
                          <a:ea typeface="Noto Sans"/>
                          <a:cs typeface="Noto Sans"/>
                        </a:rPr>
                        <a:t>Вес</a:t>
                      </a:r>
                    </a:p>
                  </a:txBody>
                  <a:tcPr marL="91440" marR="91440" marT="45720" marB="45720">
                    <a:solidFill>
                      <a:srgbClr val="183B32"/>
                    </a:solidFill>
                  </a:tcPr>
                </a:tc>
                <a:tc>
                  <a:txBody>
                    <a:bodyPr/>
                    <a:lstStyle/>
                    <a:p>
                      <a:r>
                        <a:rPr sz="1800" b="1">
                          <a:solidFill>
                            <a:srgbClr val="FFFFFF"/>
                          </a:solidFill>
                          <a:latin typeface="Noto Sans"/>
                          <a:ea typeface="Noto Sans"/>
                          <a:cs typeface="Noto Sans"/>
                        </a:rPr>
                        <a:t>Доказательство</a:t>
                      </a:r>
                    </a:p>
                  </a:txBody>
                  <a:tcPr marL="91440" marR="91440" marT="45720" marB="45720">
                    <a:solidFill>
                      <a:srgbClr val="183B32"/>
                    </a:solidFill>
                  </a:tcPr>
                </a:tc>
                <a:tc>
                  <a:txBody>
                    <a:bodyPr/>
                    <a:lstStyle/>
                    <a:p>
                      <a:r>
                        <a:rPr sz="1800" b="1">
                          <a:solidFill>
                            <a:srgbClr val="FFFFFF"/>
                          </a:solidFill>
                          <a:latin typeface="Noto Sans"/>
                          <a:ea typeface="Noto Sans"/>
                          <a:cs typeface="Noto Sans"/>
                        </a:rPr>
                        <a:t>Слайды / отчёт</a:t>
                      </a:r>
                    </a:p>
                  </a:txBody>
                  <a:tcPr marL="91440" marR="91440" marT="45720" marB="45720">
                    <a:solidFill>
                      <a:srgbClr val="183B32"/>
                    </a:solidFill>
                  </a:tcPr>
                </a:tc>
              </a:tr>
              <a:tr h="472678">
                <a:tc>
                  <a:txBody>
                    <a:bodyPr/>
                    <a:lstStyle/>
                    <a:p>
                      <a:r>
                        <a:rPr sz="1800" b="0">
                          <a:solidFill>
                            <a:srgbClr val="183B32"/>
                          </a:solidFill>
                          <a:latin typeface="Noto Sans"/>
                          <a:ea typeface="Noto Sans"/>
                          <a:cs typeface="Noto Sans"/>
                        </a:rPr>
                        <a:t>Методология</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10%</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Формула и объяснение словами</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4 / §1 и 3</a:t>
                      </a:r>
                    </a:p>
                  </a:txBody>
                  <a:tcPr marL="91440" marR="91440" marT="45720" marB="45720">
                    <a:solidFill>
                      <a:srgbClr val="F0F6F1"/>
                    </a:solidFill>
                  </a:tcPr>
                </a:tc>
              </a:tr>
              <a:tr h="472678">
                <a:tc>
                  <a:txBody>
                    <a:bodyPr/>
                    <a:lstStyle/>
                    <a:p>
                      <a:r>
                        <a:rPr sz="1800" b="0">
                          <a:solidFill>
                            <a:srgbClr val="183B32"/>
                          </a:solidFill>
                          <a:latin typeface="Noto Sans"/>
                          <a:ea typeface="Noto Sans"/>
                          <a:cs typeface="Noto Sans"/>
                        </a:rPr>
                        <a:t>Прогноз</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20%</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10 моделей, 4 горизонта и выбор по MAE</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5–9 / §3</a:t>
                      </a:r>
                    </a:p>
                  </a:txBody>
                  <a:tcPr marL="91440" marR="91440" marT="45720" marB="45720">
                    <a:solidFill>
                      <a:srgbClr val="FFFFFF"/>
                    </a:solidFill>
                  </a:tcPr>
                </a:tc>
              </a:tr>
              <a:tr h="472678">
                <a:tc>
                  <a:txBody>
                    <a:bodyPr/>
                    <a:lstStyle/>
                    <a:p>
                      <a:r>
                        <a:rPr sz="1800" b="0">
                          <a:solidFill>
                            <a:srgbClr val="183B32"/>
                          </a:solidFill>
                          <a:latin typeface="Noto Sans"/>
                          <a:ea typeface="Noto Sans"/>
                          <a:cs typeface="Noto Sans"/>
                        </a:rPr>
                        <a:t>Детекторы</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20%</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8 методов, точность и ложные тревоги</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13–15 / §5</a:t>
                      </a:r>
                    </a:p>
                  </a:txBody>
                  <a:tcPr marL="91440" marR="91440" marT="45720" marB="45720">
                    <a:solidFill>
                      <a:srgbClr val="F0F6F1"/>
                    </a:solidFill>
                  </a:tcPr>
                </a:tc>
              </a:tr>
              <a:tr h="472678">
                <a:tc>
                  <a:txBody>
                    <a:bodyPr/>
                    <a:lstStyle/>
                    <a:p>
                      <a:r>
                        <a:rPr sz="1800" b="0">
                          <a:solidFill>
                            <a:srgbClr val="183B32"/>
                          </a:solidFill>
                          <a:latin typeface="Noto Sans"/>
                          <a:ea typeface="Noto Sans"/>
                          <a:cs typeface="Noto Sans"/>
                        </a:rPr>
                        <a:t>Готовые модели</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15%</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Сравнение, преимущества и ограничения</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5, 10–11 / §4</a:t>
                      </a:r>
                    </a:p>
                  </a:txBody>
                  <a:tcPr marL="91440" marR="91440" marT="45720" marB="45720">
                    <a:solidFill>
                      <a:srgbClr val="FFFFFF"/>
                    </a:solidFill>
                  </a:tcPr>
                </a:tc>
              </a:tr>
              <a:tr h="472678">
                <a:tc>
                  <a:txBody>
                    <a:bodyPr/>
                    <a:lstStyle/>
                    <a:p>
                      <a:r>
                        <a:rPr sz="1800" b="0">
                          <a:solidFill>
                            <a:srgbClr val="183B32"/>
                          </a:solidFill>
                          <a:latin typeface="Noto Sans"/>
                          <a:ea typeface="Noto Sans"/>
                          <a:cs typeface="Noto Sans"/>
                        </a:rPr>
                        <a:t>Новости</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15%</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Два канала: прогноз и поиск изменений</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16 / §6</a:t>
                      </a:r>
                    </a:p>
                  </a:txBody>
                  <a:tcPr marL="91440" marR="91440" marT="45720" marB="45720">
                    <a:solidFill>
                      <a:srgbClr val="F0F6F1"/>
                    </a:solidFill>
                  </a:tcPr>
                </a:tc>
              </a:tr>
              <a:tr h="472678">
                <a:tc>
                  <a:txBody>
                    <a:bodyPr/>
                    <a:lstStyle/>
                    <a:p>
                      <a:r>
                        <a:rPr sz="1800" b="0">
                          <a:solidFill>
                            <a:srgbClr val="183B32"/>
                          </a:solidFill>
                          <a:latin typeface="Noto Sans"/>
                          <a:ea typeface="Noto Sans"/>
                          <a:cs typeface="Noto Sans"/>
                        </a:rPr>
                        <a:t>Метрики</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10%</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MAE, R² и объяснение каждой метрики</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5–7 / §3</a:t>
                      </a:r>
                    </a:p>
                  </a:txBody>
                  <a:tcPr marL="91440" marR="91440" marT="45720" marB="45720">
                    <a:solidFill>
                      <a:srgbClr val="FFFFFF"/>
                    </a:solidFill>
                  </a:tcPr>
                </a:tc>
              </a:tr>
              <a:tr h="472678">
                <a:tc>
                  <a:txBody>
                    <a:bodyPr/>
                    <a:lstStyle/>
                    <a:p>
                      <a:r>
                        <a:rPr sz="1800" b="0">
                          <a:solidFill>
                            <a:srgbClr val="183B32"/>
                          </a:solidFill>
                          <a:latin typeface="Noto Sans"/>
                          <a:ea typeface="Noto Sans"/>
                          <a:cs typeface="Noto Sans"/>
                        </a:rPr>
                        <a:t>Интерпретация</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10%</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Примеры МО и воспроизведение</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12, 15, 17, 20 / §7–8</a:t>
                      </a:r>
                    </a:p>
                  </a:txBody>
                  <a:tcPr marL="91440" marR="91440" marT="45720" marB="45720">
                    <a:solidFill>
                      <a:srgbClr val="F0F6F1"/>
                    </a:solidFill>
                  </a:tcPr>
                </a:tc>
              </a:tr>
            </a:tbl>
          </a:graphicData>
        </a:graphic>
      </p:graphicFrame>
    </p:spTree>
    <p:extLst>
      <p:ext uri="{BB962C8B-B14F-4D97-AF65-F5344CB8AC3E}">
        <p14:creationId xmlns:p14="http://schemas.microsoft.com/office/powerpoint/2010/main" val="730520308"/>
      </p:ext>
    </p:extLst>
  </p:cSld>
</p:sld>
</file>

<file path=ppt/slides/slide3.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D594B9A-8257-4835-80CB-C900CC9CBBB8}"/>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Данные и временная проверка</a:t>
            </a:r>
          </a:p>
        </p:txBody>
      </p:sp>
      <p:sp>
        <p:nvSpPr>
          <p:cNvPr id="2" name="">
            <a:extLst xmlns:a="http://schemas.openxmlformats.org/drawingml/2006/main">
              <a:ext uri="{FF2B5EF4-FFF2-40B4-BE49-F238E27FC236}">
                <a16:creationId xmlns:a16="http://schemas.microsoft.com/office/drawing/2014/main" id="{C21F4026-4CF5-4BF7-92A2-23932191281D}"/>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3 / 21</a:t>
            </a:r>
          </a:p>
        </p:txBody>
      </p:sp>
      <p:sp>
        <p:nvSpPr>
          <p:cNvPr id="3" name="">
            <a:extLst xmlns:a="http://schemas.openxmlformats.org/drawingml/2006/main">
              <a:ext uri="{FF2B5EF4-FFF2-40B4-BE49-F238E27FC236}">
                <a16:creationId xmlns:a16="http://schemas.microsoft.com/office/drawing/2014/main" id="{C82AA480-C0B2-415A-A458-D94660F0A11F}"/>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Исторические версии данных и сроки выпуска расходов неизвестны. Расчёт использует сценарий лага 0.</a:t>
            </a:r>
          </a:p>
        </p:txBody>
      </p:sp>
      <p:sp>
        <p:nvSpPr>
          <p:cNvPr id="4" name="">
            <a:extLst xmlns:a="http://schemas.openxmlformats.org/drawingml/2006/main">
              <a:ext uri="{FF2B5EF4-FFF2-40B4-BE49-F238E27FC236}">
                <a16:creationId xmlns:a16="http://schemas.microsoft.com/office/drawing/2014/main" id="{33CD7F64-B4D5-4DFC-AE7F-FD78B1B21927}"/>
              </a:ext>
            </a:extLst>
          </p:cNvPr>
          <p:cNvSpPr>
            <a:spLocks xmlns:a="http://schemas.openxmlformats.org/drawingml/2006/main" noGrp="1"/>
          </p:cNvSpPr>
          <p:nvPr/>
        </p:nvSpPr>
        <p:spPr>
          <a:xfrm xmlns:a="http://schemas.openxmlformats.org/drawingml/2006/main">
            <a:off x="609600" y="1657350"/>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3B32"/>
                </a:solidFill>
                <a:latin typeface="Noto Sans"/>
                <a:ea typeface="Noto Sans"/>
                <a:cs typeface="Noto Sans"/>
              </a:defRPr>
            </a:pPr>
            <a:r>
              <a:rPr sz="2175" b="1">
                <a:solidFill>
                  <a:srgbClr val="183B32"/>
                </a:solidFill>
                <a:latin typeface="Noto Sans"/>
                <a:ea typeface="Noto Sans"/>
                <a:cs typeface="Noto Sans"/>
              </a:rPr>
              <a:t>СберИндекс</a:t>
            </a:r>
          </a:p>
        </p:txBody>
      </p:sp>
      <p:sp>
        <p:nvSpPr>
          <p:cNvPr id="5" name="">
            <a:extLst xmlns:a="http://schemas.openxmlformats.org/drawingml/2006/main">
              <a:ext uri="{FF2B5EF4-FFF2-40B4-BE49-F238E27FC236}">
                <a16:creationId xmlns:a16="http://schemas.microsoft.com/office/drawing/2014/main" id="{5671A225-644E-4B0A-AF34-527385C35B11}"/>
              </a:ext>
            </a:extLst>
          </p:cNvPr>
          <p:cNvSpPr>
            <a:spLocks xmlns:a="http://schemas.openxmlformats.org/drawingml/2006/main" noGrp="1"/>
          </p:cNvSpPr>
          <p:nvPr/>
        </p:nvSpPr>
        <p:spPr>
          <a:xfrm xmlns:a="http://schemas.openxmlformats.org/drawingml/2006/main">
            <a:off x="609600" y="2419350"/>
            <a:ext cx="352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0C825D"/>
                </a:solidFill>
                <a:latin typeface="Noto Sans"/>
                <a:ea typeface="Noto Sans"/>
                <a:cs typeface="Noto Sans"/>
              </a:defRPr>
            </a:pPr>
            <a:r>
              <a:rPr sz="3525" b="1">
                <a:solidFill>
                  <a:srgbClr val="0C825D"/>
                </a:solidFill>
                <a:latin typeface="Noto Sans"/>
                <a:ea typeface="Noto Sans"/>
                <a:cs typeface="Noto Sans"/>
              </a:rPr>
              <a:t>2 190 ID</a:t>
            </a:r>
          </a:p>
        </p:txBody>
      </p:sp>
      <p:sp>
        <p:nvSpPr>
          <p:cNvPr id="6" name="">
            <a:extLst xmlns:a="http://schemas.openxmlformats.org/drawingml/2006/main">
              <a:ext uri="{FF2B5EF4-FFF2-40B4-BE49-F238E27FC236}">
                <a16:creationId xmlns:a16="http://schemas.microsoft.com/office/drawing/2014/main" id="{37496443-3969-4822-BC2F-99BC49F70D4B}"/>
              </a:ext>
            </a:extLst>
          </p:cNvPr>
          <p:cNvSpPr>
            <a:spLocks xmlns:a="http://schemas.openxmlformats.org/drawingml/2006/main" noGrp="1"/>
          </p:cNvSpPr>
          <p:nvPr/>
        </p:nvSpPr>
        <p:spPr>
          <a:xfrm xmlns:a="http://schemas.openxmlformats.org/drawingml/2006/main">
            <a:off x="609600" y="3409950"/>
            <a:ext cx="347662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B32"/>
                </a:solidFill>
                <a:latin typeface="Noto Sans"/>
                <a:ea typeface="Noto Sans"/>
                <a:cs typeface="Noto Sans"/>
              </a:defRPr>
            </a:pPr>
            <a:r>
              <a:rPr sz="1875" b="0">
                <a:solidFill>
                  <a:srgbClr val="183B32"/>
                </a:solidFill>
                <a:latin typeface="Noto Sans"/>
                <a:ea typeface="Noto Sans"/>
                <a:cs typeface="Noto Sans"/>
              </a:rPr>
              <a:t>24 месяца · 6 категорий</a:t>
            </a:r>
          </a:p>
          <a:p xmlns:a="http://schemas.openxmlformats.org/drawingml/2006/main">
            <a:pPr>
              <a:defRPr sz="1875" b="0">
                <a:solidFill>
                  <a:srgbClr val="183B32"/>
                </a:solidFill>
                <a:latin typeface="Noto Sans"/>
                <a:ea typeface="Noto Sans"/>
                <a:cs typeface="Noto Sans"/>
              </a:defRPr>
            </a:pPr>
            <a:r>
              <a:rPr sz="1875" b="0">
                <a:solidFill>
                  <a:srgbClr val="183B32"/>
                </a:solidFill>
                <a:latin typeface="Noto Sans"/>
                <a:ea typeface="Noto Sans"/>
                <a:cs typeface="Noto Sans"/>
              </a:rPr>
              <a:t>Средние расходы жителя, руб.</a:t>
            </a:r>
          </a:p>
        </p:txBody>
      </p:sp>
      <p:sp>
        <p:nvSpPr>
          <p:cNvPr id="7" name="">
            <a:extLst xmlns:a="http://schemas.openxmlformats.org/drawingml/2006/main">
              <a:ext uri="{FF2B5EF4-FFF2-40B4-BE49-F238E27FC236}">
                <a16:creationId xmlns:a16="http://schemas.microsoft.com/office/drawing/2014/main" id="{CBA49FB3-E256-4827-AEE6-7F4F675A99EC}"/>
              </a:ext>
            </a:extLst>
          </p:cNvPr>
          <p:cNvSpPr>
            <a:spLocks xmlns:a="http://schemas.openxmlformats.org/drawingml/2006/main" noGrp="1"/>
          </p:cNvSpPr>
          <p:nvPr/>
        </p:nvSpPr>
        <p:spPr>
          <a:xfrm xmlns:a="http://schemas.openxmlformats.org/drawingml/2006/main">
            <a:off x="4362450" y="1657350"/>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3B32"/>
                </a:solidFill>
                <a:latin typeface="Noto Sans"/>
                <a:ea typeface="Noto Sans"/>
                <a:cs typeface="Noto Sans"/>
              </a:defRPr>
            </a:pPr>
            <a:r>
              <a:rPr sz="2175" b="1">
                <a:solidFill>
                  <a:srgbClr val="183B32"/>
                </a:solidFill>
                <a:latin typeface="Noto Sans"/>
                <a:ea typeface="Noto Sans"/>
                <a:cs typeface="Noto Sans"/>
              </a:rPr>
              <a:t>География и Росстат</a:t>
            </a:r>
          </a:p>
        </p:txBody>
      </p:sp>
      <p:sp>
        <p:nvSpPr>
          <p:cNvPr id="8" name="">
            <a:extLst xmlns:a="http://schemas.openxmlformats.org/drawingml/2006/main">
              <a:ext uri="{FF2B5EF4-FFF2-40B4-BE49-F238E27FC236}">
                <a16:creationId xmlns:a16="http://schemas.microsoft.com/office/drawing/2014/main" id="{15D98876-032A-40BB-8661-80D6085D3179}"/>
              </a:ext>
            </a:extLst>
          </p:cNvPr>
          <p:cNvSpPr>
            <a:spLocks xmlns:a="http://schemas.openxmlformats.org/drawingml/2006/main" noGrp="1"/>
          </p:cNvSpPr>
          <p:nvPr/>
        </p:nvSpPr>
        <p:spPr>
          <a:xfrm xmlns:a="http://schemas.openxmlformats.org/drawingml/2006/main">
            <a:off x="4362450" y="2419350"/>
            <a:ext cx="352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0C825D"/>
                </a:solidFill>
                <a:latin typeface="Noto Sans"/>
                <a:ea typeface="Noto Sans"/>
                <a:cs typeface="Noto Sans"/>
              </a:defRPr>
            </a:pPr>
            <a:r>
              <a:rPr sz="3525" b="1">
                <a:solidFill>
                  <a:srgbClr val="0C825D"/>
                </a:solidFill>
                <a:latin typeface="Noto Sans"/>
                <a:ea typeface="Noto Sans"/>
                <a:cs typeface="Noto Sans"/>
              </a:rPr>
              <a:t>2 075 МО</a:t>
            </a:r>
          </a:p>
        </p:txBody>
      </p:sp>
      <p:sp>
        <p:nvSpPr>
          <p:cNvPr id="9" name="">
            <a:extLst xmlns:a="http://schemas.openxmlformats.org/drawingml/2006/main">
              <a:ext uri="{FF2B5EF4-FFF2-40B4-BE49-F238E27FC236}">
                <a16:creationId xmlns:a16="http://schemas.microsoft.com/office/drawing/2014/main" id="{108EB495-4CBB-48C1-AAE3-F832ECD2E608}"/>
              </a:ext>
            </a:extLst>
          </p:cNvPr>
          <p:cNvSpPr>
            <a:spLocks xmlns:a="http://schemas.openxmlformats.org/drawingml/2006/main" noGrp="1"/>
          </p:cNvSpPr>
          <p:nvPr/>
        </p:nvSpPr>
        <p:spPr>
          <a:xfrm xmlns:a="http://schemas.openxmlformats.org/drawingml/2006/main">
            <a:off x="4362450" y="3409950"/>
            <a:ext cx="347662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B32"/>
                </a:solidFill>
                <a:latin typeface="Noto Sans"/>
                <a:ea typeface="Noto Sans"/>
                <a:cs typeface="Noto Sans"/>
              </a:defRPr>
            </a:pPr>
            <a:r>
              <a:rPr sz="1875" b="0">
                <a:solidFill>
                  <a:srgbClr val="183B32"/>
                </a:solidFill>
                <a:latin typeface="Noto Sans"/>
                <a:ea typeface="Noto Sans"/>
                <a:cs typeface="Noto Sans"/>
              </a:rPr>
              <a:t>Положительная история 2023</a:t>
            </a:r>
          </a:p>
          <a:p xmlns:a="http://schemas.openxmlformats.org/drawingml/2006/main">
            <a:pPr>
              <a:defRPr sz="1875" b="0">
                <a:solidFill>
                  <a:srgbClr val="183B32"/>
                </a:solidFill>
                <a:latin typeface="Noto Sans"/>
                <a:ea typeface="Noto Sans"/>
                <a:cs typeface="Noto Sans"/>
              </a:defRPr>
            </a:pPr>
            <a:r>
              <a:rPr sz="1875" b="0">
                <a:solidFill>
                  <a:srgbClr val="183B32"/>
                </a:solidFill>
                <a:latin typeface="Noto Sans"/>
                <a:ea typeface="Noto Sans"/>
                <a:cs typeface="Noto Sans"/>
              </a:rPr>
              <a:t>Рост зарплат: выпуск 27.12.2023</a:t>
            </a:r>
          </a:p>
        </p:txBody>
      </p:sp>
      <p:sp>
        <p:nvSpPr>
          <p:cNvPr id="10" name="">
            <a:extLst xmlns:a="http://schemas.openxmlformats.org/drawingml/2006/main">
              <a:ext uri="{FF2B5EF4-FFF2-40B4-BE49-F238E27FC236}">
                <a16:creationId xmlns:a16="http://schemas.microsoft.com/office/drawing/2014/main" id="{FFB306C9-3C03-4C9D-A78B-43668EA5025A}"/>
              </a:ext>
            </a:extLst>
          </p:cNvPr>
          <p:cNvSpPr>
            <a:spLocks xmlns:a="http://schemas.openxmlformats.org/drawingml/2006/main" noGrp="1"/>
          </p:cNvSpPr>
          <p:nvPr/>
        </p:nvSpPr>
        <p:spPr>
          <a:xfrm xmlns:a="http://schemas.openxmlformats.org/drawingml/2006/main">
            <a:off x="8115300" y="1657350"/>
            <a:ext cx="352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3B32"/>
                </a:solidFill>
                <a:latin typeface="Noto Sans"/>
                <a:ea typeface="Noto Sans"/>
                <a:cs typeface="Noto Sans"/>
              </a:defRPr>
            </a:pPr>
            <a:r>
              <a:rPr sz="2175" b="1">
                <a:solidFill>
                  <a:srgbClr val="183B32"/>
                </a:solidFill>
                <a:latin typeface="Noto Sans"/>
                <a:ea typeface="Noto Sans"/>
                <a:cs typeface="Noto Sans"/>
              </a:rPr>
              <a:t>Временная проверка</a:t>
            </a:r>
          </a:p>
        </p:txBody>
      </p:sp>
      <p:sp>
        <p:nvSpPr>
          <p:cNvPr id="11" name="">
            <a:extLst xmlns:a="http://schemas.openxmlformats.org/drawingml/2006/main">
              <a:ext uri="{FF2B5EF4-FFF2-40B4-BE49-F238E27FC236}">
                <a16:creationId xmlns:a16="http://schemas.microsoft.com/office/drawing/2014/main" id="{81C7F2BE-16E4-4CB1-9D97-4D230074FD33}"/>
              </a:ext>
            </a:extLst>
          </p:cNvPr>
          <p:cNvSpPr>
            <a:spLocks xmlns:a="http://schemas.openxmlformats.org/drawingml/2006/main" noGrp="1"/>
          </p:cNvSpPr>
          <p:nvPr/>
        </p:nvSpPr>
        <p:spPr>
          <a:xfrm xmlns:a="http://schemas.openxmlformats.org/drawingml/2006/main">
            <a:off x="8115300" y="2419350"/>
            <a:ext cx="352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0C825D"/>
                </a:solidFill>
                <a:latin typeface="Noto Sans"/>
                <a:ea typeface="Noto Sans"/>
                <a:cs typeface="Noto Sans"/>
              </a:defRPr>
            </a:pPr>
            <a:r>
              <a:rPr sz="3525" b="1">
                <a:solidFill>
                  <a:srgbClr val="0C825D"/>
                </a:solidFill>
                <a:latin typeface="Noto Sans"/>
                <a:ea typeface="Noto Sans"/>
                <a:cs typeface="Noto Sans"/>
              </a:rPr>
              <a:t>1 / 3 / 6 / 12</a:t>
            </a:r>
          </a:p>
        </p:txBody>
      </p:sp>
      <p:sp>
        <p:nvSpPr>
          <p:cNvPr id="12" name="">
            <a:extLst xmlns:a="http://schemas.openxmlformats.org/drawingml/2006/main">
              <a:ext uri="{FF2B5EF4-FFF2-40B4-BE49-F238E27FC236}">
                <a16:creationId xmlns:a16="http://schemas.microsoft.com/office/drawing/2014/main" id="{B8B73319-BF2B-42F1-98B9-4B23C6CD18B4}"/>
              </a:ext>
            </a:extLst>
          </p:cNvPr>
          <p:cNvSpPr>
            <a:spLocks xmlns:a="http://schemas.openxmlformats.org/drawingml/2006/main" noGrp="1"/>
          </p:cNvSpPr>
          <p:nvPr/>
        </p:nvSpPr>
        <p:spPr>
          <a:xfrm xmlns:a="http://schemas.openxmlformats.org/drawingml/2006/main">
            <a:off x="8115300" y="3409950"/>
            <a:ext cx="347662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B32"/>
                </a:solidFill>
                <a:latin typeface="Noto Sans"/>
                <a:ea typeface="Noto Sans"/>
                <a:cs typeface="Noto Sans"/>
              </a:defRPr>
            </a:pPr>
            <a:r>
              <a:rPr sz="1875" b="0">
                <a:solidFill>
                  <a:srgbClr val="183B32"/>
                </a:solidFill>
                <a:latin typeface="Noto Sans"/>
                <a:ea typeface="Noto Sans"/>
                <a:cs typeface="Noto Sans"/>
              </a:rPr>
              <a:t>Горизонты в месяцах</a:t>
            </a:r>
          </a:p>
          <a:p xmlns:a="http://schemas.openxmlformats.org/drawingml/2006/main">
            <a:pPr>
              <a:defRPr sz="1875" b="0">
                <a:solidFill>
                  <a:srgbClr val="183B32"/>
                </a:solidFill>
                <a:latin typeface="Noto Sans"/>
                <a:ea typeface="Noto Sans"/>
                <a:cs typeface="Noto Sans"/>
              </a:defRPr>
            </a:pPr>
            <a:r>
              <a:rPr sz="1875" b="0">
                <a:solidFill>
                  <a:srgbClr val="183B32"/>
                </a:solidFill>
                <a:latin typeface="Noto Sans"/>
                <a:ea typeface="Noto Sans"/>
                <a:cs typeface="Noto Sans"/>
              </a:rPr>
              <a:t>Профили строим по 2023 году</a:t>
            </a:r>
          </a:p>
        </p:txBody>
      </p:sp>
      <p:sp>
        <p:nvSpPr>
          <p:cNvPr id="13" name="">
            <a:extLst xmlns:a="http://schemas.openxmlformats.org/drawingml/2006/main">
              <a:ext uri="{FF2B5EF4-FFF2-40B4-BE49-F238E27FC236}">
                <a16:creationId xmlns:a16="http://schemas.microsoft.com/office/drawing/2014/main" id="{4B9A9D73-689A-4DDE-959B-4D1C1F3030F9}"/>
              </a:ext>
            </a:extLst>
          </p:cNvPr>
          <p:cNvSpPr>
            <a:spLocks xmlns:a="http://schemas.openxmlformats.org/drawingml/2006/main" noGrp="1"/>
          </p:cNvSpPr>
          <p:nvPr/>
        </p:nvSpPr>
        <p:spPr>
          <a:xfrm xmlns:a="http://schemas.openxmlformats.org/drawingml/2006/main">
            <a:off x="609600" y="4857750"/>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83B32"/>
                </a:solidFill>
                <a:latin typeface="Noto Sans"/>
                <a:ea typeface="Noto Sans"/>
                <a:cs typeface="Noto Sans"/>
              </a:defRPr>
            </a:pPr>
            <a:r>
              <a:rPr sz="2025" b="0">
                <a:solidFill>
                  <a:srgbClr val="183B32"/>
                </a:solidFill>
                <a:latin typeface="Noto Sans"/>
                <a:ea typeface="Noto Sans"/>
                <a:cs typeface="Noto Sans"/>
              </a:rPr>
              <a:t>Факты для оценки: 2031 / 2031 / 2029 / 2023 МО</a:t>
            </a:r>
          </a:p>
          <a:p xmlns:a="http://schemas.openxmlformats.org/drawingml/2006/main">
            <a:pPr>
              <a:defRPr sz="2025" b="0">
                <a:solidFill>
                  <a:srgbClr val="183B32"/>
                </a:solidFill>
                <a:latin typeface="Noto Sans"/>
                <a:ea typeface="Noto Sans"/>
                <a:cs typeface="Noto Sans"/>
              </a:defRPr>
            </a:pPr>
            <a:r>
              <a:rPr sz="2025" b="0">
                <a:solidFill>
                  <a:srgbClr val="183B32"/>
                </a:solidFill>
                <a:latin typeface="Noto Sans"/>
                <a:ea typeface="Noto Sans"/>
                <a:cs typeface="Noto Sans"/>
              </a:rPr>
              <a:t>Внешние источники соединяем по дате доступности и территории</a:t>
            </a:r>
          </a:p>
        </p:txBody>
      </p:sp>
    </p:spTree>
    <p:extLst>
      <p:ext uri="{BB962C8B-B14F-4D97-AF65-F5344CB8AC3E}">
        <p14:creationId xmlns:p14="http://schemas.microsoft.com/office/powerpoint/2010/main" val="1322244297"/>
      </p:ext>
    </p:extLst>
  </p:cSld>
</p:sld>
</file>

<file path=ppt/slides/slide4.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A67C52A-5428-4268-A6C6-5E4F4863F137}"/>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Одна модель для четырёх горизонтов</a:t>
            </a:r>
          </a:p>
        </p:txBody>
      </p:sp>
      <p:sp>
        <p:nvSpPr>
          <p:cNvPr id="2" name="">
            <a:extLst xmlns:a="http://schemas.openxmlformats.org/drawingml/2006/main">
              <a:ext uri="{FF2B5EF4-FFF2-40B4-BE49-F238E27FC236}">
                <a16:creationId xmlns:a16="http://schemas.microsoft.com/office/drawing/2014/main" id="{75FC7AB3-85AD-4FEC-88F1-11DF6DC6285E}"/>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4 / 21</a:t>
            </a:r>
          </a:p>
        </p:txBody>
      </p:sp>
      <p:sp>
        <p:nvSpPr>
          <p:cNvPr id="3" name="">
            <a:extLst xmlns:a="http://schemas.openxmlformats.org/drawingml/2006/main">
              <a:ext uri="{FF2B5EF4-FFF2-40B4-BE49-F238E27FC236}">
                <a16:creationId xmlns:a16="http://schemas.microsoft.com/office/drawing/2014/main" id="{7FB2C6EB-A166-4AAF-8594-F8AD0DBF3831}"/>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17,2% — номинальный рост зарплат за октябрь 2023; опубликован 27.12.2023, затем заморожен.</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1c3d600e6b5f4f4c"/>
          <a:stretch xmlns:a="http://schemas.openxmlformats.org/drawingml/2006/main"/>
        </p:blipFill>
        <p:spPr>
          <a:xfrm xmlns:a="http://schemas.openxmlformats.org/drawingml/2006/main">
            <a:off x="2576664" y="1514475"/>
            <a:ext cx="6543371" cy="1000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DDCC22D-6D56-4DA5-926F-35319A512977}"/>
              </a:ext>
            </a:extLst>
          </p:cNvPr>
          <p:cNvSpPr>
            <a:spLocks xmlns:a="http://schemas.openxmlformats.org/drawingml/2006/main" noGrp="1"/>
          </p:cNvSpPr>
          <p:nvPr/>
        </p:nvSpPr>
        <p:spPr>
          <a:xfrm xmlns:a="http://schemas.openxmlformats.org/drawingml/2006/main">
            <a:off x="609600" y="25717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B32"/>
                </a:solidFill>
                <a:latin typeface="Noto Sans"/>
                <a:ea typeface="Noto Sans"/>
                <a:cs typeface="Noto Sans"/>
              </a:defRPr>
            </a:pPr>
            <a:r>
              <a:rPr sz="2100" b="0">
                <a:solidFill>
                  <a:srgbClr val="183B32"/>
                </a:solidFill>
                <a:latin typeface="Noto Sans"/>
                <a:ea typeface="Noto Sans"/>
                <a:cs typeface="Noto Sans"/>
              </a:rPr>
              <a:t>Берём текущий уровень, сдвигаем по сезонному профилю;</a:t>
            </a:r>
          </a:p>
          <a:p xmlns:a="http://schemas.openxmlformats.org/drawingml/2006/main">
            <a:pPr>
              <a:defRPr sz="2100" b="0">
                <a:solidFill>
                  <a:srgbClr val="183B32"/>
                </a:solidFill>
                <a:latin typeface="Noto Sans"/>
                <a:ea typeface="Noto Sans"/>
                <a:cs typeface="Noto Sans"/>
              </a:defRPr>
            </a:pPr>
            <a:r>
              <a:rPr sz="2100" b="0">
                <a:solidFill>
                  <a:srgbClr val="183B32"/>
                </a:solidFill>
                <a:latin typeface="Noto Sans"/>
                <a:ea typeface="Noto Sans"/>
                <a:cs typeface="Noto Sans"/>
              </a:rPr>
              <a:t>при переходе через Новый год добавляем годовой рост</a:t>
            </a:r>
          </a:p>
        </p:txBody>
      </p:sp>
      <p:sp>
        <p:nvSpPr>
          <p:cNvPr id="6" name="">
            <a:extLst xmlns:a="http://schemas.openxmlformats.org/drawingml/2006/main">
              <a:ext uri="{FF2B5EF4-FFF2-40B4-BE49-F238E27FC236}">
                <a16:creationId xmlns:a16="http://schemas.microsoft.com/office/drawing/2014/main" id="{386D6C43-1400-465A-96F9-CDFE85BDB6C3}"/>
              </a:ext>
            </a:extLst>
          </p:cNvPr>
          <p:cNvSpPr>
            <a:spLocks xmlns:a="http://schemas.openxmlformats.org/drawingml/2006/main" noGrp="1"/>
          </p:cNvSpPr>
          <p:nvPr/>
        </p:nvSpPr>
        <p:spPr>
          <a:xfrm xmlns:a="http://schemas.openxmlformats.org/drawingml/2006/main">
            <a:off x="609600" y="36957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83B32"/>
                </a:solidFill>
                <a:latin typeface="Noto Sans"/>
                <a:ea typeface="Noto Sans"/>
                <a:cs typeface="Noto Sans"/>
              </a:defRPr>
            </a:pPr>
            <a:r>
              <a:rPr sz="1950" b="0">
                <a:solidFill>
                  <a:srgbClr val="183B32"/>
                </a:solidFill>
                <a:latin typeface="Noto Sans"/>
                <a:ea typeface="Noto Sans"/>
                <a:cs typeface="Noto Sans"/>
              </a:rPr>
              <a:t>Профиль = 0,5 × общий профиль + 0,5 × профиль региона</a:t>
            </a:r>
          </a:p>
          <a:p xmlns:a="http://schemas.openxmlformats.org/drawingml/2006/main">
            <a:pPr>
              <a:defRPr sz="1950" b="0">
                <a:solidFill>
                  <a:srgbClr val="183B32"/>
                </a:solidFill>
                <a:latin typeface="Noto Sans"/>
                <a:ea typeface="Noto Sans"/>
                <a:cs typeface="Noto Sans"/>
              </a:defRPr>
            </a:pPr>
            <a:r>
              <a:rPr sz="1950" b="0">
                <a:solidFill>
                  <a:srgbClr val="183B32"/>
                </a:solidFill>
                <a:latin typeface="Noto Sans"/>
                <a:ea typeface="Noto Sans"/>
                <a:cs typeface="Noto Sans"/>
              </a:rPr>
              <a:t>k — число переходов года; g = 0,172</a:t>
            </a:r>
          </a:p>
        </p:txBody>
      </p:sp>
      <p:sp>
        <p:nvSpPr>
          <p:cNvPr id="7" name="">
            <a:extLst xmlns:a="http://schemas.openxmlformats.org/drawingml/2006/main">
              <a:ext uri="{FF2B5EF4-FFF2-40B4-BE49-F238E27FC236}">
                <a16:creationId xmlns:a16="http://schemas.microsoft.com/office/drawing/2014/main" id="{27C2DBFF-F278-410A-9CD7-4DA2B7A1064E}"/>
              </a:ext>
            </a:extLst>
          </p:cNvPr>
          <p:cNvSpPr>
            <a:spLocks xmlns:a="http://schemas.openxmlformats.org/drawingml/2006/main" noGrp="1"/>
          </p:cNvSpPr>
          <p:nvPr/>
        </p:nvSpPr>
        <p:spPr>
          <a:xfrm xmlns:a="http://schemas.openxmlformats.org/drawingml/2006/main">
            <a:off x="609600" y="49149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B32"/>
                </a:solidFill>
                <a:latin typeface="Noto Sans"/>
                <a:ea typeface="Noto Sans"/>
                <a:cs typeface="Noto Sans"/>
              </a:defRPr>
            </a:pPr>
            <a:r>
              <a:rPr sz="1875" b="0">
                <a:solidFill>
                  <a:srgbClr val="183B32"/>
                </a:solidFill>
                <a:latin typeface="Noto Sans"/>
                <a:ea typeface="Noto Sans"/>
                <a:cs typeface="Noto Sans"/>
              </a:rPr>
              <a:t>Выбор одной модели по MAE ранних целей h1 / h3 / h6</a:t>
            </a:r>
          </a:p>
          <a:p xmlns:a="http://schemas.openxmlformats.org/drawingml/2006/main">
            <a:pPr>
              <a:defRPr sz="1875" b="0">
                <a:solidFill>
                  <a:srgbClr val="183B32"/>
                </a:solidFill>
                <a:latin typeface="Noto Sans"/>
                <a:ea typeface="Noto Sans"/>
                <a:cs typeface="Noto Sans"/>
              </a:defRPr>
            </a:pPr>
            <a:r>
              <a:rPr sz="1875" b="0">
                <a:solidFill>
                  <a:srgbClr val="183B32"/>
                </a:solidFill>
                <a:latin typeface="Noto Sans"/>
                <a:ea typeface="Noto Sans"/>
                <a:cs typeface="Noto Sans"/>
              </a:rPr>
              <a:t>h12 не участвует в выборе; поздние цели показаны отдельно</a:t>
            </a:r>
          </a:p>
        </p:txBody>
      </p:sp>
    </p:spTree>
    <p:extLst>
      <p:ext uri="{BB962C8B-B14F-4D97-AF65-F5344CB8AC3E}">
        <p14:creationId xmlns:p14="http://schemas.microsoft.com/office/powerpoint/2010/main" val="1896262695"/>
      </p:ext>
    </p:extLst>
  </p:cSld>
</p:sld>
</file>

<file path=ppt/slides/slide5.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7AC979-5C9E-4711-BAD9-F6E85B2CF8E5}"/>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Модель обходит Prophet на всех горизонтах</a:t>
            </a:r>
          </a:p>
        </p:txBody>
      </p:sp>
      <p:sp>
        <p:nvSpPr>
          <p:cNvPr id="2" name="">
            <a:extLst xmlns:a="http://schemas.openxmlformats.org/drawingml/2006/main">
              <a:ext uri="{FF2B5EF4-FFF2-40B4-BE49-F238E27FC236}">
                <a16:creationId xmlns:a16="http://schemas.microsoft.com/office/drawing/2014/main" id="{69BEAC8F-CCE8-41AE-B7AF-86033696C2D9}"/>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5 / 21</a:t>
            </a:r>
          </a:p>
        </p:txBody>
      </p:sp>
      <p:sp>
        <p:nvSpPr>
          <p:cNvPr id="3" name="">
            <a:extLst xmlns:a="http://schemas.openxmlformats.org/drawingml/2006/main">
              <a:ext uri="{FF2B5EF4-FFF2-40B4-BE49-F238E27FC236}">
                <a16:creationId xmlns:a16="http://schemas.microsoft.com/office/drawing/2014/main" id="{049BDCE3-9B3A-4B96-98E0-B626103C1A7B}"/>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MAE: руб./жителя. 2031 / 2031 / 2029 / 2023 МО; 12 / 10 / 7 / 1 дат. R² h1 — изменения внутри МО. HGB h12: нет обучаемых примеров.</a:t>
            </a:r>
          </a:p>
        </p:txBody>
      </p:sp>
      <p:sp>
        <p:nvSpPr>
          <p:cNvPr id="4" name="">
            <a:extLst xmlns:a="http://schemas.openxmlformats.org/drawingml/2006/main">
              <a:ext uri="{FF2B5EF4-FFF2-40B4-BE49-F238E27FC236}">
                <a16:creationId xmlns:a16="http://schemas.microsoft.com/office/drawing/2014/main" id="{63B98A2D-31A5-4F1F-9173-8140F2686807}"/>
              </a:ext>
            </a:extLst>
          </p:cNvPr>
          <p:cNvSpPr>
            <a:spLocks xmlns:a="http://schemas.openxmlformats.org/drawingml/2006/main" noGrp="1"/>
          </p:cNvSpPr>
          <p:nvPr/>
        </p:nvSpPr>
        <p:spPr>
          <a:xfrm xmlns:a="http://schemas.openxmlformats.org/drawingml/2006/main">
            <a:off x="609600" y="1419225"/>
            <a:ext cx="5095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B32"/>
                </a:solidFill>
                <a:latin typeface="Noto Sans"/>
                <a:ea typeface="Noto Sans"/>
                <a:cs typeface="Noto Sans"/>
              </a:defRPr>
            </a:pPr>
            <a:r>
              <a:rPr sz="1725" b="1">
                <a:solidFill>
                  <a:srgbClr val="183B32"/>
                </a:solidFill>
                <a:latin typeface="Noto Sans"/>
                <a:ea typeface="Noto Sans"/>
                <a:cs typeface="Noto Sans"/>
              </a:rPr>
              <a:t>MAE, руб./жителя</a:t>
            </a:r>
          </a:p>
        </p:txBody>
      </p:sp>
      <p:graphicFrame>
        <p:nvGraphicFramePr>
          <p:cNvPr id="13" name="Chart"/>
          <p:cNvGraphicFramePr/>
          <p:nvPr/>
        </p:nvGraphicFramePr>
        <p:xfrm>
          <a:off xmlns:a="http://schemas.openxmlformats.org/drawingml/2006/main" x="609600" y="1857375"/>
          <a:ext xmlns:a="http://schemas.openxmlformats.org/drawingml/2006/main" cx="5524500" cy="3267075"/>
        </p:xfrm>
        <a:graphic xmlns:a="http://schemas.openxmlformats.org/drawingml/2006/main">
          <a:graphicData uri="http://schemas.openxmlformats.org/drawingml/2006/chart">
            <c:chart xmlns:r="http://schemas.openxmlformats.org/officeDocument/2006/relationships" xmlns:c="http://schemas.openxmlformats.org/drawingml/2006/chart" r:id="R270733d6103c4f6f"/>
          </a:graphicData>
        </a:graphic>
      </p:graphicFrame>
      <p:sp>
        <p:nvSpPr>
          <p:cNvPr id="6" name="">
            <a:extLst xmlns:a="http://schemas.openxmlformats.org/drawingml/2006/main">
              <a:ext uri="{FF2B5EF4-FFF2-40B4-BE49-F238E27FC236}">
                <a16:creationId xmlns:a16="http://schemas.microsoft.com/office/drawing/2014/main" id="{9A303264-BFCF-4181-B539-4DEF57D89921}"/>
              </a:ext>
            </a:extLst>
          </p:cNvPr>
          <p:cNvSpPr>
            <a:spLocks xmlns:a="http://schemas.openxmlformats.org/drawingml/2006/main" noGrp="1"/>
          </p:cNvSpPr>
          <p:nvPr/>
        </p:nvSpPr>
        <p:spPr>
          <a:xfrm xmlns:a="http://schemas.openxmlformats.org/drawingml/2006/main">
            <a:off x="6362700" y="1419225"/>
            <a:ext cx="5219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83B32"/>
                </a:solidFill>
                <a:latin typeface="Noto Sans"/>
                <a:ea typeface="Noto Sans"/>
                <a:cs typeface="Noto Sans"/>
              </a:defRPr>
            </a:pPr>
            <a:r>
              <a:rPr sz="1725" b="1">
                <a:solidFill>
                  <a:srgbClr val="183B32"/>
                </a:solidFill>
                <a:latin typeface="Noto Sans"/>
                <a:ea typeface="Noto Sans"/>
                <a:cs typeface="Noto Sans"/>
              </a:rPr>
              <a:t>Полная панель: десять моделей</a:t>
            </a:r>
          </a:p>
        </p:txBody>
      </p:sp>
      <p:graphicFrame>
        <p:nvGraphicFramePr>
          <p:cNvPr id="15" name=""/>
          <p:cNvGraphicFramePr/>
          <p:nvPr/>
        </p:nvGraphicFramePr>
        <p:xfrm>
          <a:off xmlns:a="http://schemas.openxmlformats.org/drawingml/2006/main" x="6324600" y="1895475"/>
          <a:ext xmlns:a="http://schemas.openxmlformats.org/drawingml/2006/main" cx="5257800" cy="3209925"/>
        </p:xfrm>
        <a:graphic xmlns:a="http://schemas.openxmlformats.org/drawingml/2006/main">
          <a:graphicData uri="http://schemas.openxmlformats.org/drawingml/2006/table">
            <a:tbl>
              <a:tblPr firstRow="1" bandRow="0"/>
              <a:tblGrid>
                <a:gridCol w="1733550"/>
                <a:gridCol w="704850"/>
                <a:gridCol w="704850"/>
                <a:gridCol w="704850"/>
                <a:gridCol w="704850"/>
                <a:gridCol w="704850"/>
              </a:tblGrid>
              <a:tr h="291811">
                <a:tc>
                  <a:txBody>
                    <a:bodyPr/>
                    <a:lstStyle/>
                    <a:p>
                      <a:r>
                        <a:rPr sz="1350" b="1">
                          <a:solidFill>
                            <a:srgbClr val="FFFFFF"/>
                          </a:solidFill>
                          <a:latin typeface="Noto Sans"/>
                          <a:ea typeface="Noto Sans"/>
                          <a:cs typeface="Noto Sans"/>
                        </a:rPr>
                        <a:t>Модель</a:t>
                      </a:r>
                    </a:p>
                  </a:txBody>
                  <a:tcPr marL="91440" marR="91440" marT="45720" marB="45720">
                    <a:solidFill>
                      <a:srgbClr val="183B32"/>
                    </a:solidFill>
                  </a:tcPr>
                </a:tc>
                <a:tc>
                  <a:txBody>
                    <a:bodyPr/>
                    <a:lstStyle/>
                    <a:p>
                      <a:r>
                        <a:rPr sz="1350" b="1">
                          <a:solidFill>
                            <a:srgbClr val="FFFFFF"/>
                          </a:solidFill>
                          <a:latin typeface="Noto Sans"/>
                          <a:ea typeface="Noto Sans"/>
                          <a:cs typeface="Noto Sans"/>
                        </a:rPr>
                        <a:t>h1</a:t>
                      </a:r>
                    </a:p>
                  </a:txBody>
                  <a:tcPr marL="91440" marR="91440" marT="45720" marB="45720">
                    <a:solidFill>
                      <a:srgbClr val="183B32"/>
                    </a:solidFill>
                  </a:tcPr>
                </a:tc>
                <a:tc>
                  <a:txBody>
                    <a:bodyPr/>
                    <a:lstStyle/>
                    <a:p>
                      <a:r>
                        <a:rPr sz="1350" b="1">
                          <a:solidFill>
                            <a:srgbClr val="FFFFFF"/>
                          </a:solidFill>
                          <a:latin typeface="Noto Sans"/>
                          <a:ea typeface="Noto Sans"/>
                          <a:cs typeface="Noto Sans"/>
                        </a:rPr>
                        <a:t>h3</a:t>
                      </a:r>
                    </a:p>
                  </a:txBody>
                  <a:tcPr marL="91440" marR="91440" marT="45720" marB="45720">
                    <a:solidFill>
                      <a:srgbClr val="183B32"/>
                    </a:solidFill>
                  </a:tcPr>
                </a:tc>
                <a:tc>
                  <a:txBody>
                    <a:bodyPr/>
                    <a:lstStyle/>
                    <a:p>
                      <a:r>
                        <a:rPr sz="1350" b="1">
                          <a:solidFill>
                            <a:srgbClr val="FFFFFF"/>
                          </a:solidFill>
                          <a:latin typeface="Noto Sans"/>
                          <a:ea typeface="Noto Sans"/>
                          <a:cs typeface="Noto Sans"/>
                        </a:rPr>
                        <a:t>h6</a:t>
                      </a:r>
                    </a:p>
                  </a:txBody>
                  <a:tcPr marL="91440" marR="91440" marT="45720" marB="45720">
                    <a:solidFill>
                      <a:srgbClr val="183B32"/>
                    </a:solidFill>
                  </a:tcPr>
                </a:tc>
                <a:tc>
                  <a:txBody>
                    <a:bodyPr/>
                    <a:lstStyle/>
                    <a:p>
                      <a:r>
                        <a:rPr sz="1350" b="1">
                          <a:solidFill>
                            <a:srgbClr val="FFFFFF"/>
                          </a:solidFill>
                          <a:latin typeface="Noto Sans"/>
                          <a:ea typeface="Noto Sans"/>
                          <a:cs typeface="Noto Sans"/>
                        </a:rPr>
                        <a:t>h12</a:t>
                      </a:r>
                    </a:p>
                  </a:txBody>
                  <a:tcPr marL="91440" marR="91440" marT="45720" marB="45720">
                    <a:solidFill>
                      <a:srgbClr val="183B32"/>
                    </a:solidFill>
                  </a:tcPr>
                </a:tc>
                <a:tc>
                  <a:txBody>
                    <a:bodyPr/>
                    <a:lstStyle/>
                    <a:p>
                      <a:r>
                        <a:rPr sz="1350" b="1">
                          <a:solidFill>
                            <a:srgbClr val="FFFFFF"/>
                          </a:solidFill>
                          <a:latin typeface="Noto Sans"/>
                          <a:ea typeface="Noto Sans"/>
                          <a:cs typeface="Noto Sans"/>
                        </a:rPr>
                        <a:t>R² h1</a:t>
                      </a:r>
                    </a:p>
                  </a:txBody>
                  <a:tcPr marL="91440" marR="91440" marT="45720" marB="45720">
                    <a:solidFill>
                      <a:srgbClr val="183B32"/>
                    </a:solidFill>
                  </a:tcPr>
                </a:tc>
              </a:tr>
              <a:tr h="291811">
                <a:tc>
                  <a:txBody>
                    <a:bodyPr/>
                    <a:lstStyle/>
                    <a:p>
                      <a:r>
                        <a:rPr sz="1350" b="0">
                          <a:solidFill>
                            <a:srgbClr val="183B32"/>
                          </a:solidFill>
                          <a:latin typeface="Noto Sans"/>
                          <a:ea typeface="Noto Sans"/>
                          <a:cs typeface="Noto Sans"/>
                        </a:rPr>
                        <a:t>Seasonal naive</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4 086</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4 352</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4 359</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4 701</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-1.429</a:t>
                      </a:r>
                    </a:p>
                  </a:txBody>
                  <a:tcPr marL="91440" marR="91440" marT="45720" marB="45720">
                    <a:solidFill>
                      <a:srgbClr val="F0F6F1"/>
                    </a:solidFill>
                  </a:tcPr>
                </a:tc>
              </a:tr>
              <a:tr h="291811">
                <a:tc>
                  <a:txBody>
                    <a:bodyPr/>
                    <a:lstStyle/>
                    <a:p>
                      <a:r>
                        <a:rPr sz="1350" b="0">
                          <a:solidFill>
                            <a:srgbClr val="183B32"/>
                          </a:solidFill>
                          <a:latin typeface="Noto Sans"/>
                          <a:ea typeface="Noto Sans"/>
                          <a:cs typeface="Noto Sans"/>
                        </a:rPr>
                        <a:t>Prophet: базовый</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1 815</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1 766</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2 171</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2 906</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0.240</a:t>
                      </a:r>
                    </a:p>
                  </a:txBody>
                  <a:tcPr marL="91440" marR="91440" marT="45720" marB="45720">
                    <a:solidFill>
                      <a:srgbClr val="FFFFFF"/>
                    </a:solidFill>
                  </a:tcPr>
                </a:tc>
              </a:tr>
              <a:tr h="291811">
                <a:tc>
                  <a:txBody>
                    <a:bodyPr/>
                    <a:lstStyle/>
                    <a:p>
                      <a:r>
                        <a:rPr sz="1350" b="0">
                          <a:solidFill>
                            <a:srgbClr val="183B32"/>
                          </a:solidFill>
                          <a:latin typeface="Noto Sans"/>
                          <a:ea typeface="Noto Sans"/>
                          <a:cs typeface="Noto Sans"/>
                        </a:rPr>
                        <a:t>Prophet: Fourier 3</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2 351</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2 467</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2 904</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7 433</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-0.832</a:t>
                      </a:r>
                    </a:p>
                  </a:txBody>
                  <a:tcPr marL="91440" marR="91440" marT="45720" marB="45720">
                    <a:solidFill>
                      <a:srgbClr val="F0F6F1"/>
                    </a:solidFill>
                  </a:tcPr>
                </a:tc>
              </a:tr>
              <a:tr h="291811">
                <a:tc>
                  <a:txBody>
                    <a:bodyPr/>
                    <a:lstStyle/>
                    <a:p>
                      <a:r>
                        <a:rPr sz="1350" b="0">
                          <a:solidFill>
                            <a:srgbClr val="183B32"/>
                          </a:solidFill>
                          <a:latin typeface="Noto Sans"/>
                          <a:ea typeface="Noto Sans"/>
                          <a:cs typeface="Noto Sans"/>
                        </a:rPr>
                        <a:t>Prophet + проф.</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1 595</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1 659</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1 917</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2 989</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0.451</a:t>
                      </a:r>
                    </a:p>
                  </a:txBody>
                  <a:tcPr marL="91440" marR="91440" marT="45720" marB="45720">
                    <a:solidFill>
                      <a:srgbClr val="FFFFFF"/>
                    </a:solidFill>
                  </a:tcPr>
                </a:tc>
              </a:tr>
              <a:tr h="291811">
                <a:tc>
                  <a:txBody>
                    <a:bodyPr/>
                    <a:lstStyle/>
                    <a:p>
                      <a:r>
                        <a:rPr sz="1350" b="0">
                          <a:solidFill>
                            <a:srgbClr val="183B32"/>
                          </a:solidFill>
                          <a:latin typeface="Noto Sans"/>
                          <a:ea typeface="Noto Sans"/>
                          <a:cs typeface="Noto Sans"/>
                        </a:rPr>
                        <a:t>Сезонный</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984</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1 626</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1 922</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4 701</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0.782</a:t>
                      </a:r>
                    </a:p>
                  </a:txBody>
                  <a:tcPr marL="91440" marR="91440" marT="45720" marB="45720">
                    <a:solidFill>
                      <a:srgbClr val="F0F6F1"/>
                    </a:solidFill>
                  </a:tcPr>
                </a:tc>
              </a:tr>
              <a:tr h="291811">
                <a:tc>
                  <a:txBody>
                    <a:bodyPr/>
                    <a:lstStyle/>
                    <a:p>
                      <a:r>
                        <a:rPr sz="1350" b="0">
                          <a:solidFill>
                            <a:srgbClr val="183B32"/>
                          </a:solidFill>
                          <a:latin typeface="Noto Sans"/>
                          <a:ea typeface="Noto Sans"/>
                          <a:cs typeface="Noto Sans"/>
                        </a:rPr>
                        <a:t>Иерархия 0,5</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937</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1 521</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1 909</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4 701</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0.804</a:t>
                      </a:r>
                    </a:p>
                  </a:txBody>
                  <a:tcPr marL="91440" marR="91440" marT="45720" marB="45720">
                    <a:solidFill>
                      <a:srgbClr val="FFFFFF"/>
                    </a:solidFill>
                  </a:tcPr>
                </a:tc>
              </a:tr>
              <a:tr h="291811">
                <a:tc>
                  <a:txBody>
                    <a:bodyPr/>
                    <a:lstStyle/>
                    <a:p>
                      <a:r>
                        <a:rPr sz="1350" b="0">
                          <a:solidFill>
                            <a:srgbClr val="183B32"/>
                          </a:solidFill>
                          <a:latin typeface="Noto Sans"/>
                          <a:ea typeface="Noto Sans"/>
                          <a:cs typeface="Noto Sans"/>
                        </a:rPr>
                        <a:t>Direct HGB</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2 147</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1 258</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3 176</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-0.765</a:t>
                      </a:r>
                    </a:p>
                  </a:txBody>
                  <a:tcPr marL="91440" marR="91440" marT="45720" marB="45720">
                    <a:solidFill>
                      <a:srgbClr val="F0F6F1"/>
                    </a:solidFill>
                  </a:tcPr>
                </a:tc>
              </a:tr>
              <a:tr h="291811">
                <a:tc>
                  <a:txBody>
                    <a:bodyPr/>
                    <a:lstStyle/>
                    <a:p>
                      <a:r>
                        <a:rPr sz="1350" b="0">
                          <a:solidFill>
                            <a:srgbClr val="183B32"/>
                          </a:solidFill>
                          <a:latin typeface="Noto Sans"/>
                          <a:ea typeface="Noto Sans"/>
                          <a:cs typeface="Noto Sans"/>
                        </a:rPr>
                        <a:t>Chronos-2</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2 154</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2 710</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4 036</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9 458</a:t>
                      </a:r>
                    </a:p>
                  </a:txBody>
                  <a:tcPr marL="91440" marR="91440" marT="45720" marB="45720">
                    <a:solidFill>
                      <a:srgbClr val="FFFFFF"/>
                    </a:solidFill>
                  </a:tcPr>
                </a:tc>
                <a:tc>
                  <a:txBody>
                    <a:bodyPr/>
                    <a:lstStyle/>
                    <a:p>
                      <a:r>
                        <a:rPr sz="1350" b="0">
                          <a:solidFill>
                            <a:srgbClr val="183B32"/>
                          </a:solidFill>
                          <a:latin typeface="Noto Sans"/>
                          <a:ea typeface="Noto Sans"/>
                          <a:cs typeface="Noto Sans"/>
                        </a:rPr>
                        <a:t>0.037</a:t>
                      </a:r>
                    </a:p>
                  </a:txBody>
                  <a:tcPr marL="91440" marR="91440" marT="45720" marB="45720">
                    <a:solidFill>
                      <a:srgbClr val="FFFFFF"/>
                    </a:solidFill>
                  </a:tcPr>
                </a:tc>
              </a:tr>
              <a:tr h="291811">
                <a:tc>
                  <a:txBody>
                    <a:bodyPr/>
                    <a:lstStyle/>
                    <a:p>
                      <a:r>
                        <a:rPr sz="1350" b="0">
                          <a:solidFill>
                            <a:srgbClr val="183B32"/>
                          </a:solidFill>
                          <a:latin typeface="Noto Sans"/>
                          <a:ea typeface="Noto Sans"/>
                          <a:cs typeface="Noto Sans"/>
                        </a:rPr>
                        <a:t>Chronos + ков.</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1 924</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2 556</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3 588</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8 927</a:t>
                      </a:r>
                    </a:p>
                  </a:txBody>
                  <a:tcPr marL="91440" marR="91440" marT="45720" marB="45720">
                    <a:solidFill>
                      <a:srgbClr val="F0F6F1"/>
                    </a:solidFill>
                  </a:tcPr>
                </a:tc>
                <a:tc>
                  <a:txBody>
                    <a:bodyPr/>
                    <a:lstStyle/>
                    <a:p>
                      <a:r>
                        <a:rPr sz="1350" b="0">
                          <a:solidFill>
                            <a:srgbClr val="183B32"/>
                          </a:solidFill>
                          <a:latin typeface="Noto Sans"/>
                          <a:ea typeface="Noto Sans"/>
                          <a:cs typeface="Noto Sans"/>
                        </a:rPr>
                        <a:t>0.262</a:t>
                      </a:r>
                    </a:p>
                  </a:txBody>
                  <a:tcPr marL="91440" marR="91440" marT="45720" marB="45720">
                    <a:solidFill>
                      <a:srgbClr val="F0F6F1"/>
                    </a:solidFill>
                  </a:tcPr>
                </a:tc>
              </a:tr>
              <a:tr h="291811">
                <a:tc>
                  <a:txBody>
                    <a:bodyPr/>
                    <a:lstStyle/>
                    <a:p>
                      <a:r>
                        <a:rPr sz="1350" b="1">
                          <a:solidFill>
                            <a:srgbClr val="183B32"/>
                          </a:solidFill>
                          <a:latin typeface="Noto Sans"/>
                          <a:ea typeface="Noto Sans"/>
                          <a:cs typeface="Noto Sans"/>
                        </a:rPr>
                        <a:t>Иерархия + рост</a:t>
                      </a:r>
                    </a:p>
                  </a:txBody>
                  <a:tcPr marL="91440" marR="91440" marT="45720" marB="45720">
                    <a:solidFill>
                      <a:srgbClr val="D9EEE2"/>
                    </a:solidFill>
                  </a:tcPr>
                </a:tc>
                <a:tc>
                  <a:txBody>
                    <a:bodyPr/>
                    <a:lstStyle/>
                    <a:p>
                      <a:r>
                        <a:rPr sz="1350" b="1">
                          <a:solidFill>
                            <a:srgbClr val="183B32"/>
                          </a:solidFill>
                          <a:latin typeface="Noto Sans"/>
                          <a:ea typeface="Noto Sans"/>
                          <a:cs typeface="Noto Sans"/>
                        </a:rPr>
                        <a:t>932</a:t>
                      </a:r>
                    </a:p>
                  </a:txBody>
                  <a:tcPr marL="91440" marR="91440" marT="45720" marB="45720">
                    <a:solidFill>
                      <a:srgbClr val="D9EEE2"/>
                    </a:solidFill>
                  </a:tcPr>
                </a:tc>
                <a:tc>
                  <a:txBody>
                    <a:bodyPr/>
                    <a:lstStyle/>
                    <a:p>
                      <a:r>
                        <a:rPr sz="1350" b="1">
                          <a:solidFill>
                            <a:srgbClr val="183B32"/>
                          </a:solidFill>
                          <a:latin typeface="Noto Sans"/>
                          <a:ea typeface="Noto Sans"/>
                          <a:cs typeface="Noto Sans"/>
                        </a:rPr>
                        <a:t>1 272</a:t>
                      </a:r>
                    </a:p>
                  </a:txBody>
                  <a:tcPr marL="91440" marR="91440" marT="45720" marB="45720">
                    <a:solidFill>
                      <a:srgbClr val="D9EEE2"/>
                    </a:solidFill>
                  </a:tcPr>
                </a:tc>
                <a:tc>
                  <a:txBody>
                    <a:bodyPr/>
                    <a:lstStyle/>
                    <a:p>
                      <a:r>
                        <a:rPr sz="1350" b="1">
                          <a:solidFill>
                            <a:srgbClr val="183B32"/>
                          </a:solidFill>
                          <a:latin typeface="Noto Sans"/>
                          <a:ea typeface="Noto Sans"/>
                          <a:cs typeface="Noto Sans"/>
                        </a:rPr>
                        <a:t>1 371</a:t>
                      </a:r>
                    </a:p>
                  </a:txBody>
                  <a:tcPr marL="91440" marR="91440" marT="45720" marB="45720">
                    <a:solidFill>
                      <a:srgbClr val="D9EEE2"/>
                    </a:solidFill>
                  </a:tcPr>
                </a:tc>
                <a:tc>
                  <a:txBody>
                    <a:bodyPr/>
                    <a:lstStyle/>
                    <a:p>
                      <a:r>
                        <a:rPr sz="1350" b="1">
                          <a:solidFill>
                            <a:srgbClr val="183B32"/>
                          </a:solidFill>
                          <a:latin typeface="Noto Sans"/>
                          <a:ea typeface="Noto Sans"/>
                          <a:cs typeface="Noto Sans"/>
                        </a:rPr>
                        <a:t>1 321</a:t>
                      </a:r>
                    </a:p>
                  </a:txBody>
                  <a:tcPr marL="91440" marR="91440" marT="45720" marB="45720">
                    <a:solidFill>
                      <a:srgbClr val="D9EEE2"/>
                    </a:solidFill>
                  </a:tcPr>
                </a:tc>
                <a:tc>
                  <a:txBody>
                    <a:bodyPr/>
                    <a:lstStyle/>
                    <a:p>
                      <a:r>
                        <a:rPr sz="1350" b="1">
                          <a:solidFill>
                            <a:srgbClr val="183B32"/>
                          </a:solidFill>
                          <a:latin typeface="Noto Sans"/>
                          <a:ea typeface="Noto Sans"/>
                          <a:cs typeface="Noto Sans"/>
                        </a:rPr>
                        <a:t>0.819</a:t>
                      </a:r>
                    </a:p>
                  </a:txBody>
                  <a:tcPr marL="91440" marR="91440" marT="45720" marB="45720">
                    <a:solidFill>
                      <a:srgbClr val="D9EEE2"/>
                    </a:solidFill>
                  </a:tcPr>
                </a:tc>
              </a:tr>
            </a:tbl>
          </a:graphicData>
        </a:graphic>
      </p:graphicFrame>
      <p:sp>
        <p:nvSpPr>
          <p:cNvPr id="8" name="">
            <a:extLst xmlns:a="http://schemas.openxmlformats.org/drawingml/2006/main">
              <a:ext uri="{FF2B5EF4-FFF2-40B4-BE49-F238E27FC236}">
                <a16:creationId xmlns:a16="http://schemas.microsoft.com/office/drawing/2014/main" id="{242F3DB8-C7E8-462C-AEF1-0F7835B86840}"/>
              </a:ext>
            </a:extLst>
          </p:cNvPr>
          <p:cNvSpPr>
            <a:spLocks xmlns:a="http://schemas.openxmlformats.org/drawingml/2006/main" noGrp="1"/>
          </p:cNvSpPr>
          <p:nvPr/>
        </p:nvSpPr>
        <p:spPr>
          <a:xfrm xmlns:a="http://schemas.openxmlformats.org/drawingml/2006/main">
            <a:off x="609600" y="5248275"/>
            <a:ext cx="109728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0C825D"/>
                </a:solidFill>
                <a:latin typeface="Noto Sans"/>
                <a:ea typeface="Noto Sans"/>
                <a:cs typeface="Noto Sans"/>
              </a:defRPr>
            </a:pPr>
            <a:r>
              <a:rPr sz="1650" b="0">
                <a:solidFill>
                  <a:srgbClr val="0C825D"/>
                </a:solidFill>
                <a:latin typeface="Noto Sans"/>
                <a:ea typeface="Noto Sans"/>
                <a:cs typeface="Noto Sans"/>
              </a:rPr>
              <a:t>Контроль на графике: лучший Prophet отдельно для каждого горизонта.</a:t>
            </a:r>
          </a:p>
          <a:p xmlns:a="http://schemas.openxmlformats.org/drawingml/2006/main">
            <a:pPr>
              <a:defRPr sz="1650" b="0">
                <a:solidFill>
                  <a:srgbClr val="0C825D"/>
                </a:solidFill>
                <a:latin typeface="Noto Sans"/>
                <a:ea typeface="Noto Sans"/>
                <a:cs typeface="Noto Sans"/>
              </a:defRPr>
            </a:pPr>
            <a:r>
              <a:rPr sz="1650" b="0">
                <a:solidFill>
                  <a:srgbClr val="0C825D"/>
                </a:solidFill>
                <a:latin typeface="Noto Sans"/>
                <a:ea typeface="Noto Sans"/>
                <a:cs typeface="Noto Sans"/>
              </a:rPr>
              <a:t>h12: базовый Prophet (2906), в слайде 6 единый Prophet с профилем (2989).</a:t>
            </a:r>
          </a:p>
        </p:txBody>
      </p:sp>
    </p:spTree>
    <p:extLst>
      <p:ext uri="{BB962C8B-B14F-4D97-AF65-F5344CB8AC3E}">
        <p14:creationId xmlns:p14="http://schemas.microsoft.com/office/powerpoint/2010/main" val="1510088394"/>
      </p:ext>
    </p:extLst>
  </p:cSld>
</p:sld>
</file>

<file path=ppt/slides/slide6.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E402601-BD7A-4D19-BCBB-8BC25CF76A26}"/>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Неопределённость выигрыша прогноза</a:t>
            </a:r>
          </a:p>
        </p:txBody>
      </p:sp>
      <p:sp>
        <p:nvSpPr>
          <p:cNvPr id="2" name="">
            <a:extLst xmlns:a="http://schemas.openxmlformats.org/drawingml/2006/main">
              <a:ext uri="{FF2B5EF4-FFF2-40B4-BE49-F238E27FC236}">
                <a16:creationId xmlns:a16="http://schemas.microsoft.com/office/drawing/2014/main" id="{CC21F9FB-0301-45C5-BE2C-93FFE7A664F1}"/>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6 / 21</a:t>
            </a:r>
          </a:p>
        </p:txBody>
      </p:sp>
      <p:sp>
        <p:nvSpPr>
          <p:cNvPr id="3" name="">
            <a:extLst xmlns:a="http://schemas.openxmlformats.org/drawingml/2006/main">
              <a:ext uri="{FF2B5EF4-FFF2-40B4-BE49-F238E27FC236}">
                <a16:creationId xmlns:a16="http://schemas.microsoft.com/office/drawing/2014/main" id="{CD62953D-C76B-4AE7-974A-37AB728F44FE}"/>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Интервалы выигрыша не содержат ноль. Узкое семейство h1/h3 исследовательское и добавлено после просмотра результатов.</a:t>
            </a:r>
          </a:p>
        </p:txBody>
      </p:sp>
      <p:graphicFrame>
        <p:nvGraphicFramePr>
          <p:cNvPr id="10" name=""/>
          <p:cNvGraphicFramePr/>
          <p:nvPr/>
        </p:nvGraphicFramePr>
        <p:xfrm>
          <a:off xmlns:a="http://schemas.openxmlformats.org/drawingml/2006/main" x="609600" y="1619250"/>
          <a:ext xmlns:a="http://schemas.openxmlformats.org/drawingml/2006/main" cx="10972800" cy="2667000"/>
        </p:xfrm>
        <a:graphic xmlns:a="http://schemas.openxmlformats.org/drawingml/2006/main">
          <a:graphicData uri="http://schemas.openxmlformats.org/drawingml/2006/table">
            <a:tbl>
              <a:tblPr firstRow="1" bandRow="0"/>
              <a:tblGrid>
                <a:gridCol w="2667000"/>
                <a:gridCol w="3238500"/>
                <a:gridCol w="5067300"/>
              </a:tblGrid>
              <a:tr h="533400">
                <a:tc>
                  <a:txBody>
                    <a:bodyPr/>
                    <a:lstStyle/>
                    <a:p>
                      <a:r>
                        <a:rPr sz="2100" b="1">
                          <a:solidFill>
                            <a:srgbClr val="FFFFFF"/>
                          </a:solidFill>
                          <a:latin typeface="Noto Sans"/>
                          <a:ea typeface="Noto Sans"/>
                          <a:cs typeface="Noto Sans"/>
                        </a:rPr>
                        <a:t>Горизонт</a:t>
                      </a:r>
                    </a:p>
                  </a:txBody>
                  <a:tcPr marL="91440" marR="91440" marT="45720" marB="45720">
                    <a:solidFill>
                      <a:srgbClr val="183B32"/>
                    </a:solidFill>
                  </a:tcPr>
                </a:tc>
                <a:tc>
                  <a:txBody>
                    <a:bodyPr/>
                    <a:lstStyle/>
                    <a:p>
                      <a:r>
                        <a:rPr sz="2100" b="1">
                          <a:solidFill>
                            <a:srgbClr val="FFFFFF"/>
                          </a:solidFill>
                          <a:latin typeface="Noto Sans"/>
                          <a:ea typeface="Noto Sans"/>
                          <a:cs typeface="Noto Sans"/>
                        </a:rPr>
                        <a:t>Снижение MAE</a:t>
                      </a:r>
                    </a:p>
                  </a:txBody>
                  <a:tcPr marL="91440" marR="91440" marT="45720" marB="45720">
                    <a:solidFill>
                      <a:srgbClr val="183B32"/>
                    </a:solidFill>
                  </a:tcPr>
                </a:tc>
                <a:tc>
                  <a:txBody>
                    <a:bodyPr/>
                    <a:lstStyle/>
                    <a:p>
                      <a:r>
                        <a:rPr sz="2100" b="1">
                          <a:solidFill>
                            <a:srgbClr val="FFFFFF"/>
                          </a:solidFill>
                          <a:latin typeface="Noto Sans"/>
                          <a:ea typeface="Noto Sans"/>
                          <a:cs typeface="Noto Sans"/>
                        </a:rPr>
                        <a:t>95% по регионам</a:t>
                      </a:r>
                    </a:p>
                  </a:txBody>
                  <a:tcPr marL="91440" marR="91440" marT="45720" marB="45720">
                    <a:solidFill>
                      <a:srgbClr val="183B32"/>
                    </a:solidFill>
                  </a:tcPr>
                </a:tc>
              </a:tr>
              <a:tr h="533400">
                <a:tc>
                  <a:txBody>
                    <a:bodyPr/>
                    <a:lstStyle/>
                    <a:p>
                      <a:r>
                        <a:rPr sz="2100" b="0">
                          <a:solidFill>
                            <a:srgbClr val="183B32"/>
                          </a:solidFill>
                          <a:latin typeface="Noto Sans"/>
                          <a:ea typeface="Noto Sans"/>
                          <a:cs typeface="Noto Sans"/>
                        </a:rPr>
                        <a:t>1 мес.</a:t>
                      </a:r>
                    </a:p>
                  </a:txBody>
                  <a:tcPr marL="91440" marR="91440" marT="45720" marB="45720">
                    <a:solidFill>
                      <a:srgbClr val="F0F6F1"/>
                    </a:solidFill>
                  </a:tcPr>
                </a:tc>
                <a:tc>
                  <a:txBody>
                    <a:bodyPr/>
                    <a:lstStyle/>
                    <a:p>
                      <a:r>
                        <a:rPr sz="2100" b="0">
                          <a:solidFill>
                            <a:srgbClr val="183B32"/>
                          </a:solidFill>
                          <a:latin typeface="Noto Sans"/>
                          <a:ea typeface="Noto Sans"/>
                          <a:cs typeface="Noto Sans"/>
                        </a:rPr>
                        <a:t>41.5%</a:t>
                      </a:r>
                    </a:p>
                  </a:txBody>
                  <a:tcPr marL="91440" marR="91440" marT="45720" marB="45720">
                    <a:solidFill>
                      <a:srgbClr val="F0F6F1"/>
                    </a:solidFill>
                  </a:tcPr>
                </a:tc>
                <a:tc>
                  <a:txBody>
                    <a:bodyPr/>
                    <a:lstStyle/>
                    <a:p>
                      <a:r>
                        <a:rPr sz="2100" b="0">
                          <a:solidFill>
                            <a:srgbClr val="183B32"/>
                          </a:solidFill>
                          <a:latin typeface="Noto Sans"/>
                          <a:ea typeface="Noto Sans"/>
                          <a:cs typeface="Noto Sans"/>
                        </a:rPr>
                        <a:t>37.2–45.5%</a:t>
                      </a:r>
                    </a:p>
                  </a:txBody>
                  <a:tcPr marL="91440" marR="91440" marT="45720" marB="45720">
                    <a:solidFill>
                      <a:srgbClr val="F0F6F1"/>
                    </a:solidFill>
                  </a:tcPr>
                </a:tc>
              </a:tr>
              <a:tr h="533400">
                <a:tc>
                  <a:txBody>
                    <a:bodyPr/>
                    <a:lstStyle/>
                    <a:p>
                      <a:r>
                        <a:rPr sz="2100" b="0">
                          <a:solidFill>
                            <a:srgbClr val="183B32"/>
                          </a:solidFill>
                          <a:latin typeface="Noto Sans"/>
                          <a:ea typeface="Noto Sans"/>
                          <a:cs typeface="Noto Sans"/>
                        </a:rPr>
                        <a:t>3 мес.</a:t>
                      </a:r>
                    </a:p>
                  </a:txBody>
                  <a:tcPr marL="91440" marR="91440" marT="45720" marB="45720">
                    <a:solidFill>
                      <a:srgbClr val="FFFFFF"/>
                    </a:solidFill>
                  </a:tcPr>
                </a:tc>
                <a:tc>
                  <a:txBody>
                    <a:bodyPr/>
                    <a:lstStyle/>
                    <a:p>
                      <a:r>
                        <a:rPr sz="2100" b="0">
                          <a:solidFill>
                            <a:srgbClr val="183B32"/>
                          </a:solidFill>
                          <a:latin typeface="Noto Sans"/>
                          <a:ea typeface="Noto Sans"/>
                          <a:cs typeface="Noto Sans"/>
                        </a:rPr>
                        <a:t>23.3%</a:t>
                      </a:r>
                    </a:p>
                  </a:txBody>
                  <a:tcPr marL="91440" marR="91440" marT="45720" marB="45720">
                    <a:solidFill>
                      <a:srgbClr val="FFFFFF"/>
                    </a:solidFill>
                  </a:tcPr>
                </a:tc>
                <a:tc>
                  <a:txBody>
                    <a:bodyPr/>
                    <a:lstStyle/>
                    <a:p>
                      <a:r>
                        <a:rPr sz="2100" b="0">
                          <a:solidFill>
                            <a:srgbClr val="183B32"/>
                          </a:solidFill>
                          <a:latin typeface="Noto Sans"/>
                          <a:ea typeface="Noto Sans"/>
                          <a:cs typeface="Noto Sans"/>
                        </a:rPr>
                        <a:t>19.6–26.7%</a:t>
                      </a:r>
                    </a:p>
                  </a:txBody>
                  <a:tcPr marL="91440" marR="91440" marT="45720" marB="45720">
                    <a:solidFill>
                      <a:srgbClr val="FFFFFF"/>
                    </a:solidFill>
                  </a:tcPr>
                </a:tc>
              </a:tr>
              <a:tr h="533400">
                <a:tc>
                  <a:txBody>
                    <a:bodyPr/>
                    <a:lstStyle/>
                    <a:p>
                      <a:r>
                        <a:rPr sz="2100" b="0">
                          <a:solidFill>
                            <a:srgbClr val="183B32"/>
                          </a:solidFill>
                          <a:latin typeface="Noto Sans"/>
                          <a:ea typeface="Noto Sans"/>
                          <a:cs typeface="Noto Sans"/>
                        </a:rPr>
                        <a:t>6 мес.</a:t>
                      </a:r>
                    </a:p>
                  </a:txBody>
                  <a:tcPr marL="91440" marR="91440" marT="45720" marB="45720">
                    <a:solidFill>
                      <a:srgbClr val="F0F6F1"/>
                    </a:solidFill>
                  </a:tcPr>
                </a:tc>
                <a:tc>
                  <a:txBody>
                    <a:bodyPr/>
                    <a:lstStyle/>
                    <a:p>
                      <a:r>
                        <a:rPr sz="2100" b="0">
                          <a:solidFill>
                            <a:srgbClr val="183B32"/>
                          </a:solidFill>
                          <a:latin typeface="Noto Sans"/>
                          <a:ea typeface="Noto Sans"/>
                          <a:cs typeface="Noto Sans"/>
                        </a:rPr>
                        <a:t>28.5%</a:t>
                      </a:r>
                    </a:p>
                  </a:txBody>
                  <a:tcPr marL="91440" marR="91440" marT="45720" marB="45720">
                    <a:solidFill>
                      <a:srgbClr val="F0F6F1"/>
                    </a:solidFill>
                  </a:tcPr>
                </a:tc>
                <a:tc>
                  <a:txBody>
                    <a:bodyPr/>
                    <a:lstStyle/>
                    <a:p>
                      <a:r>
                        <a:rPr sz="2100" b="0">
                          <a:solidFill>
                            <a:srgbClr val="183B32"/>
                          </a:solidFill>
                          <a:latin typeface="Noto Sans"/>
                          <a:ea typeface="Noto Sans"/>
                          <a:cs typeface="Noto Sans"/>
                        </a:rPr>
                        <a:t>24.6–32.1%</a:t>
                      </a:r>
                    </a:p>
                  </a:txBody>
                  <a:tcPr marL="91440" marR="91440" marT="45720" marB="45720">
                    <a:solidFill>
                      <a:srgbClr val="F0F6F1"/>
                    </a:solidFill>
                  </a:tcPr>
                </a:tc>
              </a:tr>
              <a:tr h="533400">
                <a:tc>
                  <a:txBody>
                    <a:bodyPr/>
                    <a:lstStyle/>
                    <a:p>
                      <a:r>
                        <a:rPr sz="2100" b="0">
                          <a:solidFill>
                            <a:srgbClr val="183B32"/>
                          </a:solidFill>
                          <a:latin typeface="Noto Sans"/>
                          <a:ea typeface="Noto Sans"/>
                          <a:cs typeface="Noto Sans"/>
                        </a:rPr>
                        <a:t>12 мес.</a:t>
                      </a:r>
                    </a:p>
                  </a:txBody>
                  <a:tcPr marL="91440" marR="91440" marT="45720" marB="45720">
                    <a:solidFill>
                      <a:srgbClr val="FFFFFF"/>
                    </a:solidFill>
                  </a:tcPr>
                </a:tc>
                <a:tc>
                  <a:txBody>
                    <a:bodyPr/>
                    <a:lstStyle/>
                    <a:p>
                      <a:r>
                        <a:rPr sz="2100" b="0">
                          <a:solidFill>
                            <a:srgbClr val="183B32"/>
                          </a:solidFill>
                          <a:latin typeface="Noto Sans"/>
                          <a:ea typeface="Noto Sans"/>
                          <a:cs typeface="Noto Sans"/>
                        </a:rPr>
                        <a:t>55.8%</a:t>
                      </a:r>
                    </a:p>
                  </a:txBody>
                  <a:tcPr marL="91440" marR="91440" marT="45720" marB="45720">
                    <a:solidFill>
                      <a:srgbClr val="FFFFFF"/>
                    </a:solidFill>
                  </a:tcPr>
                </a:tc>
                <a:tc>
                  <a:txBody>
                    <a:bodyPr/>
                    <a:lstStyle/>
                    <a:p>
                      <a:r>
                        <a:rPr sz="2100" b="0">
                          <a:solidFill>
                            <a:srgbClr val="183B32"/>
                          </a:solidFill>
                          <a:latin typeface="Noto Sans"/>
                          <a:ea typeface="Noto Sans"/>
                          <a:cs typeface="Noto Sans"/>
                        </a:rPr>
                        <a:t>50.5–61.0%</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CC39A6F-BE2B-4C37-A689-3B37FE5F75CE}"/>
              </a:ext>
            </a:extLst>
          </p:cNvPr>
          <p:cNvSpPr>
            <a:spLocks xmlns:a="http://schemas.openxmlformats.org/drawingml/2006/main" noGrp="1"/>
          </p:cNvSpPr>
          <p:nvPr/>
        </p:nvSpPr>
        <p:spPr>
          <a:xfrm xmlns:a="http://schemas.openxmlformats.org/drawingml/2006/main">
            <a:off x="609600" y="44958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B32"/>
                </a:solidFill>
                <a:latin typeface="Noto Sans"/>
                <a:ea typeface="Noto Sans"/>
                <a:cs typeface="Noto Sans"/>
              </a:defRPr>
            </a:pPr>
            <a:r>
              <a:rPr sz="1875" b="0">
                <a:solidFill>
                  <a:srgbClr val="183B32"/>
                </a:solidFill>
                <a:latin typeface="Noto Sans"/>
                <a:ea typeface="Noto Sans"/>
                <a:cs typeface="Noto Sans"/>
              </a:rPr>
              <a:t>Единый контроль: Prophet с сезонным профилем</a:t>
            </a:r>
          </a:p>
          <a:p xmlns:a="http://schemas.openxmlformats.org/drawingml/2006/main">
            <a:pPr>
              <a:defRPr sz="1875" b="0">
                <a:solidFill>
                  <a:srgbClr val="183B32"/>
                </a:solidFill>
                <a:latin typeface="Noto Sans"/>
                <a:ea typeface="Noto Sans"/>
                <a:cs typeface="Noto Sans"/>
              </a:defRPr>
            </a:pPr>
            <a:r>
              <a:rPr sz="1875" b="0">
                <a:solidFill>
                  <a:srgbClr val="183B32"/>
                </a:solidFill>
                <a:latin typeface="Noto Sans"/>
                <a:ea typeface="Noto Sans"/>
                <a:cs typeface="Noto Sans"/>
              </a:rPr>
              <a:t>2500 повторных выборок МО и регионов целиком</a:t>
            </a:r>
          </a:p>
        </p:txBody>
      </p:sp>
      <p:sp>
        <p:nvSpPr>
          <p:cNvPr id="6" name="">
            <a:extLst xmlns:a="http://schemas.openxmlformats.org/drawingml/2006/main">
              <a:ext uri="{FF2B5EF4-FFF2-40B4-BE49-F238E27FC236}">
                <a16:creationId xmlns:a16="http://schemas.microsoft.com/office/drawing/2014/main" id="{D347592A-893B-4AF1-8853-012F14AEE449}"/>
              </a:ext>
            </a:extLst>
          </p:cNvPr>
          <p:cNvSpPr>
            <a:spLocks xmlns:a="http://schemas.openxmlformats.org/drawingml/2006/main" noGrp="1"/>
          </p:cNvSpPr>
          <p:nvPr/>
        </p:nvSpPr>
        <p:spPr>
          <a:xfrm xmlns:a="http://schemas.openxmlformats.org/drawingml/2006/main">
            <a:off x="609600" y="5219700"/>
            <a:ext cx="109728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0C825D"/>
                </a:solidFill>
                <a:latin typeface="Noto Sans"/>
                <a:ea typeface="Noto Sans"/>
                <a:cs typeface="Noto Sans"/>
              </a:defRPr>
            </a:pPr>
            <a:r>
              <a:rPr sz="1725" b="0">
                <a:solidFill>
                  <a:srgbClr val="0C825D"/>
                </a:solidFill>
                <a:latin typeface="Noto Sans"/>
                <a:ea typeface="Noto Sans"/>
                <a:cs typeface="Noto Sans"/>
              </a:rPr>
              <a:t>По датам, чувствительность Holm h1/h3: p = 0,034 / 0,307</a:t>
            </a:r>
          </a:p>
          <a:p xmlns:a="http://schemas.openxmlformats.org/drawingml/2006/main">
            <a:pPr>
              <a:defRPr sz="1725" b="0">
                <a:solidFill>
                  <a:srgbClr val="0C825D"/>
                </a:solidFill>
                <a:latin typeface="Noto Sans"/>
                <a:ea typeface="Noto Sans"/>
                <a:cs typeface="Noto Sans"/>
              </a:defRPr>
            </a:pPr>
            <a:r>
              <a:rPr sz="1725" b="0">
                <a:solidFill>
                  <a:srgbClr val="0C825D"/>
                </a:solidFill>
                <a:latin typeface="Noto Sans"/>
                <a:ea typeface="Noto Sans"/>
                <a:cs typeface="Noto Sans"/>
              </a:rPr>
              <a:t>Шесть тестов: p h1 = 0,102; h12: временной тест не определён</a:t>
            </a:r>
          </a:p>
        </p:txBody>
      </p:sp>
    </p:spTree>
    <p:extLst>
      <p:ext uri="{BB962C8B-B14F-4D97-AF65-F5344CB8AC3E}">
        <p14:creationId xmlns:p14="http://schemas.microsoft.com/office/powerpoint/2010/main" val="1062539304"/>
      </p:ext>
    </p:extLst>
  </p:cSld>
</p:sld>
</file>

<file path=ppt/slides/slide7.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CB3CDF0-48E2-4B48-94F4-B52F12CB02E0}"/>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Как читать метрики качества</a:t>
            </a:r>
          </a:p>
        </p:txBody>
      </p:sp>
      <p:sp>
        <p:nvSpPr>
          <p:cNvPr id="2" name="">
            <a:extLst xmlns:a="http://schemas.openxmlformats.org/drawingml/2006/main">
              <a:ext uri="{FF2B5EF4-FFF2-40B4-BE49-F238E27FC236}">
                <a16:creationId xmlns:a16="http://schemas.microsoft.com/office/drawing/2014/main" id="{4BFBA59C-2E65-46BD-9948-3ED5C390314B}"/>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7 / 21</a:t>
            </a:r>
          </a:p>
        </p:txBody>
      </p:sp>
      <p:sp>
        <p:nvSpPr>
          <p:cNvPr id="3" name="">
            <a:extLst xmlns:a="http://schemas.openxmlformats.org/drawingml/2006/main">
              <a:ext uri="{FF2B5EF4-FFF2-40B4-BE49-F238E27FC236}">
                <a16:creationId xmlns:a16="http://schemas.microsoft.com/office/drawing/2014/main" id="{B1286410-972B-43F7-9A37-9ECA19F154A8}"/>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MAE усредняем по датам. WAPE считаем по всем парам; это разные способы взвешивания ошибок.</a:t>
            </a:r>
          </a:p>
        </p:txBody>
      </p:sp>
      <p:graphicFrame>
        <p:nvGraphicFramePr>
          <p:cNvPr id="8" name=""/>
          <p:cNvGraphicFramePr/>
          <p:nvPr/>
        </p:nvGraphicFramePr>
        <p:xfrm>
          <a:off xmlns:a="http://schemas.openxmlformats.org/drawingml/2006/main" x="609600" y="1428750"/>
          <a:ext xmlns:a="http://schemas.openxmlformats.org/drawingml/2006/main" cx="10972800" cy="4295775"/>
        </p:xfrm>
        <a:graphic xmlns:a="http://schemas.openxmlformats.org/drawingml/2006/main">
          <a:graphicData uri="http://schemas.openxmlformats.org/drawingml/2006/table">
            <a:tbl>
              <a:tblPr firstRow="1" bandRow="0"/>
              <a:tblGrid>
                <a:gridCol w="2286000"/>
                <a:gridCol w="2476500"/>
                <a:gridCol w="6210300"/>
              </a:tblGrid>
              <a:tr h="536972">
                <a:tc>
                  <a:txBody>
                    <a:bodyPr/>
                    <a:lstStyle/>
                    <a:p>
                      <a:r>
                        <a:rPr sz="1500" b="1">
                          <a:solidFill>
                            <a:srgbClr val="FFFFFF"/>
                          </a:solidFill>
                          <a:latin typeface="Noto Sans"/>
                          <a:ea typeface="Noto Sans"/>
                          <a:cs typeface="Noto Sans"/>
                        </a:rPr>
                        <a:t>Метрика</a:t>
                      </a:r>
                    </a:p>
                  </a:txBody>
                  <a:tcPr marL="91440" marR="91440" marT="45720" marB="45720">
                    <a:solidFill>
                      <a:srgbClr val="183B32"/>
                    </a:solidFill>
                  </a:tcPr>
                </a:tc>
                <a:tc>
                  <a:txBody>
                    <a:bodyPr/>
                    <a:lstStyle/>
                    <a:p>
                      <a:r>
                        <a:rPr sz="1500" b="1">
                          <a:solidFill>
                            <a:srgbClr val="FFFFFF"/>
                          </a:solidFill>
                          <a:latin typeface="Noto Sans"/>
                          <a:ea typeface="Noto Sans"/>
                          <a:cs typeface="Noto Sans"/>
                        </a:rPr>
                        <a:t>Результат</a:t>
                      </a:r>
                    </a:p>
                  </a:txBody>
                  <a:tcPr marL="91440" marR="91440" marT="45720" marB="45720">
                    <a:solidFill>
                      <a:srgbClr val="183B32"/>
                    </a:solidFill>
                  </a:tcPr>
                </a:tc>
                <a:tc>
                  <a:txBody>
                    <a:bodyPr/>
                    <a:lstStyle/>
                    <a:p>
                      <a:r>
                        <a:rPr sz="1500" b="1">
                          <a:solidFill>
                            <a:srgbClr val="FFFFFF"/>
                          </a:solidFill>
                          <a:latin typeface="Noto Sans"/>
                          <a:ea typeface="Noto Sans"/>
                          <a:cs typeface="Noto Sans"/>
                        </a:rPr>
                        <a:t>Что означает</a:t>
                      </a:r>
                    </a:p>
                  </a:txBody>
                  <a:tcPr marL="91440" marR="91440" marT="45720" marB="45720">
                    <a:solidFill>
                      <a:srgbClr val="183B32"/>
                    </a:solidFill>
                  </a:tcPr>
                </a:tc>
              </a:tr>
              <a:tr h="536972">
                <a:tc>
                  <a:txBody>
                    <a:bodyPr/>
                    <a:lstStyle/>
                    <a:p>
                      <a:r>
                        <a:rPr sz="1500" b="0">
                          <a:solidFill>
                            <a:srgbClr val="183B32"/>
                          </a:solidFill>
                          <a:latin typeface="Noto Sans"/>
                          <a:ea typeface="Noto Sans"/>
                          <a:cs typeface="Noto Sans"/>
                        </a:rPr>
                        <a:t>MAE / WAPE</a:t>
                      </a:r>
                    </a:p>
                  </a:txBody>
                  <a:tcPr marL="91440" marR="91440" marT="45720" marB="45720">
                    <a:solidFill>
                      <a:srgbClr val="F0F6F1"/>
                    </a:solidFill>
                  </a:tcPr>
                </a:tc>
                <a:tc>
                  <a:txBody>
                    <a:bodyPr/>
                    <a:lstStyle/>
                    <a:p>
                      <a:r>
                        <a:rPr sz="1500" b="0">
                          <a:solidFill>
                            <a:srgbClr val="183B32"/>
                          </a:solidFill>
                          <a:latin typeface="Noto Sans"/>
                          <a:ea typeface="Noto Sans"/>
                          <a:cs typeface="Noto Sans"/>
                        </a:rPr>
                        <a:t>932 руб. / 3.04%</a:t>
                      </a:r>
                    </a:p>
                  </a:txBody>
                  <a:tcPr marL="91440" marR="91440" marT="45720" marB="45720">
                    <a:solidFill>
                      <a:srgbClr val="F0F6F1"/>
                    </a:solidFill>
                  </a:tcPr>
                </a:tc>
                <a:tc>
                  <a:txBody>
                    <a:bodyPr/>
                    <a:lstStyle/>
                    <a:p>
                      <a:r>
                        <a:rPr sz="1500" b="0">
                          <a:solidFill>
                            <a:srgbClr val="183B32"/>
                          </a:solidFill>
                          <a:latin typeface="Noto Sans"/>
                          <a:ea typeface="Noto Sans"/>
                          <a:cs typeface="Noto Sans"/>
                        </a:rPr>
                        <a:t>Средняя абсолютная ошибка на жителя. WAPE: сумма ошибок / сумма расходов.</a:t>
                      </a:r>
                    </a:p>
                  </a:txBody>
                  <a:tcPr marL="91440" marR="91440" marT="45720" marB="45720">
                    <a:solidFill>
                      <a:srgbClr val="F0F6F1"/>
                    </a:solidFill>
                  </a:tcPr>
                </a:tc>
              </a:tr>
              <a:tr h="536972">
                <a:tc>
                  <a:txBody>
                    <a:bodyPr/>
                    <a:lstStyle/>
                    <a:p>
                      <a:r>
                        <a:rPr sz="1500" b="0">
                          <a:solidFill>
                            <a:srgbClr val="183B32"/>
                          </a:solidFill>
                          <a:latin typeface="Noto Sans"/>
                          <a:ea typeface="Noto Sans"/>
                          <a:cs typeface="Noto Sans"/>
                        </a:rPr>
                        <a:t>R² внутри МО</a:t>
                      </a:r>
                    </a:p>
                  </a:txBody>
                  <a:tcPr marL="91440" marR="91440" marT="45720" marB="45720">
                    <a:solidFill>
                      <a:srgbClr val="FFFFFF"/>
                    </a:solidFill>
                  </a:tcPr>
                </a:tc>
                <a:tc>
                  <a:txBody>
                    <a:bodyPr/>
                    <a:lstStyle/>
                    <a:p>
                      <a:r>
                        <a:rPr sz="1500" b="0">
                          <a:solidFill>
                            <a:srgbClr val="183B32"/>
                          </a:solidFill>
                          <a:latin typeface="Noto Sans"/>
                          <a:ea typeface="Noto Sans"/>
                          <a:cs typeface="Noto Sans"/>
                        </a:rPr>
                        <a:t>0,819 на h1</a:t>
                      </a:r>
                    </a:p>
                  </a:txBody>
                  <a:tcPr marL="91440" marR="91440" marT="45720" marB="45720">
                    <a:solidFill>
                      <a:srgbClr val="FFFFFF"/>
                    </a:solidFill>
                  </a:tcPr>
                </a:tc>
                <a:tc>
                  <a:txBody>
                    <a:bodyPr/>
                    <a:lstStyle/>
                    <a:p>
                      <a:r>
                        <a:rPr sz="1500" b="0">
                          <a:solidFill>
                            <a:srgbClr val="183B32"/>
                          </a:solidFill>
                          <a:latin typeface="Noto Sans"/>
                          <a:ea typeface="Noto Sans"/>
                          <a:cs typeface="Noto Sans"/>
                        </a:rPr>
                        <a:t>Квадратичная ошибка на 82% ниже сравнения со средним фактом каждого МО.</a:t>
                      </a:r>
                    </a:p>
                  </a:txBody>
                  <a:tcPr marL="91440" marR="91440" marT="45720" marB="45720">
                    <a:solidFill>
                      <a:srgbClr val="FFFFFF"/>
                    </a:solidFill>
                  </a:tcPr>
                </a:tc>
              </a:tr>
              <a:tr h="536972">
                <a:tc>
                  <a:txBody>
                    <a:bodyPr/>
                    <a:lstStyle/>
                    <a:p>
                      <a:r>
                        <a:rPr sz="1500" b="0">
                          <a:solidFill>
                            <a:srgbClr val="183B32"/>
                          </a:solidFill>
                          <a:latin typeface="Noto Sans"/>
                          <a:ea typeface="Noto Sans"/>
                          <a:cs typeface="Noto Sans"/>
                        </a:rPr>
                        <a:t>Отрицательный R²</a:t>
                      </a:r>
                    </a:p>
                  </a:txBody>
                  <a:tcPr marL="91440" marR="91440" marT="45720" marB="45720">
                    <a:solidFill>
                      <a:srgbClr val="F0F6F1"/>
                    </a:solidFill>
                  </a:tcPr>
                </a:tc>
                <a:tc>
                  <a:txBody>
                    <a:bodyPr/>
                    <a:lstStyle/>
                    <a:p>
                      <a:r>
                        <a:rPr sz="1500" b="0">
                          <a:solidFill>
                            <a:srgbClr val="183B32"/>
                          </a:solidFill>
                          <a:latin typeface="Noto Sans"/>
                          <a:ea typeface="Noto Sans"/>
                          <a:cs typeface="Noto Sans"/>
                        </a:rPr>
                        <a:t>Naive, Fourier 3, HGB</a:t>
                      </a:r>
                    </a:p>
                  </a:txBody>
                  <a:tcPr marL="91440" marR="91440" marT="45720" marB="45720">
                    <a:solidFill>
                      <a:srgbClr val="F0F6F1"/>
                    </a:solidFill>
                  </a:tcPr>
                </a:tc>
                <a:tc>
                  <a:txBody>
                    <a:bodyPr/>
                    <a:lstStyle/>
                    <a:p>
                      <a:r>
                        <a:rPr sz="1500" b="0">
                          <a:solidFill>
                            <a:srgbClr val="183B32"/>
                          </a:solidFill>
                          <a:latin typeface="Noto Sans"/>
                          <a:ea typeface="Noto Sans"/>
                          <a:cs typeface="Noto Sans"/>
                        </a:rPr>
                        <a:t>R² &lt; 0: модель хуже среднего значения МО в оценочном окне.</a:t>
                      </a:r>
                    </a:p>
                  </a:txBody>
                  <a:tcPr marL="91440" marR="91440" marT="45720" marB="45720">
                    <a:solidFill>
                      <a:srgbClr val="F0F6F1"/>
                    </a:solidFill>
                  </a:tcPr>
                </a:tc>
              </a:tr>
              <a:tr h="536972">
                <a:tc>
                  <a:txBody>
                    <a:bodyPr/>
                    <a:lstStyle/>
                    <a:p>
                      <a:r>
                        <a:rPr sz="1500" b="0">
                          <a:solidFill>
                            <a:srgbClr val="183B32"/>
                          </a:solidFill>
                          <a:latin typeface="Noto Sans"/>
                          <a:ea typeface="Noto Sans"/>
                          <a:cs typeface="Noto Sans"/>
                        </a:rPr>
                        <a:t>95% интервал</a:t>
                      </a:r>
                    </a:p>
                  </a:txBody>
                  <a:tcPr marL="91440" marR="91440" marT="45720" marB="45720">
                    <a:solidFill>
                      <a:srgbClr val="FFFFFF"/>
                    </a:solidFill>
                  </a:tcPr>
                </a:tc>
                <a:tc>
                  <a:txBody>
                    <a:bodyPr/>
                    <a:lstStyle/>
                    <a:p>
                      <a:r>
                        <a:rPr sz="1500" b="0">
                          <a:solidFill>
                            <a:srgbClr val="183B32"/>
                          </a:solidFill>
                          <a:latin typeface="Noto Sans"/>
                          <a:ea typeface="Noto Sans"/>
                          <a:cs typeface="Noto Sans"/>
                        </a:rPr>
                        <a:t>Выигрыш выше нуля</a:t>
                      </a:r>
                    </a:p>
                  </a:txBody>
                  <a:tcPr marL="91440" marR="91440" marT="45720" marB="45720">
                    <a:solidFill>
                      <a:srgbClr val="FFFFFF"/>
                    </a:solidFill>
                  </a:tcPr>
                </a:tc>
                <a:tc>
                  <a:txBody>
                    <a:bodyPr/>
                    <a:lstStyle/>
                    <a:p>
                      <a:r>
                        <a:rPr sz="1500" b="0">
                          <a:solidFill>
                            <a:srgbClr val="183B32"/>
                          </a:solidFill>
                          <a:latin typeface="Noto Sans"/>
                          <a:ea typeface="Noto Sans"/>
                          <a:cs typeface="Noto Sans"/>
                        </a:rPr>
                        <a:t>Региональная выборка поддерживает выигрыш на 2024. Независимый временной тест не заменяет.</a:t>
                      </a:r>
                    </a:p>
                  </a:txBody>
                  <a:tcPr marL="91440" marR="91440" marT="45720" marB="45720">
                    <a:solidFill>
                      <a:srgbClr val="FFFFFF"/>
                    </a:solidFill>
                  </a:tcPr>
                </a:tc>
              </a:tr>
              <a:tr h="536972">
                <a:tc>
                  <a:txBody>
                    <a:bodyPr/>
                    <a:lstStyle/>
                    <a:p>
                      <a:r>
                        <a:rPr sz="1500" b="0">
                          <a:solidFill>
                            <a:srgbClr val="183B32"/>
                          </a:solidFill>
                          <a:latin typeface="Noto Sans"/>
                          <a:ea typeface="Noto Sans"/>
                          <a:cs typeface="Noto Sans"/>
                        </a:rPr>
                        <a:t>F1 / FAR / задержка</a:t>
                      </a:r>
                    </a:p>
                  </a:txBody>
                  <a:tcPr marL="91440" marR="91440" marT="45720" marB="45720">
                    <a:solidFill>
                      <a:srgbClr val="F0F6F1"/>
                    </a:solidFill>
                  </a:tcPr>
                </a:tc>
                <a:tc>
                  <a:txBody>
                    <a:bodyPr/>
                    <a:lstStyle/>
                    <a:p>
                      <a:r>
                        <a:rPr sz="1500" b="0">
                          <a:solidFill>
                            <a:srgbClr val="183B32"/>
                          </a:solidFill>
                          <a:latin typeface="Noto Sans"/>
                          <a:ea typeface="Noto Sans"/>
                          <a:cs typeface="Noto Sans"/>
                        </a:rPr>
                        <a:t>0,647 / 0,046 / 0,54</a:t>
                      </a:r>
                    </a:p>
                  </a:txBody>
                  <a:tcPr marL="91440" marR="91440" marT="45720" marB="45720">
                    <a:solidFill>
                      <a:srgbClr val="F0F6F1"/>
                    </a:solidFill>
                  </a:tcPr>
                </a:tc>
                <a:tc>
                  <a:txBody>
                    <a:bodyPr/>
                    <a:lstStyle/>
                    <a:p>
                      <a:r>
                        <a:rPr sz="1500" b="0">
                          <a:solidFill>
                            <a:srgbClr val="183B32"/>
                          </a:solidFill>
                          <a:latin typeface="Noto Sans"/>
                          <a:ea typeface="Noto Sans"/>
                          <a:cs typeface="Noto Sans"/>
                        </a:rPr>
                        <a:t>F1: баланс точности и полноты начала. FAR: ложные тревоги / 100 МО-месяцев. Задержка: по найденным.</a:t>
                      </a:r>
                    </a:p>
                  </a:txBody>
                  <a:tcPr marL="91440" marR="91440" marT="45720" marB="45720">
                    <a:solidFill>
                      <a:srgbClr val="F0F6F1"/>
                    </a:solidFill>
                  </a:tcPr>
                </a:tc>
              </a:tr>
              <a:tr h="536972">
                <a:tc>
                  <a:txBody>
                    <a:bodyPr/>
                    <a:lstStyle/>
                    <a:p>
                      <a:r>
                        <a:rPr sz="1500" b="0">
                          <a:solidFill>
                            <a:srgbClr val="183B32"/>
                          </a:solidFill>
                          <a:latin typeface="Noto Sans"/>
                          <a:ea typeface="Noto Sans"/>
                          <a:cs typeface="Noto Sans"/>
                        </a:rPr>
                        <a:t>Интервальный штраф IS</a:t>
                      </a:r>
                    </a:p>
                  </a:txBody>
                  <a:tcPr marL="91440" marR="91440" marT="45720" marB="45720">
                    <a:solidFill>
                      <a:srgbClr val="FFFFFF"/>
                    </a:solidFill>
                  </a:tcPr>
                </a:tc>
                <a:tc>
                  <a:txBody>
                    <a:bodyPr/>
                    <a:lstStyle/>
                    <a:p>
                      <a:r>
                        <a:rPr sz="1500" b="0">
                          <a:solidFill>
                            <a:srgbClr val="183B32"/>
                          </a:solidFill>
                          <a:latin typeface="Noto Sans"/>
                          <a:ea typeface="Noto Sans"/>
                          <a:cs typeface="Noto Sans"/>
                        </a:rPr>
                        <a:t>3237 → 4362 руб.</a:t>
                      </a:r>
                    </a:p>
                  </a:txBody>
                  <a:tcPr marL="91440" marR="91440" marT="45720" marB="45720">
                    <a:solidFill>
                      <a:srgbClr val="FFFFFF"/>
                    </a:solidFill>
                  </a:tcPr>
                </a:tc>
                <a:tc>
                  <a:txBody>
                    <a:bodyPr/>
                    <a:lstStyle/>
                    <a:p>
                      <a:r>
                        <a:rPr sz="1500" b="0">
                          <a:solidFill>
                            <a:srgbClr val="183B32"/>
                          </a:solidFill>
                          <a:latin typeface="Noto Sans"/>
                          <a:ea typeface="Noto Sans"/>
                          <a:cs typeface="Noto Sans"/>
                        </a:rPr>
                        <a:t>Ширина плюс штраф за промах. Меньше лучше; ×1,5 здесь проигрывает.</a:t>
                      </a:r>
                    </a:p>
                  </a:txBody>
                  <a:tcPr marL="91440" marR="91440" marT="45720" marB="45720">
                    <a:solidFill>
                      <a:srgbClr val="FFFFFF"/>
                    </a:solidFill>
                  </a:tcPr>
                </a:tc>
              </a:tr>
              <a:tr h="536972">
                <a:tc>
                  <a:txBody>
                    <a:bodyPr/>
                    <a:lstStyle/>
                    <a:p>
                      <a:r>
                        <a:rPr sz="1500" b="0">
                          <a:solidFill>
                            <a:srgbClr val="183B32"/>
                          </a:solidFill>
                          <a:latin typeface="Noto Sans"/>
                          <a:ea typeface="Noto Sans"/>
                          <a:cs typeface="Noto Sans"/>
                        </a:rPr>
                        <a:t>Нагрузка тревог</a:t>
                      </a:r>
                    </a:p>
                  </a:txBody>
                  <a:tcPr marL="91440" marR="91440" marT="45720" marB="45720">
                    <a:solidFill>
                      <a:srgbClr val="F0F6F1"/>
                    </a:solidFill>
                  </a:tcPr>
                </a:tc>
                <a:tc>
                  <a:txBody>
                    <a:bodyPr/>
                    <a:lstStyle/>
                    <a:p>
                      <a:r>
                        <a:rPr sz="1500" b="0">
                          <a:solidFill>
                            <a:srgbClr val="183B32"/>
                          </a:solidFill>
                          <a:latin typeface="Noto Sans"/>
                          <a:ea typeface="Noto Sans"/>
                          <a:cs typeface="Noto Sans"/>
                        </a:rPr>
                        <a:t>0,597 → 0,075</a:t>
                      </a:r>
                    </a:p>
                  </a:txBody>
                  <a:tcPr marL="91440" marR="91440" marT="45720" marB="45720">
                    <a:solidFill>
                      <a:srgbClr val="F0F6F1"/>
                    </a:solidFill>
                  </a:tcPr>
                </a:tc>
                <a:tc>
                  <a:txBody>
                    <a:bodyPr/>
                    <a:lstStyle/>
                    <a:p>
                      <a:r>
                        <a:rPr sz="1500" b="0">
                          <a:solidFill>
                            <a:srgbClr val="183B32"/>
                          </a:solidFill>
                          <a:latin typeface="Noto Sans"/>
                          <a:ea typeface="Noto Sans"/>
                          <a:cs typeface="Noto Sans"/>
                        </a:rPr>
                        <a:t>Эпизоды на 100 МО-месяцев: очередь проверки меньше в 8 раз. Реальные ложные тревоги неизвестны.</a:t>
                      </a:r>
                    </a:p>
                  </a:txBody>
                  <a:tcPr marL="91440" marR="91440" marT="45720" marB="45720">
                    <a:solidFill>
                      <a:srgbClr val="F0F6F1"/>
                    </a:solidFill>
                  </a:tcPr>
                </a:tc>
              </a:tr>
            </a:tbl>
          </a:graphicData>
        </a:graphic>
      </p:graphicFrame>
    </p:spTree>
    <p:extLst>
      <p:ext uri="{BB962C8B-B14F-4D97-AF65-F5344CB8AC3E}">
        <p14:creationId xmlns:p14="http://schemas.microsoft.com/office/powerpoint/2010/main" val="1831644432"/>
      </p:ext>
    </p:extLst>
  </p:cSld>
</p:sld>
</file>

<file path=ppt/slides/slide8.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8FC84D-5301-491C-AD2B-FC8D2D2A3D0A}"/>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Результат устойчив к росту 7–17%</a:t>
            </a:r>
          </a:p>
        </p:txBody>
      </p:sp>
      <p:sp>
        <p:nvSpPr>
          <p:cNvPr id="2" name="">
            <a:extLst xmlns:a="http://schemas.openxmlformats.org/drawingml/2006/main">
              <a:ext uri="{FF2B5EF4-FFF2-40B4-BE49-F238E27FC236}">
                <a16:creationId xmlns:a16="http://schemas.microsoft.com/office/drawing/2014/main" id="{80AC6F39-8373-4069-AA9E-25FFA78EF869}"/>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8 / 21</a:t>
            </a:r>
          </a:p>
        </p:txBody>
      </p:sp>
      <p:sp>
        <p:nvSpPr>
          <p:cNvPr id="3" name="">
            <a:extLst xmlns:a="http://schemas.openxmlformats.org/drawingml/2006/main">
              <a:ext uri="{FF2B5EF4-FFF2-40B4-BE49-F238E27FC236}">
                <a16:creationId xmlns:a16="http://schemas.microsoft.com/office/drawing/2014/main" id="{1B1EBAC8-50ED-4BC2-8DB1-2D48FB78D6E2}"/>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Сохранённый архив 2024; не независимое доказательство переноса. Все переходы года — из декабря 2023.</a:t>
            </a:r>
          </a:p>
        </p:txBody>
      </p:sp>
      <p:graphicFrame>
        <p:nvGraphicFramePr>
          <p:cNvPr id="10" name=""/>
          <p:cNvGraphicFramePr/>
          <p:nvPr/>
        </p:nvGraphicFramePr>
        <p:xfrm>
          <a:off xmlns:a="http://schemas.openxmlformats.org/drawingml/2006/main" x="609600" y="1714500"/>
          <a:ext xmlns:a="http://schemas.openxmlformats.org/drawingml/2006/main" cx="10972800" cy="2524125"/>
        </p:xfrm>
        <a:graphic xmlns:a="http://schemas.openxmlformats.org/drawingml/2006/main">
          <a:graphicData uri="http://schemas.openxmlformats.org/drawingml/2006/table">
            <a:tbl>
              <a:tblPr firstRow="1" bandRow="0"/>
              <a:tblGrid>
                <a:gridCol w="3429000"/>
                <a:gridCol w="1885950"/>
                <a:gridCol w="1885950"/>
                <a:gridCol w="1885950"/>
                <a:gridCol w="1885950"/>
              </a:tblGrid>
              <a:tr h="631031">
                <a:tc>
                  <a:txBody>
                    <a:bodyPr/>
                    <a:lstStyle/>
                    <a:p>
                      <a:r>
                        <a:rPr sz="1800" b="1">
                          <a:solidFill>
                            <a:srgbClr val="FFFFFF"/>
                          </a:solidFill>
                          <a:latin typeface="Noto Sans"/>
                          <a:ea typeface="Noto Sans"/>
                          <a:cs typeface="Noto Sans"/>
                        </a:rPr>
                        <a:t>Поправка</a:t>
                      </a:r>
                    </a:p>
                  </a:txBody>
                  <a:tcPr marL="91440" marR="91440" marT="45720" marB="45720">
                    <a:solidFill>
                      <a:srgbClr val="183B32"/>
                    </a:solidFill>
                  </a:tcPr>
                </a:tc>
                <a:tc>
                  <a:txBody>
                    <a:bodyPr/>
                    <a:lstStyle/>
                    <a:p>
                      <a:r>
                        <a:rPr sz="1800" b="1">
                          <a:solidFill>
                            <a:srgbClr val="FFFFFF"/>
                          </a:solidFill>
                          <a:latin typeface="Noto Sans"/>
                          <a:ea typeface="Noto Sans"/>
                          <a:cs typeface="Noto Sans"/>
                        </a:rPr>
                        <a:t>h1</a:t>
                      </a:r>
                    </a:p>
                  </a:txBody>
                  <a:tcPr marL="91440" marR="91440" marT="45720" marB="45720">
                    <a:solidFill>
                      <a:srgbClr val="183B32"/>
                    </a:solidFill>
                  </a:tcPr>
                </a:tc>
                <a:tc>
                  <a:txBody>
                    <a:bodyPr/>
                    <a:lstStyle/>
                    <a:p>
                      <a:r>
                        <a:rPr sz="1800" b="1">
                          <a:solidFill>
                            <a:srgbClr val="FFFFFF"/>
                          </a:solidFill>
                          <a:latin typeface="Noto Sans"/>
                          <a:ea typeface="Noto Sans"/>
                          <a:cs typeface="Noto Sans"/>
                        </a:rPr>
                        <a:t>h3</a:t>
                      </a:r>
                    </a:p>
                  </a:txBody>
                  <a:tcPr marL="91440" marR="91440" marT="45720" marB="45720">
                    <a:solidFill>
                      <a:srgbClr val="183B32"/>
                    </a:solidFill>
                  </a:tcPr>
                </a:tc>
                <a:tc>
                  <a:txBody>
                    <a:bodyPr/>
                    <a:lstStyle/>
                    <a:p>
                      <a:r>
                        <a:rPr sz="1800" b="1">
                          <a:solidFill>
                            <a:srgbClr val="FFFFFF"/>
                          </a:solidFill>
                          <a:latin typeface="Noto Sans"/>
                          <a:ea typeface="Noto Sans"/>
                          <a:cs typeface="Noto Sans"/>
                        </a:rPr>
                        <a:t>h6</a:t>
                      </a:r>
                    </a:p>
                  </a:txBody>
                  <a:tcPr marL="91440" marR="91440" marT="45720" marB="45720">
                    <a:solidFill>
                      <a:srgbClr val="183B32"/>
                    </a:solidFill>
                  </a:tcPr>
                </a:tc>
                <a:tc>
                  <a:txBody>
                    <a:bodyPr/>
                    <a:lstStyle/>
                    <a:p>
                      <a:r>
                        <a:rPr sz="1800" b="1">
                          <a:solidFill>
                            <a:srgbClr val="FFFFFF"/>
                          </a:solidFill>
                          <a:latin typeface="Noto Sans"/>
                          <a:ea typeface="Noto Sans"/>
                          <a:cs typeface="Noto Sans"/>
                        </a:rPr>
                        <a:t>h12</a:t>
                      </a:r>
                    </a:p>
                  </a:txBody>
                  <a:tcPr marL="91440" marR="91440" marT="45720" marB="45720">
                    <a:solidFill>
                      <a:srgbClr val="183B32"/>
                    </a:solidFill>
                  </a:tcPr>
                </a:tc>
              </a:tr>
              <a:tr h="631031">
                <a:tc>
                  <a:txBody>
                    <a:bodyPr/>
                    <a:lstStyle/>
                    <a:p>
                      <a:r>
                        <a:rPr sz="1800" b="0">
                          <a:solidFill>
                            <a:srgbClr val="183B32"/>
                          </a:solidFill>
                          <a:latin typeface="Noto Sans"/>
                          <a:ea typeface="Noto Sans"/>
                          <a:cs typeface="Noto Sans"/>
                        </a:rPr>
                        <a:t>Без роста</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937</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1 521</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1 909</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4 701</a:t>
                      </a:r>
                    </a:p>
                  </a:txBody>
                  <a:tcPr marL="91440" marR="91440" marT="45720" marB="45720">
                    <a:solidFill>
                      <a:srgbClr val="F0F6F1"/>
                    </a:solidFill>
                  </a:tcPr>
                </a:tc>
              </a:tr>
              <a:tr h="631031">
                <a:tc>
                  <a:txBody>
                    <a:bodyPr/>
                    <a:lstStyle/>
                    <a:p>
                      <a:r>
                        <a:rPr sz="1800" b="0">
                          <a:solidFill>
                            <a:srgbClr val="183B32"/>
                          </a:solidFill>
                          <a:latin typeface="Noto Sans"/>
                          <a:ea typeface="Noto Sans"/>
                          <a:cs typeface="Noto Sans"/>
                        </a:rPr>
                        <a:t>ИПЦ: 7,48%</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849</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1 335</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1 636</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2 425</a:t>
                      </a:r>
                    </a:p>
                  </a:txBody>
                  <a:tcPr marL="91440" marR="91440" marT="45720" marB="45720">
                    <a:solidFill>
                      <a:srgbClr val="FFFFFF"/>
                    </a:solidFill>
                  </a:tcPr>
                </a:tc>
              </a:tr>
              <a:tr h="631031">
                <a:tc>
                  <a:txBody>
                    <a:bodyPr/>
                    <a:lstStyle/>
                    <a:p>
                      <a:r>
                        <a:rPr sz="1800" b="0">
                          <a:solidFill>
                            <a:srgbClr val="183B32"/>
                          </a:solidFill>
                          <a:latin typeface="Noto Sans"/>
                          <a:ea typeface="Noto Sans"/>
                          <a:cs typeface="Noto Sans"/>
                        </a:rPr>
                        <a:t>Зарплаты: 17,2%</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932</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1 272</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1 371</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1 321</a:t>
                      </a:r>
                    </a:p>
                  </a:txBody>
                  <a:tcPr marL="91440" marR="91440" marT="45720" marB="45720">
                    <a:solidFill>
                      <a:srgbClr val="F0F6F1"/>
                    </a:solidFill>
                  </a:tcPr>
                </a:tc>
              </a:tr>
            </a:tbl>
          </a:graphicData>
        </a:graphic>
      </p:graphicFrame>
      <p:sp>
        <p:nvSpPr>
          <p:cNvPr id="5" name="">
            <a:extLst xmlns:a="http://schemas.openxmlformats.org/drawingml/2006/main">
              <a:ext uri="{FF2B5EF4-FFF2-40B4-BE49-F238E27FC236}">
                <a16:creationId xmlns:a16="http://schemas.microsoft.com/office/drawing/2014/main" id="{95EBA93E-0A65-4DE5-B961-9B344E070689}"/>
              </a:ext>
            </a:extLst>
          </p:cNvPr>
          <p:cNvSpPr>
            <a:spLocks xmlns:a="http://schemas.openxmlformats.org/drawingml/2006/main" noGrp="1"/>
          </p:cNvSpPr>
          <p:nvPr/>
        </p:nvSpPr>
        <p:spPr>
          <a:xfrm xmlns:a="http://schemas.openxmlformats.org/drawingml/2006/main">
            <a:off x="609600" y="455295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C825D"/>
                </a:solidFill>
                <a:latin typeface="Noto Sans"/>
                <a:ea typeface="Noto Sans"/>
                <a:cs typeface="Noto Sans"/>
              </a:defRPr>
            </a:pPr>
            <a:r>
              <a:rPr sz="2025" b="1">
                <a:solidFill>
                  <a:srgbClr val="0C825D"/>
                </a:solidFill>
                <a:latin typeface="Noto Sans"/>
                <a:ea typeface="Noto Sans"/>
                <a:cs typeface="Noto Sans"/>
              </a:rPr>
              <a:t>Любая ставка 7–17% снижает MAE к лучшему проверенному Prophet</a:t>
            </a:r>
          </a:p>
          <a:p xmlns:a="http://schemas.openxmlformats.org/drawingml/2006/main">
            <a:pPr>
              <a:defRPr sz="2025" b="1">
                <a:solidFill>
                  <a:srgbClr val="0C825D"/>
                </a:solidFill>
                <a:latin typeface="Noto Sans"/>
                <a:ea typeface="Noto Sans"/>
                <a:cs typeface="Noto Sans"/>
              </a:defRPr>
            </a:pPr>
            <a:r>
              <a:rPr sz="2025" b="1">
                <a:solidFill>
                  <a:srgbClr val="0C825D"/>
                </a:solidFill>
                <a:latin typeface="Noto Sans"/>
                <a:ea typeface="Noto Sans"/>
                <a:cs typeface="Noto Sans"/>
              </a:rPr>
              <a:t>на всех четырёх горизонтах: проверены границы выпуклой ошибки</a:t>
            </a:r>
          </a:p>
        </p:txBody>
      </p:sp>
      <p:sp>
        <p:nvSpPr>
          <p:cNvPr id="6" name="">
            <a:extLst xmlns:a="http://schemas.openxmlformats.org/drawingml/2006/main">
              <a:ext uri="{FF2B5EF4-FFF2-40B4-BE49-F238E27FC236}">
                <a16:creationId xmlns:a16="http://schemas.microsoft.com/office/drawing/2014/main" id="{F5469904-4C8D-427F-8986-BF301FA3F98D}"/>
              </a:ext>
            </a:extLst>
          </p:cNvPr>
          <p:cNvSpPr>
            <a:spLocks xmlns:a="http://schemas.openxmlformats.org/drawingml/2006/main" noGrp="1"/>
          </p:cNvSpPr>
          <p:nvPr/>
        </p:nvSpPr>
        <p:spPr>
          <a:xfrm xmlns:a="http://schemas.openxmlformats.org/drawingml/2006/main">
            <a:off x="609600" y="55435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83B32"/>
                </a:solidFill>
                <a:latin typeface="Noto Sans"/>
                <a:ea typeface="Noto Sans"/>
                <a:cs typeface="Noto Sans"/>
              </a:defRPr>
            </a:pPr>
            <a:r>
              <a:rPr sz="1800" b="0">
                <a:solidFill>
                  <a:srgbClr val="183B32"/>
                </a:solidFill>
                <a:latin typeface="Noto Sans"/>
                <a:ea typeface="Noto Sans"/>
                <a:cs typeface="Noto Sans"/>
              </a:rPr>
              <a:t>ИПЦ лучше на h1; зарплатная поправка — на h3 / h6 / h12</a:t>
            </a:r>
          </a:p>
        </p:txBody>
      </p:sp>
    </p:spTree>
    <p:extLst>
      <p:ext uri="{BB962C8B-B14F-4D97-AF65-F5344CB8AC3E}">
        <p14:creationId xmlns:p14="http://schemas.microsoft.com/office/powerpoint/2010/main" val="1917149247"/>
      </p:ext>
    </p:extLst>
  </p:cSld>
</p:sld>
</file>

<file path=ppt/slides/slide9.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4083156-7E25-4BCB-AE02-1D30CF887AA2}"/>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Перенос модели на другие категории</a:t>
            </a:r>
          </a:p>
        </p:txBody>
      </p:sp>
      <p:sp>
        <p:nvSpPr>
          <p:cNvPr id="2" name="">
            <a:extLst xmlns:a="http://schemas.openxmlformats.org/drawingml/2006/main">
              <a:ext uri="{FF2B5EF4-FFF2-40B4-BE49-F238E27FC236}">
                <a16:creationId xmlns:a16="http://schemas.microsoft.com/office/drawing/2014/main" id="{9BB4294D-0F80-4527-A53D-3C2AD1523F76}"/>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9 / 21</a:t>
            </a:r>
          </a:p>
        </p:txBody>
      </p:sp>
      <p:sp>
        <p:nvSpPr>
          <p:cNvPr id="3" name="">
            <a:extLst xmlns:a="http://schemas.openxmlformats.org/drawingml/2006/main">
              <a:ext uri="{FF2B5EF4-FFF2-40B4-BE49-F238E27FC236}">
                <a16:creationId xmlns:a16="http://schemas.microsoft.com/office/drawing/2014/main" id="{7AACE898-EF07-44A1-A812-2AE4D4BA3FE9}"/>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Одна формула и рост 17,2%, без перенастройки. Снижение MAE к заранее закреплённому Prophet с профилем; отрицательное значение — проигрыш.</a:t>
            </a:r>
          </a:p>
        </p:txBody>
      </p:sp>
      <p:graphicFrame>
        <p:nvGraphicFramePr>
          <p:cNvPr id="9" name=""/>
          <p:cNvGraphicFramePr/>
          <p:nvPr/>
        </p:nvGraphicFramePr>
        <p:xfrm>
          <a:off xmlns:a="http://schemas.openxmlformats.org/drawingml/2006/main" x="609600" y="1495425"/>
          <a:ext xmlns:a="http://schemas.openxmlformats.org/drawingml/2006/main" cx="10972800" cy="3190875"/>
        </p:xfrm>
        <a:graphic xmlns:a="http://schemas.openxmlformats.org/drawingml/2006/main">
          <a:graphicData uri="http://schemas.openxmlformats.org/drawingml/2006/table">
            <a:tbl>
              <a:tblPr firstRow="1" bandRow="0"/>
              <a:tblGrid>
                <a:gridCol w="4000500"/>
                <a:gridCol w="1743075"/>
                <a:gridCol w="1743075"/>
                <a:gridCol w="1743075"/>
                <a:gridCol w="1743075"/>
              </a:tblGrid>
              <a:tr h="455839">
                <a:tc>
                  <a:txBody>
                    <a:bodyPr/>
                    <a:lstStyle/>
                    <a:p>
                      <a:r>
                        <a:rPr sz="1875" b="1">
                          <a:solidFill>
                            <a:srgbClr val="FFFFFF"/>
                          </a:solidFill>
                          <a:latin typeface="Noto Sans"/>
                          <a:ea typeface="Noto Sans"/>
                          <a:cs typeface="Noto Sans"/>
                        </a:rPr>
                        <a:t>Категория</a:t>
                      </a:r>
                    </a:p>
                  </a:txBody>
                  <a:tcPr marL="91440" marR="91440" marT="45720" marB="45720">
                    <a:solidFill>
                      <a:srgbClr val="183B32"/>
                    </a:solidFill>
                  </a:tcPr>
                </a:tc>
                <a:tc>
                  <a:txBody>
                    <a:bodyPr/>
                    <a:lstStyle/>
                    <a:p>
                      <a:r>
                        <a:rPr sz="1875" b="1">
                          <a:solidFill>
                            <a:srgbClr val="FFFFFF"/>
                          </a:solidFill>
                          <a:latin typeface="Noto Sans"/>
                          <a:ea typeface="Noto Sans"/>
                          <a:cs typeface="Noto Sans"/>
                        </a:rPr>
                        <a:t>h1, %</a:t>
                      </a:r>
                    </a:p>
                  </a:txBody>
                  <a:tcPr marL="91440" marR="91440" marT="45720" marB="45720">
                    <a:solidFill>
                      <a:srgbClr val="183B32"/>
                    </a:solidFill>
                  </a:tcPr>
                </a:tc>
                <a:tc>
                  <a:txBody>
                    <a:bodyPr/>
                    <a:lstStyle/>
                    <a:p>
                      <a:r>
                        <a:rPr sz="1875" b="1">
                          <a:solidFill>
                            <a:srgbClr val="FFFFFF"/>
                          </a:solidFill>
                          <a:latin typeface="Noto Sans"/>
                          <a:ea typeface="Noto Sans"/>
                          <a:cs typeface="Noto Sans"/>
                        </a:rPr>
                        <a:t>h3, %</a:t>
                      </a:r>
                    </a:p>
                  </a:txBody>
                  <a:tcPr marL="91440" marR="91440" marT="45720" marB="45720">
                    <a:solidFill>
                      <a:srgbClr val="183B32"/>
                    </a:solidFill>
                  </a:tcPr>
                </a:tc>
                <a:tc>
                  <a:txBody>
                    <a:bodyPr/>
                    <a:lstStyle/>
                    <a:p>
                      <a:r>
                        <a:rPr sz="1875" b="1">
                          <a:solidFill>
                            <a:srgbClr val="FFFFFF"/>
                          </a:solidFill>
                          <a:latin typeface="Noto Sans"/>
                          <a:ea typeface="Noto Sans"/>
                          <a:cs typeface="Noto Sans"/>
                        </a:rPr>
                        <a:t>h6, %</a:t>
                      </a:r>
                    </a:p>
                  </a:txBody>
                  <a:tcPr marL="91440" marR="91440" marT="45720" marB="45720">
                    <a:solidFill>
                      <a:srgbClr val="183B32"/>
                    </a:solidFill>
                  </a:tcPr>
                </a:tc>
                <a:tc>
                  <a:txBody>
                    <a:bodyPr/>
                    <a:lstStyle/>
                    <a:p>
                      <a:r>
                        <a:rPr sz="1875" b="1">
                          <a:solidFill>
                            <a:srgbClr val="FFFFFF"/>
                          </a:solidFill>
                          <a:latin typeface="Noto Sans"/>
                          <a:ea typeface="Noto Sans"/>
                          <a:cs typeface="Noto Sans"/>
                        </a:rPr>
                        <a:t>h12, %</a:t>
                      </a:r>
                    </a:p>
                  </a:txBody>
                  <a:tcPr marL="91440" marR="91440" marT="45720" marB="45720">
                    <a:solidFill>
                      <a:srgbClr val="183B32"/>
                    </a:solidFill>
                  </a:tcPr>
                </a:tc>
              </a:tr>
              <a:tr h="455839">
                <a:tc>
                  <a:txBody>
                    <a:bodyPr/>
                    <a:lstStyle/>
                    <a:p>
                      <a:r>
                        <a:rPr sz="1875" b="0">
                          <a:solidFill>
                            <a:srgbClr val="183B32"/>
                          </a:solidFill>
                          <a:latin typeface="Noto Sans"/>
                          <a:ea typeface="Noto Sans"/>
                          <a:cs typeface="Noto Sans"/>
                        </a:rPr>
                        <a:t>Все категории</a:t>
                      </a:r>
                    </a:p>
                  </a:txBody>
                  <a:tcPr marL="91440" marR="91440" marT="45720" marB="45720">
                    <a:solidFill>
                      <a:srgbClr val="F0F6F1"/>
                    </a:solidFill>
                  </a:tcPr>
                </a:tc>
                <a:tc>
                  <a:txBody>
                    <a:bodyPr/>
                    <a:lstStyle/>
                    <a:p>
                      <a:r>
                        <a:rPr sz="1875" b="0">
                          <a:solidFill>
                            <a:srgbClr val="183B32"/>
                          </a:solidFill>
                          <a:latin typeface="Noto Sans"/>
                          <a:ea typeface="Noto Sans"/>
                          <a:cs typeface="Noto Sans"/>
                        </a:rPr>
                        <a:t>41.5</a:t>
                      </a:r>
                    </a:p>
                  </a:txBody>
                  <a:tcPr marL="91440" marR="91440" marT="45720" marB="45720">
                    <a:solidFill>
                      <a:srgbClr val="F0F6F1"/>
                    </a:solidFill>
                  </a:tcPr>
                </a:tc>
                <a:tc>
                  <a:txBody>
                    <a:bodyPr/>
                    <a:lstStyle/>
                    <a:p>
                      <a:r>
                        <a:rPr sz="1875" b="0">
                          <a:solidFill>
                            <a:srgbClr val="183B32"/>
                          </a:solidFill>
                          <a:latin typeface="Noto Sans"/>
                          <a:ea typeface="Noto Sans"/>
                          <a:cs typeface="Noto Sans"/>
                        </a:rPr>
                        <a:t>23.3</a:t>
                      </a:r>
                    </a:p>
                  </a:txBody>
                  <a:tcPr marL="91440" marR="91440" marT="45720" marB="45720">
                    <a:solidFill>
                      <a:srgbClr val="F0F6F1"/>
                    </a:solidFill>
                  </a:tcPr>
                </a:tc>
                <a:tc>
                  <a:txBody>
                    <a:bodyPr/>
                    <a:lstStyle/>
                    <a:p>
                      <a:r>
                        <a:rPr sz="1875" b="0">
                          <a:solidFill>
                            <a:srgbClr val="183B32"/>
                          </a:solidFill>
                          <a:latin typeface="Noto Sans"/>
                          <a:ea typeface="Noto Sans"/>
                          <a:cs typeface="Noto Sans"/>
                        </a:rPr>
                        <a:t>28.5</a:t>
                      </a:r>
                    </a:p>
                  </a:txBody>
                  <a:tcPr marL="91440" marR="91440" marT="45720" marB="45720">
                    <a:solidFill>
                      <a:srgbClr val="F0F6F1"/>
                    </a:solidFill>
                  </a:tcPr>
                </a:tc>
                <a:tc>
                  <a:txBody>
                    <a:bodyPr/>
                    <a:lstStyle/>
                    <a:p>
                      <a:r>
                        <a:rPr sz="1875" b="0">
                          <a:solidFill>
                            <a:srgbClr val="183B32"/>
                          </a:solidFill>
                          <a:latin typeface="Noto Sans"/>
                          <a:ea typeface="Noto Sans"/>
                          <a:cs typeface="Noto Sans"/>
                        </a:rPr>
                        <a:t>55.8</a:t>
                      </a:r>
                    </a:p>
                  </a:txBody>
                  <a:tcPr marL="91440" marR="91440" marT="45720" marB="45720">
                    <a:solidFill>
                      <a:srgbClr val="F0F6F1"/>
                    </a:solidFill>
                  </a:tcPr>
                </a:tc>
              </a:tr>
              <a:tr h="455839">
                <a:tc>
                  <a:txBody>
                    <a:bodyPr/>
                    <a:lstStyle/>
                    <a:p>
                      <a:r>
                        <a:rPr sz="1875" b="0">
                          <a:solidFill>
                            <a:srgbClr val="183B32"/>
                          </a:solidFill>
                          <a:latin typeface="Noto Sans"/>
                          <a:ea typeface="Noto Sans"/>
                          <a:cs typeface="Noto Sans"/>
                        </a:rPr>
                        <a:t>Здоровье</a:t>
                      </a:r>
                    </a:p>
                  </a:txBody>
                  <a:tcPr marL="91440" marR="91440" marT="45720" marB="45720">
                    <a:solidFill>
                      <a:srgbClr val="FFFFFF"/>
                    </a:solidFill>
                  </a:tcPr>
                </a:tc>
                <a:tc>
                  <a:txBody>
                    <a:bodyPr/>
                    <a:lstStyle/>
                    <a:p>
                      <a:r>
                        <a:rPr sz="1875" b="0">
                          <a:solidFill>
                            <a:srgbClr val="183B32"/>
                          </a:solidFill>
                          <a:latin typeface="Noto Sans"/>
                          <a:ea typeface="Noto Sans"/>
                          <a:cs typeface="Noto Sans"/>
                        </a:rPr>
                        <a:t>9.7</a:t>
                      </a:r>
                    </a:p>
                  </a:txBody>
                  <a:tcPr marL="91440" marR="91440" marT="45720" marB="45720">
                    <a:solidFill>
                      <a:srgbClr val="FFFFFF"/>
                    </a:solidFill>
                  </a:tcPr>
                </a:tc>
                <a:tc>
                  <a:txBody>
                    <a:bodyPr/>
                    <a:lstStyle/>
                    <a:p>
                      <a:r>
                        <a:rPr sz="1875" b="0">
                          <a:solidFill>
                            <a:srgbClr val="183B32"/>
                          </a:solidFill>
                          <a:latin typeface="Noto Sans"/>
                          <a:ea typeface="Noto Sans"/>
                          <a:cs typeface="Noto Sans"/>
                        </a:rPr>
                        <a:t>9.9</a:t>
                      </a:r>
                    </a:p>
                  </a:txBody>
                  <a:tcPr marL="91440" marR="91440" marT="45720" marB="45720">
                    <a:solidFill>
                      <a:srgbClr val="FFFFFF"/>
                    </a:solidFill>
                  </a:tcPr>
                </a:tc>
                <a:tc>
                  <a:txBody>
                    <a:bodyPr/>
                    <a:lstStyle/>
                    <a:p>
                      <a:r>
                        <a:rPr sz="1875" b="0">
                          <a:solidFill>
                            <a:srgbClr val="183B32"/>
                          </a:solidFill>
                          <a:latin typeface="Noto Sans"/>
                          <a:ea typeface="Noto Sans"/>
                          <a:cs typeface="Noto Sans"/>
                        </a:rPr>
                        <a:t>2.3</a:t>
                      </a:r>
                    </a:p>
                  </a:txBody>
                  <a:tcPr marL="91440" marR="91440" marT="45720" marB="45720">
                    <a:solidFill>
                      <a:srgbClr val="FFFFFF"/>
                    </a:solidFill>
                  </a:tcPr>
                </a:tc>
                <a:tc>
                  <a:txBody>
                    <a:bodyPr/>
                    <a:lstStyle/>
                    <a:p>
                      <a:r>
                        <a:rPr sz="1875" b="0">
                          <a:solidFill>
                            <a:srgbClr val="183B32"/>
                          </a:solidFill>
                          <a:latin typeface="Noto Sans"/>
                          <a:ea typeface="Noto Sans"/>
                          <a:cs typeface="Noto Sans"/>
                        </a:rPr>
                        <a:t>28.4</a:t>
                      </a:r>
                    </a:p>
                  </a:txBody>
                  <a:tcPr marL="91440" marR="91440" marT="45720" marB="45720">
                    <a:solidFill>
                      <a:srgbClr val="FFFFFF"/>
                    </a:solidFill>
                  </a:tcPr>
                </a:tc>
              </a:tr>
              <a:tr h="455839">
                <a:tc>
                  <a:txBody>
                    <a:bodyPr/>
                    <a:lstStyle/>
                    <a:p>
                      <a:r>
                        <a:rPr sz="1875" b="0">
                          <a:solidFill>
                            <a:srgbClr val="183B32"/>
                          </a:solidFill>
                          <a:latin typeface="Noto Sans"/>
                          <a:ea typeface="Noto Sans"/>
                          <a:cs typeface="Noto Sans"/>
                        </a:rPr>
                        <a:t>Маркетплейсы</a:t>
                      </a:r>
                    </a:p>
                  </a:txBody>
                  <a:tcPr marL="91440" marR="91440" marT="45720" marB="45720">
                    <a:solidFill>
                      <a:srgbClr val="F0F6F1"/>
                    </a:solidFill>
                  </a:tcPr>
                </a:tc>
                <a:tc>
                  <a:txBody>
                    <a:bodyPr/>
                    <a:lstStyle/>
                    <a:p>
                      <a:r>
                        <a:rPr sz="1875" b="0">
                          <a:solidFill>
                            <a:srgbClr val="183B32"/>
                          </a:solidFill>
                          <a:latin typeface="Noto Sans"/>
                          <a:ea typeface="Noto Sans"/>
                          <a:cs typeface="Noto Sans"/>
                        </a:rPr>
                        <a:t>1.2</a:t>
                      </a:r>
                    </a:p>
                  </a:txBody>
                  <a:tcPr marL="91440" marR="91440" marT="45720" marB="45720">
                    <a:solidFill>
                      <a:srgbClr val="F0F6F1"/>
                    </a:solidFill>
                  </a:tcPr>
                </a:tc>
                <a:tc>
                  <a:txBody>
                    <a:bodyPr/>
                    <a:lstStyle/>
                    <a:p>
                      <a:r>
                        <a:rPr sz="1875" b="0">
                          <a:solidFill>
                            <a:srgbClr val="183B32"/>
                          </a:solidFill>
                          <a:latin typeface="Noto Sans"/>
                          <a:ea typeface="Noto Sans"/>
                          <a:cs typeface="Noto Sans"/>
                        </a:rPr>
                        <a:t>-34.7</a:t>
                      </a:r>
                    </a:p>
                  </a:txBody>
                  <a:tcPr marL="91440" marR="91440" marT="45720" marB="45720">
                    <a:solidFill>
                      <a:srgbClr val="F0F6F1"/>
                    </a:solidFill>
                  </a:tcPr>
                </a:tc>
                <a:tc>
                  <a:txBody>
                    <a:bodyPr/>
                    <a:lstStyle/>
                    <a:p>
                      <a:r>
                        <a:rPr sz="1875" b="0">
                          <a:solidFill>
                            <a:srgbClr val="183B32"/>
                          </a:solidFill>
                          <a:latin typeface="Noto Sans"/>
                          <a:ea typeface="Noto Sans"/>
                          <a:cs typeface="Noto Sans"/>
                        </a:rPr>
                        <a:t>-48.1</a:t>
                      </a:r>
                    </a:p>
                  </a:txBody>
                  <a:tcPr marL="91440" marR="91440" marT="45720" marB="45720">
                    <a:solidFill>
                      <a:srgbClr val="F0F6F1"/>
                    </a:solidFill>
                  </a:tcPr>
                </a:tc>
                <a:tc>
                  <a:txBody>
                    <a:bodyPr/>
                    <a:lstStyle/>
                    <a:p>
                      <a:r>
                        <a:rPr sz="1875" b="0">
                          <a:solidFill>
                            <a:srgbClr val="183B32"/>
                          </a:solidFill>
                          <a:latin typeface="Noto Sans"/>
                          <a:ea typeface="Noto Sans"/>
                          <a:cs typeface="Noto Sans"/>
                        </a:rPr>
                        <a:t>-57.6</a:t>
                      </a:r>
                    </a:p>
                  </a:txBody>
                  <a:tcPr marL="91440" marR="91440" marT="45720" marB="45720">
                    <a:solidFill>
                      <a:srgbClr val="F0F6F1"/>
                    </a:solidFill>
                  </a:tcPr>
                </a:tc>
              </a:tr>
              <a:tr h="455839">
                <a:tc>
                  <a:txBody>
                    <a:bodyPr/>
                    <a:lstStyle/>
                    <a:p>
                      <a:r>
                        <a:rPr sz="1875" b="0">
                          <a:solidFill>
                            <a:srgbClr val="183B32"/>
                          </a:solidFill>
                          <a:latin typeface="Noto Sans"/>
                          <a:ea typeface="Noto Sans"/>
                          <a:cs typeface="Noto Sans"/>
                        </a:rPr>
                        <a:t>Общественное питание</a:t>
                      </a:r>
                    </a:p>
                  </a:txBody>
                  <a:tcPr marL="91440" marR="91440" marT="45720" marB="45720">
                    <a:solidFill>
                      <a:srgbClr val="FFFFFF"/>
                    </a:solidFill>
                  </a:tcPr>
                </a:tc>
                <a:tc>
                  <a:txBody>
                    <a:bodyPr/>
                    <a:lstStyle/>
                    <a:p>
                      <a:r>
                        <a:rPr sz="1875" b="0">
                          <a:solidFill>
                            <a:srgbClr val="183B32"/>
                          </a:solidFill>
                          <a:latin typeface="Noto Sans"/>
                          <a:ea typeface="Noto Sans"/>
                          <a:cs typeface="Noto Sans"/>
                        </a:rPr>
                        <a:t>47.3</a:t>
                      </a:r>
                    </a:p>
                  </a:txBody>
                  <a:tcPr marL="91440" marR="91440" marT="45720" marB="45720">
                    <a:solidFill>
                      <a:srgbClr val="FFFFFF"/>
                    </a:solidFill>
                  </a:tcPr>
                </a:tc>
                <a:tc>
                  <a:txBody>
                    <a:bodyPr/>
                    <a:lstStyle/>
                    <a:p>
                      <a:r>
                        <a:rPr sz="1875" b="0">
                          <a:solidFill>
                            <a:srgbClr val="183B32"/>
                          </a:solidFill>
                          <a:latin typeface="Noto Sans"/>
                          <a:ea typeface="Noto Sans"/>
                          <a:cs typeface="Noto Sans"/>
                        </a:rPr>
                        <a:t>34.3</a:t>
                      </a:r>
                    </a:p>
                  </a:txBody>
                  <a:tcPr marL="91440" marR="91440" marT="45720" marB="45720">
                    <a:solidFill>
                      <a:srgbClr val="FFFFFF"/>
                    </a:solidFill>
                  </a:tcPr>
                </a:tc>
                <a:tc>
                  <a:txBody>
                    <a:bodyPr/>
                    <a:lstStyle/>
                    <a:p>
                      <a:r>
                        <a:rPr sz="1875" b="0">
                          <a:solidFill>
                            <a:srgbClr val="183B32"/>
                          </a:solidFill>
                          <a:latin typeface="Noto Sans"/>
                          <a:ea typeface="Noto Sans"/>
                          <a:cs typeface="Noto Sans"/>
                        </a:rPr>
                        <a:t>38.7</a:t>
                      </a:r>
                    </a:p>
                  </a:txBody>
                  <a:tcPr marL="91440" marR="91440" marT="45720" marB="45720">
                    <a:solidFill>
                      <a:srgbClr val="FFFFFF"/>
                    </a:solidFill>
                  </a:tcPr>
                </a:tc>
                <a:tc>
                  <a:txBody>
                    <a:bodyPr/>
                    <a:lstStyle/>
                    <a:p>
                      <a:r>
                        <a:rPr sz="1875" b="0">
                          <a:solidFill>
                            <a:srgbClr val="183B32"/>
                          </a:solidFill>
                          <a:latin typeface="Noto Sans"/>
                          <a:ea typeface="Noto Sans"/>
                          <a:cs typeface="Noto Sans"/>
                        </a:rPr>
                        <a:t>54.9</a:t>
                      </a:r>
                    </a:p>
                  </a:txBody>
                  <a:tcPr marL="91440" marR="91440" marT="45720" marB="45720">
                    <a:solidFill>
                      <a:srgbClr val="FFFFFF"/>
                    </a:solidFill>
                  </a:tcPr>
                </a:tc>
              </a:tr>
              <a:tr h="455839">
                <a:tc>
                  <a:txBody>
                    <a:bodyPr/>
                    <a:lstStyle/>
                    <a:p>
                      <a:r>
                        <a:rPr sz="1875" b="0">
                          <a:solidFill>
                            <a:srgbClr val="183B32"/>
                          </a:solidFill>
                          <a:latin typeface="Noto Sans"/>
                          <a:ea typeface="Noto Sans"/>
                          <a:cs typeface="Noto Sans"/>
                        </a:rPr>
                        <a:t>Продовольствие</a:t>
                      </a:r>
                    </a:p>
                  </a:txBody>
                  <a:tcPr marL="91440" marR="91440" marT="45720" marB="45720">
                    <a:solidFill>
                      <a:srgbClr val="F0F6F1"/>
                    </a:solidFill>
                  </a:tcPr>
                </a:tc>
                <a:tc>
                  <a:txBody>
                    <a:bodyPr/>
                    <a:lstStyle/>
                    <a:p>
                      <a:r>
                        <a:rPr sz="1875" b="0">
                          <a:solidFill>
                            <a:srgbClr val="183B32"/>
                          </a:solidFill>
                          <a:latin typeface="Noto Sans"/>
                          <a:ea typeface="Noto Sans"/>
                          <a:cs typeface="Noto Sans"/>
                        </a:rPr>
                        <a:t>51.1</a:t>
                      </a:r>
                    </a:p>
                  </a:txBody>
                  <a:tcPr marL="91440" marR="91440" marT="45720" marB="45720">
                    <a:solidFill>
                      <a:srgbClr val="F0F6F1"/>
                    </a:solidFill>
                  </a:tcPr>
                </a:tc>
                <a:tc>
                  <a:txBody>
                    <a:bodyPr/>
                    <a:lstStyle/>
                    <a:p>
                      <a:r>
                        <a:rPr sz="1875" b="0">
                          <a:solidFill>
                            <a:srgbClr val="183B32"/>
                          </a:solidFill>
                          <a:latin typeface="Noto Sans"/>
                          <a:ea typeface="Noto Sans"/>
                          <a:cs typeface="Noto Sans"/>
                        </a:rPr>
                        <a:t>36.7</a:t>
                      </a:r>
                    </a:p>
                  </a:txBody>
                  <a:tcPr marL="91440" marR="91440" marT="45720" marB="45720">
                    <a:solidFill>
                      <a:srgbClr val="F0F6F1"/>
                    </a:solidFill>
                  </a:tcPr>
                </a:tc>
                <a:tc>
                  <a:txBody>
                    <a:bodyPr/>
                    <a:lstStyle/>
                    <a:p>
                      <a:r>
                        <a:rPr sz="1875" b="0">
                          <a:solidFill>
                            <a:srgbClr val="183B32"/>
                          </a:solidFill>
                          <a:latin typeface="Noto Sans"/>
                          <a:ea typeface="Noto Sans"/>
                          <a:cs typeface="Noto Sans"/>
                        </a:rPr>
                        <a:t>22.3</a:t>
                      </a:r>
                    </a:p>
                  </a:txBody>
                  <a:tcPr marL="91440" marR="91440" marT="45720" marB="45720">
                    <a:solidFill>
                      <a:srgbClr val="F0F6F1"/>
                    </a:solidFill>
                  </a:tcPr>
                </a:tc>
                <a:tc>
                  <a:txBody>
                    <a:bodyPr/>
                    <a:lstStyle/>
                    <a:p>
                      <a:r>
                        <a:rPr sz="1875" b="0">
                          <a:solidFill>
                            <a:srgbClr val="183B32"/>
                          </a:solidFill>
                          <a:latin typeface="Noto Sans"/>
                          <a:ea typeface="Noto Sans"/>
                          <a:cs typeface="Noto Sans"/>
                        </a:rPr>
                        <a:t>-86.8</a:t>
                      </a:r>
                    </a:p>
                  </a:txBody>
                  <a:tcPr marL="91440" marR="91440" marT="45720" marB="45720">
                    <a:solidFill>
                      <a:srgbClr val="F0F6F1"/>
                    </a:solidFill>
                  </a:tcPr>
                </a:tc>
              </a:tr>
              <a:tr h="455839">
                <a:tc>
                  <a:txBody>
                    <a:bodyPr/>
                    <a:lstStyle/>
                    <a:p>
                      <a:r>
                        <a:rPr sz="1875" b="0">
                          <a:solidFill>
                            <a:srgbClr val="183B32"/>
                          </a:solidFill>
                          <a:latin typeface="Noto Sans"/>
                          <a:ea typeface="Noto Sans"/>
                          <a:cs typeface="Noto Sans"/>
                        </a:rPr>
                        <a:t>Транспорт</a:t>
                      </a:r>
                    </a:p>
                  </a:txBody>
                  <a:tcPr marL="91440" marR="91440" marT="45720" marB="45720">
                    <a:solidFill>
                      <a:srgbClr val="FFFFFF"/>
                    </a:solidFill>
                  </a:tcPr>
                </a:tc>
                <a:tc>
                  <a:txBody>
                    <a:bodyPr/>
                    <a:lstStyle/>
                    <a:p>
                      <a:r>
                        <a:rPr sz="1875" b="0">
                          <a:solidFill>
                            <a:srgbClr val="183B32"/>
                          </a:solidFill>
                          <a:latin typeface="Noto Sans"/>
                          <a:ea typeface="Noto Sans"/>
                          <a:cs typeface="Noto Sans"/>
                        </a:rPr>
                        <a:t>31.5</a:t>
                      </a:r>
                    </a:p>
                  </a:txBody>
                  <a:tcPr marL="91440" marR="91440" marT="45720" marB="45720">
                    <a:solidFill>
                      <a:srgbClr val="FFFFFF"/>
                    </a:solidFill>
                  </a:tcPr>
                </a:tc>
                <a:tc>
                  <a:txBody>
                    <a:bodyPr/>
                    <a:lstStyle/>
                    <a:p>
                      <a:r>
                        <a:rPr sz="1875" b="0">
                          <a:solidFill>
                            <a:srgbClr val="183B32"/>
                          </a:solidFill>
                          <a:latin typeface="Noto Sans"/>
                          <a:ea typeface="Noto Sans"/>
                          <a:cs typeface="Noto Sans"/>
                        </a:rPr>
                        <a:t>17.5</a:t>
                      </a:r>
                    </a:p>
                  </a:txBody>
                  <a:tcPr marL="91440" marR="91440" marT="45720" marB="45720">
                    <a:solidFill>
                      <a:srgbClr val="FFFFFF"/>
                    </a:solidFill>
                  </a:tcPr>
                </a:tc>
                <a:tc>
                  <a:txBody>
                    <a:bodyPr/>
                    <a:lstStyle/>
                    <a:p>
                      <a:r>
                        <a:rPr sz="1875" b="0">
                          <a:solidFill>
                            <a:srgbClr val="183B32"/>
                          </a:solidFill>
                          <a:latin typeface="Noto Sans"/>
                          <a:ea typeface="Noto Sans"/>
                          <a:cs typeface="Noto Sans"/>
                        </a:rPr>
                        <a:t>26.0</a:t>
                      </a:r>
                    </a:p>
                  </a:txBody>
                  <a:tcPr marL="91440" marR="91440" marT="45720" marB="45720">
                    <a:solidFill>
                      <a:srgbClr val="FFFFFF"/>
                    </a:solidFill>
                  </a:tcPr>
                </a:tc>
                <a:tc>
                  <a:txBody>
                    <a:bodyPr/>
                    <a:lstStyle/>
                    <a:p>
                      <a:r>
                        <a:rPr sz="1875" b="0">
                          <a:solidFill>
                            <a:srgbClr val="183B32"/>
                          </a:solidFill>
                          <a:latin typeface="Noto Sans"/>
                          <a:ea typeface="Noto Sans"/>
                          <a:cs typeface="Noto Sans"/>
                        </a:rPr>
                        <a:t>52.1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C721950-3EF3-4C85-8533-B42AF142656D}"/>
              </a:ext>
            </a:extLst>
          </p:cNvPr>
          <p:cNvSpPr>
            <a:spLocks xmlns:a="http://schemas.openxmlformats.org/drawingml/2006/main" noGrp="1"/>
          </p:cNvSpPr>
          <p:nvPr/>
        </p:nvSpPr>
        <p:spPr>
          <a:xfrm xmlns:a="http://schemas.openxmlformats.org/drawingml/2006/main">
            <a:off x="609600" y="51054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0C825D"/>
                </a:solidFill>
                <a:latin typeface="Noto Sans"/>
                <a:ea typeface="Noto Sans"/>
                <a:cs typeface="Noto Sans"/>
              </a:defRPr>
            </a:pPr>
            <a:r>
              <a:rPr sz="1950" b="1">
                <a:solidFill>
                  <a:srgbClr val="0C825D"/>
                </a:solidFill>
                <a:latin typeface="Noto Sans"/>
                <a:ea typeface="Noto Sans"/>
                <a:cs typeface="Noto Sans"/>
              </a:rPr>
              <a:t>Единого преимущества на всех категориях нет</a:t>
            </a:r>
          </a:p>
          <a:p xmlns:a="http://schemas.openxmlformats.org/drawingml/2006/main">
            <a:pPr>
              <a:defRPr sz="1950" b="1">
                <a:solidFill>
                  <a:srgbClr val="0C825D"/>
                </a:solidFill>
                <a:latin typeface="Noto Sans"/>
                <a:ea typeface="Noto Sans"/>
                <a:cs typeface="Noto Sans"/>
              </a:defRPr>
            </a:pPr>
            <a:r>
              <a:rPr sz="1950" b="1">
                <a:solidFill>
                  <a:srgbClr val="0C825D"/>
                </a:solidFill>
                <a:latin typeface="Noto Sans"/>
                <a:ea typeface="Noto Sans"/>
                <a:cs typeface="Noto Sans"/>
              </a:rPr>
              <a:t>Prophet настроен по общей сумме; категории отдельно не настраивались</a:t>
            </a:r>
          </a:p>
        </p:txBody>
      </p:sp>
    </p:spTree>
    <p:extLst>
      <p:ext uri="{BB962C8B-B14F-4D97-AF65-F5344CB8AC3E}">
        <p14:creationId xmlns:p14="http://schemas.microsoft.com/office/powerpoint/2010/main" val="2094945734"/>
      </p:ext>
    </p:extLst>
  </p:cSld>
</p:sld>
</file>

<file path=ppt/slides/slide10.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EB0ECCD-4983-42D6-BB63-6B2574954660}"/>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Год истории: сезонная модель сильнее готовых</a:t>
            </a:r>
          </a:p>
        </p:txBody>
      </p:sp>
      <p:sp>
        <p:nvSpPr>
          <p:cNvPr id="2" name="">
            <a:extLst xmlns:a="http://schemas.openxmlformats.org/drawingml/2006/main">
              <a:ext uri="{FF2B5EF4-FFF2-40B4-BE49-F238E27FC236}">
                <a16:creationId xmlns:a16="http://schemas.microsoft.com/office/drawing/2014/main" id="{4F04D7C5-DC06-4825-8690-0E7A373BFF96}"/>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10 / 21</a:t>
            </a:r>
          </a:p>
        </p:txBody>
      </p:sp>
      <p:sp>
        <p:nvSpPr>
          <p:cNvPr id="3" name="">
            <a:extLst xmlns:a="http://schemas.openxmlformats.org/drawingml/2006/main">
              <a:ext uri="{FF2B5EF4-FFF2-40B4-BE49-F238E27FC236}">
                <a16:creationId xmlns:a16="http://schemas.microsoft.com/office/drawing/2014/main" id="{58DC75CF-F8EB-403A-A313-E472222DAB26}"/>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Одинаковые 7532 пары: 251 / 251 / 252 / 252 МО. MAE в рублях. Современное предобучение ограничивает ретроспективные выводы.</a:t>
            </a:r>
          </a:p>
        </p:txBody>
      </p:sp>
      <p:graphicFrame>
        <p:nvGraphicFramePr>
          <p:cNvPr id="9" name=""/>
          <p:cNvGraphicFramePr/>
          <p:nvPr/>
        </p:nvGraphicFramePr>
        <p:xfrm>
          <a:off xmlns:a="http://schemas.openxmlformats.org/drawingml/2006/main" x="609600" y="1362075"/>
          <a:ext xmlns:a="http://schemas.openxmlformats.org/drawingml/2006/main" cx="10972800" cy="3762375"/>
        </p:xfrm>
        <a:graphic xmlns:a="http://schemas.openxmlformats.org/drawingml/2006/main">
          <a:graphicData uri="http://schemas.openxmlformats.org/drawingml/2006/table">
            <a:tbl>
              <a:tblPr firstRow="1" bandRow="0"/>
              <a:tblGrid>
                <a:gridCol w="3810000"/>
                <a:gridCol w="1790700"/>
                <a:gridCol w="1790700"/>
                <a:gridCol w="1790700"/>
                <a:gridCol w="1790700"/>
              </a:tblGrid>
              <a:tr h="342034">
                <a:tc>
                  <a:txBody>
                    <a:bodyPr/>
                    <a:lstStyle/>
                    <a:p>
                      <a:r>
                        <a:rPr sz="1725" b="1">
                          <a:solidFill>
                            <a:srgbClr val="FFFFFF"/>
                          </a:solidFill>
                          <a:latin typeface="Noto Sans"/>
                          <a:ea typeface="Noto Sans"/>
                          <a:cs typeface="Noto Sans"/>
                        </a:rPr>
                        <a:t>Модель</a:t>
                      </a:r>
                    </a:p>
                  </a:txBody>
                  <a:tcPr marL="91440" marR="91440" marT="45720" marB="45720">
                    <a:solidFill>
                      <a:srgbClr val="183B32"/>
                    </a:solidFill>
                  </a:tcPr>
                </a:tc>
                <a:tc>
                  <a:txBody>
                    <a:bodyPr/>
                    <a:lstStyle/>
                    <a:p>
                      <a:r>
                        <a:rPr sz="1725" b="1">
                          <a:solidFill>
                            <a:srgbClr val="FFFFFF"/>
                          </a:solidFill>
                          <a:latin typeface="Noto Sans"/>
                          <a:ea typeface="Noto Sans"/>
                          <a:cs typeface="Noto Sans"/>
                        </a:rPr>
                        <a:t>h1</a:t>
                      </a:r>
                    </a:p>
                  </a:txBody>
                  <a:tcPr marL="91440" marR="91440" marT="45720" marB="45720">
                    <a:solidFill>
                      <a:srgbClr val="183B32"/>
                    </a:solidFill>
                  </a:tcPr>
                </a:tc>
                <a:tc>
                  <a:txBody>
                    <a:bodyPr/>
                    <a:lstStyle/>
                    <a:p>
                      <a:r>
                        <a:rPr sz="1725" b="1">
                          <a:solidFill>
                            <a:srgbClr val="FFFFFF"/>
                          </a:solidFill>
                          <a:latin typeface="Noto Sans"/>
                          <a:ea typeface="Noto Sans"/>
                          <a:cs typeface="Noto Sans"/>
                        </a:rPr>
                        <a:t>h3</a:t>
                      </a:r>
                    </a:p>
                  </a:txBody>
                  <a:tcPr marL="91440" marR="91440" marT="45720" marB="45720">
                    <a:solidFill>
                      <a:srgbClr val="183B32"/>
                    </a:solidFill>
                  </a:tcPr>
                </a:tc>
                <a:tc>
                  <a:txBody>
                    <a:bodyPr/>
                    <a:lstStyle/>
                    <a:p>
                      <a:r>
                        <a:rPr sz="1725" b="1">
                          <a:solidFill>
                            <a:srgbClr val="FFFFFF"/>
                          </a:solidFill>
                          <a:latin typeface="Noto Sans"/>
                          <a:ea typeface="Noto Sans"/>
                          <a:cs typeface="Noto Sans"/>
                        </a:rPr>
                        <a:t>h6</a:t>
                      </a:r>
                    </a:p>
                  </a:txBody>
                  <a:tcPr marL="91440" marR="91440" marT="45720" marB="45720">
                    <a:solidFill>
                      <a:srgbClr val="183B32"/>
                    </a:solidFill>
                  </a:tcPr>
                </a:tc>
                <a:tc>
                  <a:txBody>
                    <a:bodyPr/>
                    <a:lstStyle/>
                    <a:p>
                      <a:r>
                        <a:rPr sz="1725" b="1">
                          <a:solidFill>
                            <a:srgbClr val="FFFFFF"/>
                          </a:solidFill>
                          <a:latin typeface="Noto Sans"/>
                          <a:ea typeface="Noto Sans"/>
                          <a:cs typeface="Noto Sans"/>
                        </a:rPr>
                        <a:t>h12</a:t>
                      </a:r>
                    </a:p>
                  </a:txBody>
                  <a:tcPr marL="91440" marR="91440" marT="45720" marB="45720">
                    <a:solidFill>
                      <a:srgbClr val="183B32"/>
                    </a:solidFill>
                  </a:tcPr>
                </a:tc>
              </a:tr>
              <a:tr h="342034">
                <a:tc>
                  <a:txBody>
                    <a:bodyPr/>
                    <a:lstStyle/>
                    <a:p>
                      <a:r>
                        <a:rPr sz="1725" b="0">
                          <a:solidFill>
                            <a:srgbClr val="183B32"/>
                          </a:solidFill>
                          <a:latin typeface="Noto Sans"/>
                          <a:ea typeface="Noto Sans"/>
                          <a:cs typeface="Noto Sans"/>
                        </a:rPr>
                        <a:t>Сезонный контроль</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979</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1 633</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1 914</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4 854</a:t>
                      </a:r>
                    </a:p>
                  </a:txBody>
                  <a:tcPr marL="91440" marR="91440" marT="45720" marB="45720">
                    <a:solidFill>
                      <a:srgbClr val="F0F6F1"/>
                    </a:solidFill>
                  </a:tcPr>
                </a:tc>
              </a:tr>
              <a:tr h="342034">
                <a:tc>
                  <a:txBody>
                    <a:bodyPr/>
                    <a:lstStyle/>
                    <a:p>
                      <a:r>
                        <a:rPr sz="1725" b="1">
                          <a:solidFill>
                            <a:srgbClr val="183B32"/>
                          </a:solidFill>
                          <a:latin typeface="Noto Sans"/>
                          <a:ea typeface="Noto Sans"/>
                          <a:cs typeface="Noto Sans"/>
                        </a:rPr>
                        <a:t>Выбранная модель</a:t>
                      </a:r>
                    </a:p>
                  </a:txBody>
                  <a:tcPr marL="91440" marR="91440" marT="45720" marB="45720">
                    <a:solidFill>
                      <a:srgbClr val="D9EEE2"/>
                    </a:solidFill>
                  </a:tcPr>
                </a:tc>
                <a:tc>
                  <a:txBody>
                    <a:bodyPr/>
                    <a:lstStyle/>
                    <a:p>
                      <a:r>
                        <a:rPr sz="1725" b="1">
                          <a:solidFill>
                            <a:srgbClr val="183B32"/>
                          </a:solidFill>
                          <a:latin typeface="Noto Sans"/>
                          <a:ea typeface="Noto Sans"/>
                          <a:cs typeface="Noto Sans"/>
                        </a:rPr>
                        <a:t>921</a:t>
                      </a:r>
                    </a:p>
                  </a:txBody>
                  <a:tcPr marL="91440" marR="91440" marT="45720" marB="45720">
                    <a:solidFill>
                      <a:srgbClr val="D9EEE2"/>
                    </a:solidFill>
                  </a:tcPr>
                </a:tc>
                <a:tc>
                  <a:txBody>
                    <a:bodyPr/>
                    <a:lstStyle/>
                    <a:p>
                      <a:r>
                        <a:rPr sz="1725" b="1">
                          <a:solidFill>
                            <a:srgbClr val="183B32"/>
                          </a:solidFill>
                          <a:latin typeface="Noto Sans"/>
                          <a:ea typeface="Noto Sans"/>
                          <a:cs typeface="Noto Sans"/>
                        </a:rPr>
                        <a:t>1 246</a:t>
                      </a:r>
                    </a:p>
                  </a:txBody>
                  <a:tcPr marL="91440" marR="91440" marT="45720" marB="45720">
                    <a:solidFill>
                      <a:srgbClr val="D9EEE2"/>
                    </a:solidFill>
                  </a:tcPr>
                </a:tc>
                <a:tc>
                  <a:txBody>
                    <a:bodyPr/>
                    <a:lstStyle/>
                    <a:p>
                      <a:r>
                        <a:rPr sz="1725" b="1">
                          <a:solidFill>
                            <a:srgbClr val="183B32"/>
                          </a:solidFill>
                          <a:latin typeface="Noto Sans"/>
                          <a:ea typeface="Noto Sans"/>
                          <a:cs typeface="Noto Sans"/>
                        </a:rPr>
                        <a:t>1 338</a:t>
                      </a:r>
                    </a:p>
                  </a:txBody>
                  <a:tcPr marL="91440" marR="91440" marT="45720" marB="45720">
                    <a:solidFill>
                      <a:srgbClr val="D9EEE2"/>
                    </a:solidFill>
                  </a:tcPr>
                </a:tc>
                <a:tc>
                  <a:txBody>
                    <a:bodyPr/>
                    <a:lstStyle/>
                    <a:p>
                      <a:r>
                        <a:rPr sz="1725" b="1">
                          <a:solidFill>
                            <a:srgbClr val="183B32"/>
                          </a:solidFill>
                          <a:latin typeface="Noto Sans"/>
                          <a:ea typeface="Noto Sans"/>
                          <a:cs typeface="Noto Sans"/>
                        </a:rPr>
                        <a:t>1 357</a:t>
                      </a:r>
                    </a:p>
                  </a:txBody>
                  <a:tcPr marL="91440" marR="91440" marT="45720" marB="45720">
                    <a:solidFill>
                      <a:srgbClr val="D9EEE2"/>
                    </a:solidFill>
                  </a:tcPr>
                </a:tc>
              </a:tr>
              <a:tr h="342034">
                <a:tc>
                  <a:txBody>
                    <a:bodyPr/>
                    <a:lstStyle/>
                    <a:p>
                      <a:r>
                        <a:rPr sz="1725" b="0">
                          <a:solidFill>
                            <a:srgbClr val="183B32"/>
                          </a:solidFill>
                          <a:latin typeface="Noto Sans"/>
                          <a:ea typeface="Noto Sans"/>
                          <a:cs typeface="Noto Sans"/>
                        </a:rPr>
                        <a:t>TimesFM 2.5</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2 078</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2 695</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4 148</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9 134</a:t>
                      </a:r>
                    </a:p>
                  </a:txBody>
                  <a:tcPr marL="91440" marR="91440" marT="45720" marB="45720">
                    <a:solidFill>
                      <a:srgbClr val="F0F6F1"/>
                    </a:solidFill>
                  </a:tcPr>
                </a:tc>
              </a:tr>
              <a:tr h="342034">
                <a:tc>
                  <a:txBody>
                    <a:bodyPr/>
                    <a:lstStyle/>
                    <a:p>
                      <a:r>
                        <a:rPr sz="1725" b="0">
                          <a:solidFill>
                            <a:srgbClr val="183B32"/>
                          </a:solidFill>
                          <a:latin typeface="Noto Sans"/>
                          <a:ea typeface="Noto Sans"/>
                          <a:cs typeface="Noto Sans"/>
                        </a:rPr>
                        <a:t>TimesFM · отношение</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1 147</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2 010</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2 701</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4 966</a:t>
                      </a:r>
                    </a:p>
                  </a:txBody>
                  <a:tcPr marL="91440" marR="91440" marT="45720" marB="45720">
                    <a:solidFill>
                      <a:srgbClr val="FFFFFF"/>
                    </a:solidFill>
                  </a:tcPr>
                </a:tc>
              </a:tr>
              <a:tr h="342034">
                <a:tc>
                  <a:txBody>
                    <a:bodyPr/>
                    <a:lstStyle/>
                    <a:p>
                      <a:r>
                        <a:rPr sz="1725" b="0">
                          <a:solidFill>
                            <a:srgbClr val="183B32"/>
                          </a:solidFill>
                          <a:latin typeface="Noto Sans"/>
                          <a:ea typeface="Noto Sans"/>
                          <a:cs typeface="Noto Sans"/>
                        </a:rPr>
                        <a:t>Moirai 2</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2 535</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2 972</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3 664</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12 613</a:t>
                      </a:r>
                    </a:p>
                  </a:txBody>
                  <a:tcPr marL="91440" marR="91440" marT="45720" marB="45720">
                    <a:solidFill>
                      <a:srgbClr val="F0F6F1"/>
                    </a:solidFill>
                  </a:tcPr>
                </a:tc>
              </a:tr>
              <a:tr h="342034">
                <a:tc>
                  <a:txBody>
                    <a:bodyPr/>
                    <a:lstStyle/>
                    <a:p>
                      <a:r>
                        <a:rPr sz="1725" b="0">
                          <a:solidFill>
                            <a:srgbClr val="183B32"/>
                          </a:solidFill>
                          <a:latin typeface="Noto Sans"/>
                          <a:ea typeface="Noto Sans"/>
                          <a:cs typeface="Noto Sans"/>
                        </a:rPr>
                        <a:t>Moirai · отношение</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1 287</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1 801</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2 302</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7 369</a:t>
                      </a:r>
                    </a:p>
                  </a:txBody>
                  <a:tcPr marL="91440" marR="91440" marT="45720" marB="45720">
                    <a:solidFill>
                      <a:srgbClr val="FFFFFF"/>
                    </a:solidFill>
                  </a:tcPr>
                </a:tc>
              </a:tr>
              <a:tr h="342034">
                <a:tc>
                  <a:txBody>
                    <a:bodyPr/>
                    <a:lstStyle/>
                    <a:p>
                      <a:r>
                        <a:rPr sz="1725" b="0">
                          <a:solidFill>
                            <a:srgbClr val="183B32"/>
                          </a:solidFill>
                          <a:latin typeface="Noto Sans"/>
                          <a:ea typeface="Noto Sans"/>
                          <a:cs typeface="Noto Sans"/>
                        </a:rPr>
                        <a:t>TiRex</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2 368</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3 232</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5 321</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12 373</a:t>
                      </a:r>
                    </a:p>
                  </a:txBody>
                  <a:tcPr marL="91440" marR="91440" marT="45720" marB="45720">
                    <a:solidFill>
                      <a:srgbClr val="F0F6F1"/>
                    </a:solidFill>
                  </a:tcPr>
                </a:tc>
              </a:tr>
              <a:tr h="342034">
                <a:tc>
                  <a:txBody>
                    <a:bodyPr/>
                    <a:lstStyle/>
                    <a:p>
                      <a:r>
                        <a:rPr sz="1725" b="0">
                          <a:solidFill>
                            <a:srgbClr val="183B32"/>
                          </a:solidFill>
                          <a:latin typeface="Noto Sans"/>
                          <a:ea typeface="Noto Sans"/>
                          <a:cs typeface="Noto Sans"/>
                        </a:rPr>
                        <a:t>TiRex · отношение</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1 204</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2 360</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3 519</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5 047</a:t>
                      </a:r>
                    </a:p>
                  </a:txBody>
                  <a:tcPr marL="91440" marR="91440" marT="45720" marB="45720">
                    <a:solidFill>
                      <a:srgbClr val="FFFFFF"/>
                    </a:solidFill>
                  </a:tcPr>
                </a:tc>
              </a:tr>
              <a:tr h="342034">
                <a:tc>
                  <a:txBody>
                    <a:bodyPr/>
                    <a:lstStyle/>
                    <a:p>
                      <a:r>
                        <a:rPr sz="1725" b="0">
                          <a:solidFill>
                            <a:srgbClr val="183B32"/>
                          </a:solidFill>
                          <a:latin typeface="Noto Sans"/>
                          <a:ea typeface="Noto Sans"/>
                          <a:cs typeface="Noto Sans"/>
                        </a:rPr>
                        <a:t>Bolt · исходный</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2 416</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2 777</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4 353</a:t>
                      </a:r>
                    </a:p>
                  </a:txBody>
                  <a:tcPr marL="91440" marR="91440" marT="45720" marB="45720">
                    <a:solidFill>
                      <a:srgbClr val="F0F6F1"/>
                    </a:solidFill>
                  </a:tcPr>
                </a:tc>
                <a:tc>
                  <a:txBody>
                    <a:bodyPr/>
                    <a:lstStyle/>
                    <a:p>
                      <a:r>
                        <a:rPr sz="1725" b="0">
                          <a:solidFill>
                            <a:srgbClr val="183B32"/>
                          </a:solidFill>
                          <a:latin typeface="Noto Sans"/>
                          <a:ea typeface="Noto Sans"/>
                          <a:cs typeface="Noto Sans"/>
                        </a:rPr>
                        <a:t>10 587</a:t>
                      </a:r>
                    </a:p>
                  </a:txBody>
                  <a:tcPr marL="91440" marR="91440" marT="45720" marB="45720">
                    <a:solidFill>
                      <a:srgbClr val="F0F6F1"/>
                    </a:solidFill>
                  </a:tcPr>
                </a:tc>
              </a:tr>
              <a:tr h="342034">
                <a:tc>
                  <a:txBody>
                    <a:bodyPr/>
                    <a:lstStyle/>
                    <a:p>
                      <a:r>
                        <a:rPr sz="1725" b="0">
                          <a:solidFill>
                            <a:srgbClr val="183B32"/>
                          </a:solidFill>
                          <a:latin typeface="Noto Sans"/>
                          <a:ea typeface="Noto Sans"/>
                          <a:cs typeface="Noto Sans"/>
                        </a:rPr>
                        <a:t>Bolt · одна эпоха</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1 886</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2 367</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3 901</a:t>
                      </a:r>
                    </a:p>
                  </a:txBody>
                  <a:tcPr marL="91440" marR="91440" marT="45720" marB="45720">
                    <a:solidFill>
                      <a:srgbClr val="FFFFFF"/>
                    </a:solidFill>
                  </a:tcPr>
                </a:tc>
                <a:tc>
                  <a:txBody>
                    <a:bodyPr/>
                    <a:lstStyle/>
                    <a:p>
                      <a:r>
                        <a:rPr sz="1725" b="0">
                          <a:solidFill>
                            <a:srgbClr val="183B32"/>
                          </a:solidFill>
                          <a:latin typeface="Noto Sans"/>
                          <a:ea typeface="Noto Sans"/>
                          <a:cs typeface="Noto Sans"/>
                        </a:rPr>
                        <a:t>10 824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BAA9258-5F78-4326-A895-66A302EE3FFC}"/>
              </a:ext>
            </a:extLst>
          </p:cNvPr>
          <p:cNvSpPr>
            <a:spLocks xmlns:a="http://schemas.openxmlformats.org/drawingml/2006/main" noGrp="1"/>
          </p:cNvSpPr>
          <p:nvPr/>
        </p:nvSpPr>
        <p:spPr>
          <a:xfrm xmlns:a="http://schemas.openxmlformats.org/drawingml/2006/main">
            <a:off x="609600" y="52863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0C825D"/>
                </a:solidFill>
                <a:latin typeface="Noto Sans"/>
                <a:ea typeface="Noto Sans"/>
                <a:cs typeface="Noto Sans"/>
              </a:defRPr>
            </a:pPr>
            <a:r>
              <a:rPr sz="1800" b="0">
                <a:solidFill>
                  <a:srgbClr val="0C825D"/>
                </a:solidFill>
                <a:latin typeface="Noto Sans"/>
                <a:ea typeface="Noto Sans"/>
                <a:cs typeface="Noto Sans"/>
              </a:rPr>
              <a:t>Работают без дообучения на МО с историей</a:t>
            </a:r>
          </a:p>
          <a:p xmlns:a="http://schemas.openxmlformats.org/drawingml/2006/main">
            <a:pPr>
              <a:defRPr sz="1800" b="0">
                <a:solidFill>
                  <a:srgbClr val="0C825D"/>
                </a:solidFill>
                <a:latin typeface="Noto Sans"/>
                <a:ea typeface="Noto Sans"/>
                <a:cs typeface="Noto Sans"/>
              </a:defRPr>
            </a:pPr>
            <a:r>
              <a:rPr sz="1800" b="0">
                <a:solidFill>
                  <a:srgbClr val="0C825D"/>
                </a:solidFill>
                <a:latin typeface="Noto Sans"/>
                <a:ea typeface="Noto Sans"/>
                <a:cs typeface="Noto Sans"/>
              </a:rPr>
              <a:t>На МО без истории не проверялись</a:t>
            </a:r>
          </a:p>
        </p:txBody>
      </p:sp>
    </p:spTree>
    <p:extLst>
      <p:ext uri="{BB962C8B-B14F-4D97-AF65-F5344CB8AC3E}">
        <p14:creationId xmlns:p14="http://schemas.microsoft.com/office/powerpoint/2010/main" val="1059606114"/>
      </p:ext>
    </p:extLst>
  </p:cSld>
</p:sld>
</file>

<file path=ppt/slides/slide11.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F6E93E4-3A05-4147-896D-94E6615A4AFB}"/>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Foundation-модели: преимущества и ограничения</a:t>
            </a:r>
          </a:p>
        </p:txBody>
      </p:sp>
      <p:sp>
        <p:nvSpPr>
          <p:cNvPr id="2" name="">
            <a:extLst xmlns:a="http://schemas.openxmlformats.org/drawingml/2006/main">
              <a:ext uri="{FF2B5EF4-FFF2-40B4-BE49-F238E27FC236}">
                <a16:creationId xmlns:a16="http://schemas.microsoft.com/office/drawing/2014/main" id="{ADD0CA2C-0657-4974-97EC-AFB55746314C}"/>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11 / 21</a:t>
            </a:r>
          </a:p>
        </p:txBody>
      </p:sp>
      <p:sp>
        <p:nvSpPr>
          <p:cNvPr id="3" name="">
            <a:extLst xmlns:a="http://schemas.openxmlformats.org/drawingml/2006/main">
              <a:ext uri="{FF2B5EF4-FFF2-40B4-BE49-F238E27FC236}">
                <a16:creationId xmlns:a16="http://schemas.microsoft.com/office/drawing/2014/main" id="{51089756-6954-4099-BD14-9040D5FB8C25}"/>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Контроли различаются: уменьшение ошибки внутри семейства не означает превосходства выбранной сезонной модели.</a:t>
            </a:r>
          </a:p>
        </p:txBody>
      </p:sp>
      <p:sp>
        <p:nvSpPr>
          <p:cNvPr id="4" name="">
            <a:extLst xmlns:a="http://schemas.openxmlformats.org/drawingml/2006/main">
              <a:ext uri="{FF2B5EF4-FFF2-40B4-BE49-F238E27FC236}">
                <a16:creationId xmlns:a16="http://schemas.microsoft.com/office/drawing/2014/main" id="{EDF1D3A9-952F-46B3-B522-21E39CEE07C9}"/>
              </a:ext>
            </a:extLst>
          </p:cNvPr>
          <p:cNvSpPr>
            <a:spLocks xmlns:a="http://schemas.openxmlformats.org/drawingml/2006/main" noGrp="1"/>
          </p:cNvSpPr>
          <p:nvPr/>
        </p:nvSpPr>
        <p:spPr>
          <a:xfrm xmlns:a="http://schemas.openxmlformats.org/drawingml/2006/main">
            <a:off x="609600" y="1657350"/>
            <a:ext cx="5334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0C825D"/>
                </a:solidFill>
                <a:latin typeface="Noto Sans"/>
                <a:ea typeface="Noto Sans"/>
                <a:cs typeface="Noto Sans"/>
              </a:defRPr>
            </a:pPr>
            <a:r>
              <a:rPr sz="2250" b="1">
                <a:solidFill>
                  <a:srgbClr val="0C825D"/>
                </a:solidFill>
                <a:latin typeface="Noto Sans"/>
                <a:ea typeface="Noto Sans"/>
                <a:cs typeface="Noto Sans"/>
              </a:rPr>
              <a:t>Преимущества в экспериментах</a:t>
            </a:r>
          </a:p>
        </p:txBody>
      </p:sp>
      <p:sp>
        <p:nvSpPr>
          <p:cNvPr id="5" name="">
            <a:extLst xmlns:a="http://schemas.openxmlformats.org/drawingml/2006/main">
              <a:ext uri="{FF2B5EF4-FFF2-40B4-BE49-F238E27FC236}">
                <a16:creationId xmlns:a16="http://schemas.microsoft.com/office/drawing/2014/main" id="{4A2CD585-7343-4CF7-93E3-02A51F8910BA}"/>
              </a:ext>
            </a:extLst>
          </p:cNvPr>
          <p:cNvSpPr>
            <a:spLocks xmlns:a="http://schemas.openxmlformats.org/drawingml/2006/main" noGrp="1"/>
          </p:cNvSpPr>
          <p:nvPr/>
        </p:nvSpPr>
        <p:spPr>
          <a:xfrm xmlns:a="http://schemas.openxmlformats.org/drawingml/2006/main">
            <a:off x="609600" y="2590800"/>
            <a:ext cx="5381625" cy="2686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83B32"/>
                </a:solidFill>
                <a:latin typeface="Noto Sans"/>
                <a:ea typeface="Noto Sans"/>
                <a:cs typeface="Noto Sans"/>
              </a:defRPr>
            </a:pPr>
            <a:r>
              <a:rPr sz="1950" b="0">
                <a:solidFill>
                  <a:srgbClr val="183B32"/>
                </a:solidFill>
                <a:latin typeface="Noto Sans"/>
                <a:ea typeface="Noto Sans"/>
                <a:cs typeface="Noto Sans"/>
              </a:rPr>
              <a:t>Без дообучения на новых МО с историей</a:t>
            </a:r>
          </a:p>
          <a:p xmlns:a="http://schemas.openxmlformats.org/drawingml/2006/main">
            <a:r>
              <a:t/>
            </a:r>
          </a:p>
          <a:p xmlns:a="http://schemas.openxmlformats.org/drawingml/2006/main">
            <a:pPr>
              <a:defRPr sz="1950" b="0">
                <a:solidFill>
                  <a:srgbClr val="183B32"/>
                </a:solidFill>
                <a:latin typeface="Noto Sans"/>
                <a:ea typeface="Noto Sans"/>
                <a:cs typeface="Noto Sans"/>
              </a:defRPr>
            </a:pPr>
            <a:r>
              <a:rPr sz="1950" b="0">
                <a:solidFill>
                  <a:srgbClr val="183B32"/>
                </a:solidFill>
                <a:latin typeface="Noto Sans"/>
                <a:ea typeface="Noto Sans"/>
                <a:cs typeface="Noto Sans"/>
              </a:rPr>
              <a:t>TimesFM: сезонное отношение</a:t>
            </a:r>
          </a:p>
          <a:p xmlns:a="http://schemas.openxmlformats.org/drawingml/2006/main">
            <a:pPr>
              <a:defRPr sz="1950" b="0">
                <a:solidFill>
                  <a:srgbClr val="183B32"/>
                </a:solidFill>
                <a:latin typeface="Noto Sans"/>
                <a:ea typeface="Noto Sans"/>
                <a:cs typeface="Noto Sans"/>
              </a:defRPr>
            </a:pPr>
            <a:r>
              <a:rPr sz="1950" b="0">
                <a:solidFill>
                  <a:srgbClr val="183B32"/>
                </a:solidFill>
                <a:latin typeface="Noto Sans"/>
                <a:ea typeface="Noto Sans"/>
                <a:cs typeface="Noto Sans"/>
              </a:rPr>
              <a:t>−45% MAE на h1 к zero-shot</a:t>
            </a:r>
          </a:p>
          <a:p xmlns:a="http://schemas.openxmlformats.org/drawingml/2006/main">
            <a:r>
              <a:t/>
            </a:r>
          </a:p>
          <a:p xmlns:a="http://schemas.openxmlformats.org/drawingml/2006/main">
            <a:pPr>
              <a:defRPr sz="1950" b="0">
                <a:solidFill>
                  <a:srgbClr val="183B32"/>
                </a:solidFill>
                <a:latin typeface="Noto Sans"/>
                <a:ea typeface="Noto Sans"/>
                <a:cs typeface="Noto Sans"/>
              </a:defRPr>
            </a:pPr>
            <a:r>
              <a:rPr sz="1950" b="0">
                <a:solidFill>
                  <a:srgbClr val="183B32"/>
                </a:solidFill>
                <a:latin typeface="Noto Sans"/>
                <a:ea typeface="Noto Sans"/>
                <a:cs typeface="Noto Sans"/>
              </a:rPr>
              <a:t>Bolt: одна эпоха обучения −22% на h1</a:t>
            </a:r>
          </a:p>
          <a:p xmlns:a="http://schemas.openxmlformats.org/drawingml/2006/main">
            <a:r>
              <a:t/>
            </a:r>
          </a:p>
          <a:p xmlns:a="http://schemas.openxmlformats.org/drawingml/2006/main">
            <a:pPr>
              <a:defRPr sz="1950" b="0">
                <a:solidFill>
                  <a:srgbClr val="183B32"/>
                </a:solidFill>
                <a:latin typeface="Noto Sans"/>
                <a:ea typeface="Noto Sans"/>
                <a:cs typeface="Noto Sans"/>
              </a:defRPr>
            </a:pPr>
            <a:r>
              <a:rPr sz="1950" b="0">
                <a:solidFill>
                  <a:srgbClr val="183B32"/>
                </a:solidFill>
                <a:latin typeface="Noto Sans"/>
                <a:ea typeface="Noto Sans"/>
                <a:cs typeface="Noto Sans"/>
              </a:rPr>
              <a:t>Групповой Chronos-2: −27% на h1</a:t>
            </a:r>
          </a:p>
        </p:txBody>
      </p:sp>
      <p:sp>
        <p:nvSpPr>
          <p:cNvPr id="6" name="">
            <a:extLst xmlns:a="http://schemas.openxmlformats.org/drawingml/2006/main">
              <a:ext uri="{FF2B5EF4-FFF2-40B4-BE49-F238E27FC236}">
                <a16:creationId xmlns:a16="http://schemas.microsoft.com/office/drawing/2014/main" id="{3B58F9BB-0B47-46E1-9078-B00A64E20B93}"/>
              </a:ext>
            </a:extLst>
          </p:cNvPr>
          <p:cNvSpPr>
            <a:spLocks xmlns:a="http://schemas.openxmlformats.org/drawingml/2006/main" noGrp="1"/>
          </p:cNvSpPr>
          <p:nvPr/>
        </p:nvSpPr>
        <p:spPr>
          <a:xfrm xmlns:a="http://schemas.openxmlformats.org/drawingml/2006/main">
            <a:off x="6334125" y="1657350"/>
            <a:ext cx="5238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0C825D"/>
                </a:solidFill>
                <a:latin typeface="Noto Sans"/>
                <a:ea typeface="Noto Sans"/>
                <a:cs typeface="Noto Sans"/>
              </a:defRPr>
            </a:pPr>
            <a:r>
              <a:rPr sz="2250" b="1">
                <a:solidFill>
                  <a:srgbClr val="0C825D"/>
                </a:solidFill>
                <a:latin typeface="Noto Sans"/>
                <a:ea typeface="Noto Sans"/>
                <a:cs typeface="Noto Sans"/>
              </a:rPr>
              <a:t>Границы применения</a:t>
            </a:r>
          </a:p>
        </p:txBody>
      </p:sp>
      <p:sp>
        <p:nvSpPr>
          <p:cNvPr id="7" name="">
            <a:extLst xmlns:a="http://schemas.openxmlformats.org/drawingml/2006/main">
              <a:ext uri="{FF2B5EF4-FFF2-40B4-BE49-F238E27FC236}">
                <a16:creationId xmlns:a16="http://schemas.microsoft.com/office/drawing/2014/main" id="{F51EDBA5-3046-4E51-B787-5CCBE0CB9287}"/>
              </a:ext>
            </a:extLst>
          </p:cNvPr>
          <p:cNvSpPr>
            <a:spLocks xmlns:a="http://schemas.openxmlformats.org/drawingml/2006/main" noGrp="1"/>
          </p:cNvSpPr>
          <p:nvPr/>
        </p:nvSpPr>
        <p:spPr>
          <a:xfrm xmlns:a="http://schemas.openxmlformats.org/drawingml/2006/main">
            <a:off x="6334125" y="2590800"/>
            <a:ext cx="5238750" cy="2686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83B32"/>
                </a:solidFill>
                <a:latin typeface="Noto Sans"/>
                <a:ea typeface="Noto Sans"/>
                <a:cs typeface="Noto Sans"/>
              </a:defRPr>
            </a:pPr>
            <a:r>
              <a:rPr sz="1950" b="0">
                <a:solidFill>
                  <a:srgbClr val="183B32"/>
                </a:solidFill>
                <a:latin typeface="Noto Sans"/>
                <a:ea typeface="Noto Sans"/>
                <a:cs typeface="Noto Sans"/>
              </a:rPr>
              <a:t>Год истории даёт один сезонный цикл</a:t>
            </a:r>
          </a:p>
          <a:p xmlns:a="http://schemas.openxmlformats.org/drawingml/2006/main">
            <a:r>
              <a:t/>
            </a:r>
          </a:p>
          <a:p xmlns:a="http://schemas.openxmlformats.org/drawingml/2006/main">
            <a:pPr>
              <a:defRPr sz="1950" b="0">
                <a:solidFill>
                  <a:srgbClr val="183B32"/>
                </a:solidFill>
                <a:latin typeface="Noto Sans"/>
                <a:ea typeface="Noto Sans"/>
                <a:cs typeface="Noto Sans"/>
              </a:defRPr>
            </a:pPr>
            <a:r>
              <a:rPr sz="1950" b="0">
                <a:solidFill>
                  <a:srgbClr val="183B32"/>
                </a:solidFill>
                <a:latin typeface="Noto Sans"/>
                <a:ea typeface="Noto Sans"/>
                <a:cs typeface="Noto Sans"/>
              </a:rPr>
              <a:t>Ошибка h12 в 3,7–9,3 раза выше</a:t>
            </a:r>
          </a:p>
          <a:p xmlns:a="http://schemas.openxmlformats.org/drawingml/2006/main">
            <a:pPr>
              <a:defRPr sz="1950" b="0">
                <a:solidFill>
                  <a:srgbClr val="183B32"/>
                </a:solidFill>
                <a:latin typeface="Noto Sans"/>
                <a:ea typeface="Noto Sans"/>
                <a:cs typeface="Noto Sans"/>
              </a:defRPr>
            </a:pPr>
            <a:r>
              <a:rPr sz="1950" b="0">
                <a:solidFill>
                  <a:srgbClr val="183B32"/>
                </a:solidFill>
                <a:latin typeface="Noto Sans"/>
                <a:ea typeface="Noto Sans"/>
                <a:cs typeface="Noto Sans"/>
              </a:rPr>
              <a:t>выбранной модели на той же выборке</a:t>
            </a:r>
          </a:p>
          <a:p xmlns:a="http://schemas.openxmlformats.org/drawingml/2006/main">
            <a:r>
              <a:t/>
            </a:r>
          </a:p>
          <a:p xmlns:a="http://schemas.openxmlformats.org/drawingml/2006/main">
            <a:pPr>
              <a:defRPr sz="1950" b="0">
                <a:solidFill>
                  <a:srgbClr val="183B32"/>
                </a:solidFill>
                <a:latin typeface="Noto Sans"/>
                <a:ea typeface="Noto Sans"/>
                <a:cs typeface="Noto Sans"/>
              </a:defRPr>
            </a:pPr>
            <a:r>
              <a:rPr sz="1950" b="0">
                <a:solidFill>
                  <a:srgbClr val="183B32"/>
                </a:solidFill>
                <a:latin typeface="Noto Sans"/>
                <a:ea typeface="Noto Sans"/>
                <a:cs typeface="Noto Sans"/>
              </a:rPr>
              <a:t>Состав предобучения неизвестен</a:t>
            </a:r>
          </a:p>
          <a:p xmlns:a="http://schemas.openxmlformats.org/drawingml/2006/main">
            <a:r>
              <a:t/>
            </a:r>
          </a:p>
          <a:p xmlns:a="http://schemas.openxmlformats.org/drawingml/2006/main">
            <a:pPr>
              <a:defRPr sz="1950" b="0">
                <a:solidFill>
                  <a:srgbClr val="183B32"/>
                </a:solidFill>
                <a:latin typeface="Noto Sans"/>
                <a:ea typeface="Noto Sans"/>
                <a:cs typeface="Noto Sans"/>
              </a:defRPr>
            </a:pPr>
            <a:r>
              <a:rPr sz="1950" b="0">
                <a:solidFill>
                  <a:srgbClr val="183B32"/>
                </a:solidFill>
                <a:latin typeface="Noto Sans"/>
                <a:ea typeface="Noto Sans"/>
                <a:cs typeface="Noto Sans"/>
              </a:rPr>
              <a:t>Применение без истории не проверяли</a:t>
            </a:r>
          </a:p>
        </p:txBody>
      </p:sp>
    </p:spTree>
    <p:extLst>
      <p:ext uri="{BB962C8B-B14F-4D97-AF65-F5344CB8AC3E}">
        <p14:creationId xmlns:p14="http://schemas.microsoft.com/office/powerpoint/2010/main" val="1389702177"/>
      </p:ext>
    </p:extLst>
  </p:cSld>
</p:sld>
</file>

<file path=ppt/slides/slide12.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D0EAD5-AC4B-4947-A716-6086642B4686}"/>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Реальные МО: факт, прогноз и интервал</a:t>
            </a:r>
          </a:p>
        </p:txBody>
      </p:sp>
      <p:sp>
        <p:nvSpPr>
          <p:cNvPr id="2" name="">
            <a:extLst xmlns:a="http://schemas.openxmlformats.org/drawingml/2006/main">
              <a:ext uri="{FF2B5EF4-FFF2-40B4-BE49-F238E27FC236}">
                <a16:creationId xmlns:a16="http://schemas.microsoft.com/office/drawing/2014/main" id="{F24BB519-D773-45B9-A40C-CDF68EF70E89}"/>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12 / 21</a:t>
            </a:r>
          </a:p>
        </p:txBody>
      </p:sp>
      <p:sp>
        <p:nvSpPr>
          <p:cNvPr id="3" name="">
            <a:extLst xmlns:a="http://schemas.openxmlformats.org/drawingml/2006/main">
              <a:ext uri="{FF2B5EF4-FFF2-40B4-BE49-F238E27FC236}">
                <a16:creationId xmlns:a16="http://schemas.microsoft.com/office/drawing/2014/main" id="{D92FCF46-EF91-4D13-9B10-954FF789CD44}"/>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Скользящие прогнозы h1. Иллюстративные 80% интервалы: ошибки трёх прошлых месяцев, масштаб 2023; лаг 0, гарантий покрытия нет.</a:t>
            </a:r>
          </a:p>
        </p:txBody>
      </p:sp>
      <p:sp>
        <p:nvSpPr>
          <p:cNvPr id="4" name="">
            <a:extLst xmlns:a="http://schemas.openxmlformats.org/drawingml/2006/main">
              <a:ext uri="{FF2B5EF4-FFF2-40B4-BE49-F238E27FC236}">
                <a16:creationId xmlns:a16="http://schemas.microsoft.com/office/drawing/2014/main" id="{5AD00206-1A92-4457-8D43-7860B80B5890}"/>
              </a:ext>
            </a:extLst>
          </p:cNvPr>
          <p:cNvSpPr>
            <a:spLocks xmlns:a="http://schemas.openxmlformats.org/drawingml/2006/main" noGrp="1"/>
          </p:cNvSpPr>
          <p:nvPr/>
        </p:nvSpPr>
        <p:spPr>
          <a:xfrm xmlns:a="http://schemas.openxmlformats.org/drawingml/2006/main">
            <a:off x="609600" y="13906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B32"/>
                </a:solidFill>
                <a:latin typeface="Noto Sans"/>
                <a:ea typeface="Noto Sans"/>
                <a:cs typeface="Noto Sans"/>
              </a:defRPr>
            </a:pPr>
            <a:r>
              <a:rPr sz="1875" b="0">
                <a:solidFill>
                  <a:srgbClr val="183B32"/>
                </a:solidFill>
                <a:latin typeface="Noto Sans"/>
                <a:ea typeface="Noto Sans"/>
                <a:cs typeface="Noto Sans"/>
              </a:rPr>
              <a:t>Факт — тёмная линия · прогноз — зелёная · светлые линии — границы интервала</a:t>
            </a:r>
          </a:p>
        </p:txBody>
      </p:sp>
      <p:sp>
        <p:nvSpPr>
          <p:cNvPr id="5" name="">
            <a:extLst xmlns:a="http://schemas.openxmlformats.org/drawingml/2006/main">
              <a:ext uri="{FF2B5EF4-FFF2-40B4-BE49-F238E27FC236}">
                <a16:creationId xmlns:a16="http://schemas.microsoft.com/office/drawing/2014/main" id="{F1428185-B17C-435E-BBDF-914168489BBE}"/>
              </a:ext>
            </a:extLst>
          </p:cNvPr>
          <p:cNvSpPr>
            <a:spLocks xmlns:a="http://schemas.openxmlformats.org/drawingml/2006/main" noGrp="1"/>
          </p:cNvSpPr>
          <p:nvPr/>
        </p:nvSpPr>
        <p:spPr>
          <a:xfrm xmlns:a="http://schemas.openxmlformats.org/drawingml/2006/main">
            <a:off x="609600" y="1943100"/>
            <a:ext cx="3571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3B32"/>
                </a:solidFill>
                <a:latin typeface="Noto Sans"/>
                <a:ea typeface="Noto Sans"/>
                <a:cs typeface="Noto Sans"/>
              </a:defRPr>
            </a:pPr>
            <a:r>
              <a:rPr sz="2175" b="1">
                <a:solidFill>
                  <a:srgbClr val="183B32"/>
                </a:solidFill>
                <a:latin typeface="Noto Sans"/>
                <a:ea typeface="Noto Sans"/>
                <a:cs typeface="Noto Sans"/>
              </a:rPr>
              <a:t>Уфа</a:t>
            </a:r>
          </a:p>
        </p:txBody>
      </p:sp>
      <p:graphicFrame>
        <p:nvGraphicFramePr>
          <p:cNvPr id="21" name="Chart"/>
          <p:cNvGraphicFramePr/>
          <p:nvPr/>
        </p:nvGraphicFramePr>
        <p:xfrm>
          <a:off xmlns:a="http://schemas.openxmlformats.org/drawingml/2006/main" x="609600" y="2571750"/>
          <a:ext xmlns:a="http://schemas.openxmlformats.org/drawingml/2006/main" cx="3571875" cy="2743200"/>
        </p:xfrm>
        <a:graphic xmlns:a="http://schemas.openxmlformats.org/drawingml/2006/main">
          <a:graphicData uri="http://schemas.openxmlformats.org/drawingml/2006/chart">
            <c:chart xmlns:r="http://schemas.openxmlformats.org/officeDocument/2006/relationships" xmlns:c="http://schemas.openxmlformats.org/drawingml/2006/chart" r:id="R1df8ec3a6c8c4bec"/>
          </a:graphicData>
        </a:graphic>
      </p:graphicFrame>
      <p:sp>
        <p:nvSpPr>
          <p:cNvPr id="7" name="">
            <a:extLst xmlns:a="http://schemas.openxmlformats.org/drawingml/2006/main">
              <a:ext uri="{FF2B5EF4-FFF2-40B4-BE49-F238E27FC236}">
                <a16:creationId xmlns:a16="http://schemas.microsoft.com/office/drawing/2014/main" id="{6F3BAAFE-E625-4D48-9AC8-E7AE226B2BC7}"/>
              </a:ext>
            </a:extLst>
          </p:cNvPr>
          <p:cNvSpPr>
            <a:spLocks xmlns:a="http://schemas.openxmlformats.org/drawingml/2006/main" noGrp="1"/>
          </p:cNvSpPr>
          <p:nvPr/>
        </p:nvSpPr>
        <p:spPr>
          <a:xfrm xmlns:a="http://schemas.openxmlformats.org/drawingml/2006/main">
            <a:off x="609600" y="5410200"/>
            <a:ext cx="3571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2706C"/>
                </a:solidFill>
                <a:latin typeface="Noto Sans"/>
                <a:ea typeface="Noto Sans"/>
                <a:cs typeface="Noto Sans"/>
              </a:defRPr>
            </a:pPr>
            <a:r>
              <a:rPr sz="1725" b="0">
                <a:solidFill>
                  <a:srgbClr val="62706C"/>
                </a:solidFill>
                <a:latin typeface="Noto Sans"/>
                <a:ea typeface="Noto Sans"/>
                <a:cs typeface="Noto Sans"/>
              </a:rPr>
              <a:t>Крупный город</a:t>
            </a:r>
          </a:p>
        </p:txBody>
      </p:sp>
      <p:sp>
        <p:nvSpPr>
          <p:cNvPr id="8" name="">
            <a:extLst xmlns:a="http://schemas.openxmlformats.org/drawingml/2006/main">
              <a:ext uri="{FF2B5EF4-FFF2-40B4-BE49-F238E27FC236}">
                <a16:creationId xmlns:a16="http://schemas.microsoft.com/office/drawing/2014/main" id="{87B19E78-8EAD-4C78-A8F5-1759F7E4C03A}"/>
              </a:ext>
            </a:extLst>
          </p:cNvPr>
          <p:cNvSpPr>
            <a:spLocks xmlns:a="http://schemas.openxmlformats.org/drawingml/2006/main" noGrp="1"/>
          </p:cNvSpPr>
          <p:nvPr/>
        </p:nvSpPr>
        <p:spPr>
          <a:xfrm xmlns:a="http://schemas.openxmlformats.org/drawingml/2006/main">
            <a:off x="4352925" y="1943100"/>
            <a:ext cx="3571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3B32"/>
                </a:solidFill>
                <a:latin typeface="Noto Sans"/>
                <a:ea typeface="Noto Sans"/>
                <a:cs typeface="Noto Sans"/>
              </a:defRPr>
            </a:pPr>
            <a:r>
              <a:rPr sz="2175" b="1">
                <a:solidFill>
                  <a:srgbClr val="183B32"/>
                </a:solidFill>
                <a:latin typeface="Noto Sans"/>
                <a:ea typeface="Noto Sans"/>
                <a:cs typeface="Noto Sans"/>
              </a:rPr>
              <a:t>Яльчикский</a:t>
            </a:r>
          </a:p>
        </p:txBody>
      </p:sp>
      <p:graphicFrame>
        <p:nvGraphicFramePr>
          <p:cNvPr id="24" name="Chart"/>
          <p:cNvGraphicFramePr/>
          <p:nvPr/>
        </p:nvGraphicFramePr>
        <p:xfrm>
          <a:off xmlns:a="http://schemas.openxmlformats.org/drawingml/2006/main" x="4352925" y="2571750"/>
          <a:ext xmlns:a="http://schemas.openxmlformats.org/drawingml/2006/main" cx="3571875" cy="2743200"/>
        </p:xfrm>
        <a:graphic xmlns:a="http://schemas.openxmlformats.org/drawingml/2006/main">
          <a:graphicData uri="http://schemas.openxmlformats.org/drawingml/2006/chart">
            <c:chart xmlns:r="http://schemas.openxmlformats.org/officeDocument/2006/relationships" xmlns:c="http://schemas.openxmlformats.org/drawingml/2006/chart" r:id="R4adbdb617bcd468c"/>
          </a:graphicData>
        </a:graphic>
      </p:graphicFrame>
      <p:sp>
        <p:nvSpPr>
          <p:cNvPr id="10" name="">
            <a:extLst xmlns:a="http://schemas.openxmlformats.org/drawingml/2006/main">
              <a:ext uri="{FF2B5EF4-FFF2-40B4-BE49-F238E27FC236}">
                <a16:creationId xmlns:a16="http://schemas.microsoft.com/office/drawing/2014/main" id="{A9102223-6376-46AD-B9AD-9CE4CB4CE72E}"/>
              </a:ext>
            </a:extLst>
          </p:cNvPr>
          <p:cNvSpPr>
            <a:spLocks xmlns:a="http://schemas.openxmlformats.org/drawingml/2006/main" noGrp="1"/>
          </p:cNvSpPr>
          <p:nvPr/>
        </p:nvSpPr>
        <p:spPr>
          <a:xfrm xmlns:a="http://schemas.openxmlformats.org/drawingml/2006/main">
            <a:off x="4352925" y="5410200"/>
            <a:ext cx="3571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2706C"/>
                </a:solidFill>
                <a:latin typeface="Noto Sans"/>
                <a:ea typeface="Noto Sans"/>
                <a:cs typeface="Noto Sans"/>
              </a:defRPr>
            </a:pPr>
            <a:r>
              <a:rPr sz="1725" b="0">
                <a:solidFill>
                  <a:srgbClr val="62706C"/>
                </a:solidFill>
                <a:latin typeface="Noto Sans"/>
                <a:ea typeface="Noto Sans"/>
                <a:cs typeface="Noto Sans"/>
              </a:rPr>
              <a:t>Район с низкими расходами</a:t>
            </a:r>
          </a:p>
        </p:txBody>
      </p:sp>
      <p:sp>
        <p:nvSpPr>
          <p:cNvPr id="11" name="">
            <a:extLst xmlns:a="http://schemas.openxmlformats.org/drawingml/2006/main">
              <a:ext uri="{FF2B5EF4-FFF2-40B4-BE49-F238E27FC236}">
                <a16:creationId xmlns:a16="http://schemas.microsoft.com/office/drawing/2014/main" id="{6C4110E2-09C0-4EFD-896B-72183D930712}"/>
              </a:ext>
            </a:extLst>
          </p:cNvPr>
          <p:cNvSpPr>
            <a:spLocks xmlns:a="http://schemas.openxmlformats.org/drawingml/2006/main" noGrp="1"/>
          </p:cNvSpPr>
          <p:nvPr/>
        </p:nvSpPr>
        <p:spPr>
          <a:xfrm xmlns:a="http://schemas.openxmlformats.org/drawingml/2006/main">
            <a:off x="8096250" y="1943100"/>
            <a:ext cx="3571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3B32"/>
                </a:solidFill>
                <a:latin typeface="Noto Sans"/>
                <a:ea typeface="Noto Sans"/>
                <a:cs typeface="Noto Sans"/>
              </a:defRPr>
            </a:pPr>
            <a:r>
              <a:rPr sz="2175" b="1">
                <a:solidFill>
                  <a:srgbClr val="183B32"/>
                </a:solidFill>
                <a:latin typeface="Noto Sans"/>
                <a:ea typeface="Noto Sans"/>
                <a:cs typeface="Noto Sans"/>
              </a:rPr>
              <a:t>Орск</a:t>
            </a:r>
          </a:p>
        </p:txBody>
      </p:sp>
      <p:graphicFrame>
        <p:nvGraphicFramePr>
          <p:cNvPr id="27" name="Chart"/>
          <p:cNvGraphicFramePr/>
          <p:nvPr/>
        </p:nvGraphicFramePr>
        <p:xfrm>
          <a:off xmlns:a="http://schemas.openxmlformats.org/drawingml/2006/main" x="8096250" y="2571750"/>
          <a:ext xmlns:a="http://schemas.openxmlformats.org/drawingml/2006/main" cx="3571875" cy="2743200"/>
        </p:xfrm>
        <a:graphic xmlns:a="http://schemas.openxmlformats.org/drawingml/2006/main">
          <a:graphicData uri="http://schemas.openxmlformats.org/drawingml/2006/chart">
            <c:chart xmlns:r="http://schemas.openxmlformats.org/officeDocument/2006/relationships" xmlns:c="http://schemas.openxmlformats.org/drawingml/2006/chart" r:id="Rca50398878014bd3"/>
          </a:graphicData>
        </a:graphic>
      </p:graphicFrame>
      <p:sp>
        <p:nvSpPr>
          <p:cNvPr id="13" name="">
            <a:extLst xmlns:a="http://schemas.openxmlformats.org/drawingml/2006/main">
              <a:ext uri="{FF2B5EF4-FFF2-40B4-BE49-F238E27FC236}">
                <a16:creationId xmlns:a16="http://schemas.microsoft.com/office/drawing/2014/main" id="{A4A0ACE5-34CA-4F5A-B64A-1A51F386737A}"/>
              </a:ext>
            </a:extLst>
          </p:cNvPr>
          <p:cNvSpPr>
            <a:spLocks xmlns:a="http://schemas.openxmlformats.org/drawingml/2006/main" noGrp="1"/>
          </p:cNvSpPr>
          <p:nvPr/>
        </p:nvSpPr>
        <p:spPr>
          <a:xfrm xmlns:a="http://schemas.openxmlformats.org/drawingml/2006/main">
            <a:off x="8858250" y="2857500"/>
            <a:ext cx="19050" cy="2047875"/>
          </a:xfrm>
          <a:prstGeom xmlns:a="http://schemas.openxmlformats.org/drawingml/2006/main" prst="rect">
            <a:avLst/>
          </a:prstGeom>
          <a:solidFill xmlns:a="http://schemas.openxmlformats.org/drawingml/2006/main">
            <a:srgbClr val="B16A2E"/>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E57F157-CCB4-4FF9-9858-E7C5057B2BBD}"/>
              </a:ext>
            </a:extLst>
          </p:cNvPr>
          <p:cNvSpPr>
            <a:spLocks xmlns:a="http://schemas.openxmlformats.org/drawingml/2006/main" noGrp="1"/>
          </p:cNvSpPr>
          <p:nvPr/>
        </p:nvSpPr>
        <p:spPr>
          <a:xfrm xmlns:a="http://schemas.openxmlformats.org/drawingml/2006/main">
            <a:off x="8905875" y="2505075"/>
            <a:ext cx="26193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16A2E"/>
                </a:solidFill>
                <a:latin typeface="Noto Sans"/>
                <a:ea typeface="Noto Sans"/>
                <a:cs typeface="Noto Sans"/>
              </a:defRPr>
            </a:pPr>
            <a:r>
              <a:rPr sz="1350" b="0">
                <a:solidFill>
                  <a:srgbClr val="B16A2E"/>
                </a:solidFill>
                <a:latin typeface="Noto Sans"/>
                <a:ea typeface="Noto Sans"/>
                <a:cs typeface="Noto Sans"/>
              </a:rPr>
              <a:t>Апрель: паводок</a:t>
            </a:r>
          </a:p>
        </p:txBody>
      </p:sp>
      <p:sp>
        <p:nvSpPr>
          <p:cNvPr id="15" name="">
            <a:extLst xmlns:a="http://schemas.openxmlformats.org/drawingml/2006/main">
              <a:ext uri="{FF2B5EF4-FFF2-40B4-BE49-F238E27FC236}">
                <a16:creationId xmlns:a16="http://schemas.microsoft.com/office/drawing/2014/main" id="{E129CDD3-1D30-4CC1-A19E-0DCE8154EF48}"/>
              </a:ext>
            </a:extLst>
          </p:cNvPr>
          <p:cNvSpPr>
            <a:spLocks xmlns:a="http://schemas.openxmlformats.org/drawingml/2006/main" noGrp="1"/>
          </p:cNvSpPr>
          <p:nvPr/>
        </p:nvSpPr>
        <p:spPr>
          <a:xfrm xmlns:a="http://schemas.openxmlformats.org/drawingml/2006/main">
            <a:off x="8096250" y="5410200"/>
            <a:ext cx="3571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2706C"/>
                </a:solidFill>
                <a:latin typeface="Noto Sans"/>
                <a:ea typeface="Noto Sans"/>
                <a:cs typeface="Noto Sans"/>
              </a:defRPr>
            </a:pPr>
            <a:r>
              <a:rPr sz="1725" b="0">
                <a:solidFill>
                  <a:srgbClr val="62706C"/>
                </a:solidFill>
                <a:latin typeface="Noto Sans"/>
                <a:ea typeface="Noto Sans"/>
                <a:cs typeface="Noto Sans"/>
              </a:rPr>
              <a:t>Паводок: кейс проверки</a:t>
            </a:r>
          </a:p>
        </p:txBody>
      </p:sp>
    </p:spTree>
    <p:extLst>
      <p:ext uri="{BB962C8B-B14F-4D97-AF65-F5344CB8AC3E}">
        <p14:creationId xmlns:p14="http://schemas.microsoft.com/office/powerpoint/2010/main" val="2140975395"/>
      </p:ext>
    </p:extLst>
  </p:cSld>
</p:sld>
</file>

<file path=ppt/slides/slide13.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1F20E0E-2FA9-41C4-85AA-74F3BB4A58B1}"/>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EWMA: лучший онлайн F1 и минимальный FAR</a:t>
            </a:r>
          </a:p>
        </p:txBody>
      </p:sp>
      <p:sp>
        <p:nvSpPr>
          <p:cNvPr id="2" name="">
            <a:extLst xmlns:a="http://schemas.openxmlformats.org/drawingml/2006/main">
              <a:ext uri="{FF2B5EF4-FFF2-40B4-BE49-F238E27FC236}">
                <a16:creationId xmlns:a16="http://schemas.microsoft.com/office/drawing/2014/main" id="{65C91F21-E162-4173-9954-53E9FEF16D63}"/>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13 / 21</a:t>
            </a:r>
          </a:p>
        </p:txBody>
      </p:sp>
      <p:sp>
        <p:nvSpPr>
          <p:cNvPr id="3" name="">
            <a:extLst xmlns:a="http://schemas.openxmlformats.org/drawingml/2006/main">
              <a:ext uri="{FF2B5EF4-FFF2-40B4-BE49-F238E27FC236}">
                <a16:creationId xmlns:a16="http://schemas.microsoft.com/office/drawing/2014/main" id="{7376BC35-9A0D-45AB-9A0B-4B5A7CE428EE}"/>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Ложные тревоги — на синтетике, на 100 МО-месяцев. Задержка только по найденным началам; пропущенные события исключены.</a:t>
            </a:r>
          </a:p>
        </p:txBody>
      </p:sp>
      <p:graphicFrame>
        <p:nvGraphicFramePr>
          <p:cNvPr id="11" name="Chart"/>
          <p:cNvGraphicFramePr/>
          <p:nvPr/>
        </p:nvGraphicFramePr>
        <p:xfrm>
          <a:off xmlns:a="http://schemas.openxmlformats.org/drawingml/2006/main" x="609600" y="1676400"/>
          <a:ext xmlns:a="http://schemas.openxmlformats.org/drawingml/2006/main" cx="6953250" cy="3476625"/>
        </p:xfrm>
        <a:graphic xmlns:a="http://schemas.openxmlformats.org/drawingml/2006/main">
          <a:graphicData uri="http://schemas.openxmlformats.org/drawingml/2006/chart">
            <c:chart xmlns:r="http://schemas.openxmlformats.org/officeDocument/2006/relationships" xmlns:c="http://schemas.openxmlformats.org/drawingml/2006/chart" r:id="Re9be293dfe3d4979"/>
          </a:graphicData>
        </a:graphic>
      </p:graphicFrame>
      <p:graphicFrame>
        <p:nvGraphicFramePr>
          <p:cNvPr id="12" name=""/>
          <p:cNvGraphicFramePr/>
          <p:nvPr/>
        </p:nvGraphicFramePr>
        <p:xfrm>
          <a:off xmlns:a="http://schemas.openxmlformats.org/drawingml/2006/main" x="7677150" y="1752600"/>
          <a:ext xmlns:a="http://schemas.openxmlformats.org/drawingml/2006/main" cx="3905250" cy="3209925"/>
        </p:xfrm>
        <a:graphic xmlns:a="http://schemas.openxmlformats.org/drawingml/2006/main">
          <a:graphicData uri="http://schemas.openxmlformats.org/drawingml/2006/table">
            <a:tbl>
              <a:tblPr firstRow="1" bandRow="0"/>
              <a:tblGrid>
                <a:gridCol w="1809750"/>
                <a:gridCol w="714375"/>
                <a:gridCol w="714375"/>
                <a:gridCol w="666750"/>
              </a:tblGrid>
              <a:tr h="356658">
                <a:tc>
                  <a:txBody>
                    <a:bodyPr/>
                    <a:lstStyle/>
                    <a:p>
                      <a:r>
                        <a:rPr sz="1425" b="1">
                          <a:solidFill>
                            <a:srgbClr val="FFFFFF"/>
                          </a:solidFill>
                          <a:latin typeface="Noto Sans"/>
                          <a:ea typeface="Noto Sans"/>
                          <a:cs typeface="Noto Sans"/>
                        </a:rPr>
                        <a:t>Метод</a:t>
                      </a:r>
                    </a:p>
                  </a:txBody>
                  <a:tcPr marL="91440" marR="91440" marT="45720" marB="45720">
                    <a:solidFill>
                      <a:srgbClr val="183B32"/>
                    </a:solidFill>
                  </a:tcPr>
                </a:tc>
                <a:tc>
                  <a:txBody>
                    <a:bodyPr/>
                    <a:lstStyle/>
                    <a:p>
                      <a:r>
                        <a:rPr sz="1425" b="1">
                          <a:solidFill>
                            <a:srgbClr val="FFFFFF"/>
                          </a:solidFill>
                          <a:latin typeface="Noto Sans"/>
                          <a:ea typeface="Noto Sans"/>
                          <a:cs typeface="Noto Sans"/>
                        </a:rPr>
                        <a:t>F1</a:t>
                      </a:r>
                    </a:p>
                  </a:txBody>
                  <a:tcPr marL="91440" marR="91440" marT="45720" marB="45720">
                    <a:solidFill>
                      <a:srgbClr val="183B32"/>
                    </a:solidFill>
                  </a:tcPr>
                </a:tc>
                <a:tc>
                  <a:txBody>
                    <a:bodyPr/>
                    <a:lstStyle/>
                    <a:p>
                      <a:r>
                        <a:rPr sz="1425" b="1">
                          <a:solidFill>
                            <a:srgbClr val="FFFFFF"/>
                          </a:solidFill>
                          <a:latin typeface="Noto Sans"/>
                          <a:ea typeface="Noto Sans"/>
                          <a:cs typeface="Noto Sans"/>
                        </a:rPr>
                        <a:t>FAR</a:t>
                      </a:r>
                    </a:p>
                  </a:txBody>
                  <a:tcPr marL="91440" marR="91440" marT="45720" marB="45720">
                    <a:solidFill>
                      <a:srgbClr val="183B32"/>
                    </a:solidFill>
                  </a:tcPr>
                </a:tc>
                <a:tc>
                  <a:txBody>
                    <a:bodyPr/>
                    <a:lstStyle/>
                    <a:p>
                      <a:r>
                        <a:rPr sz="1425" b="1">
                          <a:solidFill>
                            <a:srgbClr val="FFFFFF"/>
                          </a:solidFill>
                          <a:latin typeface="Noto Sans"/>
                          <a:ea typeface="Noto Sans"/>
                          <a:cs typeface="Noto Sans"/>
                        </a:rPr>
                        <a:t>Мес.</a:t>
                      </a:r>
                    </a:p>
                  </a:txBody>
                  <a:tcPr marL="91440" marR="91440" marT="45720" marB="45720">
                    <a:solidFill>
                      <a:srgbClr val="183B32"/>
                    </a:solidFill>
                  </a:tcPr>
                </a:tc>
              </a:tr>
              <a:tr h="356658">
                <a:tc>
                  <a:txBody>
                    <a:bodyPr/>
                    <a:lstStyle/>
                    <a:p>
                      <a:r>
                        <a:rPr sz="1425" b="1">
                          <a:solidFill>
                            <a:srgbClr val="183B32"/>
                          </a:solidFill>
                          <a:latin typeface="Noto Sans"/>
                          <a:ea typeface="Noto Sans"/>
                          <a:cs typeface="Noto Sans"/>
                        </a:rPr>
                        <a:t>EWMA</a:t>
                      </a:r>
                    </a:p>
                  </a:txBody>
                  <a:tcPr marL="91440" marR="91440" marT="45720" marB="45720">
                    <a:solidFill>
                      <a:srgbClr val="D9EEE2"/>
                    </a:solidFill>
                  </a:tcPr>
                </a:tc>
                <a:tc>
                  <a:txBody>
                    <a:bodyPr/>
                    <a:lstStyle/>
                    <a:p>
                      <a:r>
                        <a:rPr sz="1425" b="1">
                          <a:solidFill>
                            <a:srgbClr val="183B32"/>
                          </a:solidFill>
                          <a:latin typeface="Noto Sans"/>
                          <a:ea typeface="Noto Sans"/>
                          <a:cs typeface="Noto Sans"/>
                        </a:rPr>
                        <a:t>0.647</a:t>
                      </a:r>
                    </a:p>
                  </a:txBody>
                  <a:tcPr marL="91440" marR="91440" marT="45720" marB="45720">
                    <a:solidFill>
                      <a:srgbClr val="D9EEE2"/>
                    </a:solidFill>
                  </a:tcPr>
                </a:tc>
                <a:tc>
                  <a:txBody>
                    <a:bodyPr/>
                    <a:lstStyle/>
                    <a:p>
                      <a:r>
                        <a:rPr sz="1425" b="1">
                          <a:solidFill>
                            <a:srgbClr val="183B32"/>
                          </a:solidFill>
                          <a:latin typeface="Noto Sans"/>
                          <a:ea typeface="Noto Sans"/>
                          <a:cs typeface="Noto Sans"/>
                        </a:rPr>
                        <a:t>0.046</a:t>
                      </a:r>
                    </a:p>
                  </a:txBody>
                  <a:tcPr marL="91440" marR="91440" marT="45720" marB="45720">
                    <a:solidFill>
                      <a:srgbClr val="D9EEE2"/>
                    </a:solidFill>
                  </a:tcPr>
                </a:tc>
                <a:tc>
                  <a:txBody>
                    <a:bodyPr/>
                    <a:lstStyle/>
                    <a:p>
                      <a:r>
                        <a:rPr sz="1425" b="1">
                          <a:solidFill>
                            <a:srgbClr val="183B32"/>
                          </a:solidFill>
                          <a:latin typeface="Noto Sans"/>
                          <a:ea typeface="Noto Sans"/>
                          <a:cs typeface="Noto Sans"/>
                        </a:rPr>
                        <a:t>0.54</a:t>
                      </a:r>
                    </a:p>
                  </a:txBody>
                  <a:tcPr marL="91440" marR="91440" marT="45720" marB="45720">
                    <a:solidFill>
                      <a:srgbClr val="D9EEE2"/>
                    </a:solidFill>
                  </a:tcPr>
                </a:tc>
              </a:tr>
              <a:tr h="356658">
                <a:tc>
                  <a:txBody>
                    <a:bodyPr/>
                    <a:lstStyle/>
                    <a:p>
                      <a:r>
                        <a:rPr sz="1425" b="0">
                          <a:solidFill>
                            <a:srgbClr val="183B32"/>
                          </a:solidFill>
                          <a:latin typeface="Noto Sans"/>
                          <a:ea typeface="Noto Sans"/>
                          <a:cs typeface="Noto Sans"/>
                        </a:rPr>
                        <a:t>CUSUM</a:t>
                      </a:r>
                    </a:p>
                  </a:txBody>
                  <a:tcPr marL="91440" marR="91440" marT="45720" marB="45720">
                    <a:solidFill>
                      <a:srgbClr val="FFFFFF"/>
                    </a:solidFill>
                  </a:tcPr>
                </a:tc>
                <a:tc>
                  <a:txBody>
                    <a:bodyPr/>
                    <a:lstStyle/>
                    <a:p>
                      <a:r>
                        <a:rPr sz="1425" b="0">
                          <a:solidFill>
                            <a:srgbClr val="183B32"/>
                          </a:solidFill>
                          <a:latin typeface="Noto Sans"/>
                          <a:ea typeface="Noto Sans"/>
                          <a:cs typeface="Noto Sans"/>
                        </a:rPr>
                        <a:t>0.602</a:t>
                      </a:r>
                    </a:p>
                  </a:txBody>
                  <a:tcPr marL="91440" marR="91440" marT="45720" marB="45720">
                    <a:solidFill>
                      <a:srgbClr val="FFFFFF"/>
                    </a:solidFill>
                  </a:tcPr>
                </a:tc>
                <a:tc>
                  <a:txBody>
                    <a:bodyPr/>
                    <a:lstStyle/>
                    <a:p>
                      <a:r>
                        <a:rPr sz="1425" b="0">
                          <a:solidFill>
                            <a:srgbClr val="183B32"/>
                          </a:solidFill>
                          <a:latin typeface="Noto Sans"/>
                          <a:ea typeface="Noto Sans"/>
                          <a:cs typeface="Noto Sans"/>
                        </a:rPr>
                        <a:t>0.069</a:t>
                      </a:r>
                    </a:p>
                  </a:txBody>
                  <a:tcPr marL="91440" marR="91440" marT="45720" marB="45720">
                    <a:solidFill>
                      <a:srgbClr val="FFFFFF"/>
                    </a:solidFill>
                  </a:tcPr>
                </a:tc>
                <a:tc>
                  <a:txBody>
                    <a:bodyPr/>
                    <a:lstStyle/>
                    <a:p>
                      <a:r>
                        <a:rPr sz="1425" b="0">
                          <a:solidFill>
                            <a:srgbClr val="183B32"/>
                          </a:solidFill>
                          <a:latin typeface="Noto Sans"/>
                          <a:ea typeface="Noto Sans"/>
                          <a:cs typeface="Noto Sans"/>
                        </a:rPr>
                        <a:t>0.77</a:t>
                      </a:r>
                    </a:p>
                  </a:txBody>
                  <a:tcPr marL="91440" marR="91440" marT="45720" marB="45720">
                    <a:solidFill>
                      <a:srgbClr val="FFFFFF"/>
                    </a:solidFill>
                  </a:tcPr>
                </a:tc>
              </a:tr>
              <a:tr h="356658">
                <a:tc>
                  <a:txBody>
                    <a:bodyPr/>
                    <a:lstStyle/>
                    <a:p>
                      <a:r>
                        <a:rPr sz="1425" b="0">
                          <a:solidFill>
                            <a:srgbClr val="183B32"/>
                          </a:solidFill>
                          <a:latin typeface="Noto Sans"/>
                          <a:ea typeface="Noto Sans"/>
                          <a:cs typeface="Noto Sans"/>
                        </a:rPr>
                        <a:t>CUSUM + разовый</a:t>
                      </a:r>
                    </a:p>
                  </a:txBody>
                  <a:tcPr marL="91440" marR="91440" marT="45720" marB="45720">
                    <a:solidFill>
                      <a:srgbClr val="F0F6F1"/>
                    </a:solidFill>
                  </a:tcPr>
                </a:tc>
                <a:tc>
                  <a:txBody>
                    <a:bodyPr/>
                    <a:lstStyle/>
                    <a:p>
                      <a:r>
                        <a:rPr sz="1425" b="0">
                          <a:solidFill>
                            <a:srgbClr val="183B32"/>
                          </a:solidFill>
                          <a:latin typeface="Noto Sans"/>
                          <a:ea typeface="Noto Sans"/>
                          <a:cs typeface="Noto Sans"/>
                        </a:rPr>
                        <a:t>0.598</a:t>
                      </a:r>
                    </a:p>
                  </a:txBody>
                  <a:tcPr marL="91440" marR="91440" marT="45720" marB="45720">
                    <a:solidFill>
                      <a:srgbClr val="F0F6F1"/>
                    </a:solidFill>
                  </a:tcPr>
                </a:tc>
                <a:tc>
                  <a:txBody>
                    <a:bodyPr/>
                    <a:lstStyle/>
                    <a:p>
                      <a:r>
                        <a:rPr sz="1425" b="0">
                          <a:solidFill>
                            <a:srgbClr val="183B32"/>
                          </a:solidFill>
                          <a:latin typeface="Noto Sans"/>
                          <a:ea typeface="Noto Sans"/>
                          <a:cs typeface="Noto Sans"/>
                        </a:rPr>
                        <a:t>0.093</a:t>
                      </a:r>
                    </a:p>
                  </a:txBody>
                  <a:tcPr marL="91440" marR="91440" marT="45720" marB="45720">
                    <a:solidFill>
                      <a:srgbClr val="F0F6F1"/>
                    </a:solidFill>
                  </a:tcPr>
                </a:tc>
                <a:tc>
                  <a:txBody>
                    <a:bodyPr/>
                    <a:lstStyle/>
                    <a:p>
                      <a:r>
                        <a:rPr sz="1425" b="0">
                          <a:solidFill>
                            <a:srgbClr val="183B32"/>
                          </a:solidFill>
                          <a:latin typeface="Noto Sans"/>
                          <a:ea typeface="Noto Sans"/>
                          <a:cs typeface="Noto Sans"/>
                        </a:rPr>
                        <a:t>0.38</a:t>
                      </a:r>
                    </a:p>
                  </a:txBody>
                  <a:tcPr marL="91440" marR="91440" marT="45720" marB="45720">
                    <a:solidFill>
                      <a:srgbClr val="F0F6F1"/>
                    </a:solidFill>
                  </a:tcPr>
                </a:tc>
              </a:tr>
              <a:tr h="356658">
                <a:tc>
                  <a:txBody>
                    <a:bodyPr/>
                    <a:lstStyle/>
                    <a:p>
                      <a:r>
                        <a:rPr sz="1425" b="0">
                          <a:solidFill>
                            <a:srgbClr val="183B32"/>
                          </a:solidFill>
                          <a:latin typeface="Noto Sans"/>
                          <a:ea typeface="Noto Sans"/>
                          <a:cs typeface="Noto Sans"/>
                        </a:rPr>
                        <a:t>Разовый порог</a:t>
                      </a:r>
                    </a:p>
                  </a:txBody>
                  <a:tcPr marL="91440" marR="91440" marT="45720" marB="45720">
                    <a:solidFill>
                      <a:srgbClr val="FFFFFF"/>
                    </a:solidFill>
                  </a:tcPr>
                </a:tc>
                <a:tc>
                  <a:txBody>
                    <a:bodyPr/>
                    <a:lstStyle/>
                    <a:p>
                      <a:r>
                        <a:rPr sz="1425" b="0">
                          <a:solidFill>
                            <a:srgbClr val="183B32"/>
                          </a:solidFill>
                          <a:latin typeface="Noto Sans"/>
                          <a:ea typeface="Noto Sans"/>
                          <a:cs typeface="Noto Sans"/>
                        </a:rPr>
                        <a:t>0.525</a:t>
                      </a:r>
                    </a:p>
                  </a:txBody>
                  <a:tcPr marL="91440" marR="91440" marT="45720" marB="45720">
                    <a:solidFill>
                      <a:srgbClr val="FFFFFF"/>
                    </a:solidFill>
                  </a:tcPr>
                </a:tc>
                <a:tc>
                  <a:txBody>
                    <a:bodyPr/>
                    <a:lstStyle/>
                    <a:p>
                      <a:r>
                        <a:rPr sz="1425" b="0">
                          <a:solidFill>
                            <a:srgbClr val="183B32"/>
                          </a:solidFill>
                          <a:latin typeface="Noto Sans"/>
                          <a:ea typeface="Noto Sans"/>
                          <a:cs typeface="Noto Sans"/>
                        </a:rPr>
                        <a:t>0.069</a:t>
                      </a:r>
                    </a:p>
                  </a:txBody>
                  <a:tcPr marL="91440" marR="91440" marT="45720" marB="45720">
                    <a:solidFill>
                      <a:srgbClr val="FFFFFF"/>
                    </a:solidFill>
                  </a:tcPr>
                </a:tc>
                <a:tc>
                  <a:txBody>
                    <a:bodyPr/>
                    <a:lstStyle/>
                    <a:p>
                      <a:r>
                        <a:rPr sz="1425" b="0">
                          <a:solidFill>
                            <a:srgbClr val="183B32"/>
                          </a:solidFill>
                          <a:latin typeface="Noto Sans"/>
                          <a:ea typeface="Noto Sans"/>
                          <a:cs typeface="Noto Sans"/>
                        </a:rPr>
                        <a:t>0.26</a:t>
                      </a:r>
                    </a:p>
                  </a:txBody>
                  <a:tcPr marL="91440" marR="91440" marT="45720" marB="45720">
                    <a:solidFill>
                      <a:srgbClr val="FFFFFF"/>
                    </a:solidFill>
                  </a:tcPr>
                </a:tc>
              </a:tr>
              <a:tr h="356658">
                <a:tc>
                  <a:txBody>
                    <a:bodyPr/>
                    <a:lstStyle/>
                    <a:p>
                      <a:r>
                        <a:rPr sz="1425" b="0">
                          <a:solidFill>
                            <a:srgbClr val="183B32"/>
                          </a:solidFill>
                          <a:latin typeface="Noto Sans"/>
                          <a:ea typeface="Noto Sans"/>
                          <a:cs typeface="Noto Sans"/>
                        </a:rPr>
                        <a:t>Среднее 3 мес.</a:t>
                      </a:r>
                    </a:p>
                  </a:txBody>
                  <a:tcPr marL="91440" marR="91440" marT="45720" marB="45720">
                    <a:solidFill>
                      <a:srgbClr val="F0F6F1"/>
                    </a:solidFill>
                  </a:tcPr>
                </a:tc>
                <a:tc>
                  <a:txBody>
                    <a:bodyPr/>
                    <a:lstStyle/>
                    <a:p>
                      <a:r>
                        <a:rPr sz="1425" b="0">
                          <a:solidFill>
                            <a:srgbClr val="183B32"/>
                          </a:solidFill>
                          <a:latin typeface="Noto Sans"/>
                          <a:ea typeface="Noto Sans"/>
                          <a:cs typeface="Noto Sans"/>
                        </a:rPr>
                        <a:t>0.344</a:t>
                      </a:r>
                    </a:p>
                  </a:txBody>
                  <a:tcPr marL="91440" marR="91440" marT="45720" marB="45720">
                    <a:solidFill>
                      <a:srgbClr val="F0F6F1"/>
                    </a:solidFill>
                  </a:tcPr>
                </a:tc>
                <a:tc>
                  <a:txBody>
                    <a:bodyPr/>
                    <a:lstStyle/>
                    <a:p>
                      <a:r>
                        <a:rPr sz="1425" b="0">
                          <a:solidFill>
                            <a:srgbClr val="183B32"/>
                          </a:solidFill>
                          <a:latin typeface="Noto Sans"/>
                          <a:ea typeface="Noto Sans"/>
                          <a:cs typeface="Noto Sans"/>
                        </a:rPr>
                        <a:t>0.069</a:t>
                      </a:r>
                    </a:p>
                  </a:txBody>
                  <a:tcPr marL="91440" marR="91440" marT="45720" marB="45720">
                    <a:solidFill>
                      <a:srgbClr val="F0F6F1"/>
                    </a:solidFill>
                  </a:tcPr>
                </a:tc>
                <a:tc>
                  <a:txBody>
                    <a:bodyPr/>
                    <a:lstStyle/>
                    <a:p>
                      <a:r>
                        <a:rPr sz="1425" b="0">
                          <a:solidFill>
                            <a:srgbClr val="183B32"/>
                          </a:solidFill>
                          <a:latin typeface="Noto Sans"/>
                          <a:ea typeface="Noto Sans"/>
                          <a:cs typeface="Noto Sans"/>
                        </a:rPr>
                        <a:t>0.99</a:t>
                      </a:r>
                    </a:p>
                  </a:txBody>
                  <a:tcPr marL="91440" marR="91440" marT="45720" marB="45720">
                    <a:solidFill>
                      <a:srgbClr val="F0F6F1"/>
                    </a:solidFill>
                  </a:tcPr>
                </a:tc>
              </a:tr>
              <a:tr h="356658">
                <a:tc>
                  <a:txBody>
                    <a:bodyPr/>
                    <a:lstStyle/>
                    <a:p>
                      <a:r>
                        <a:rPr sz="1425" b="0">
                          <a:solidFill>
                            <a:srgbClr val="183B32"/>
                          </a:solidFill>
                          <a:latin typeface="Noto Sans"/>
                          <a:ea typeface="Noto Sans"/>
                          <a:cs typeface="Noto Sans"/>
                        </a:rPr>
                        <a:t>BOCPD</a:t>
                      </a:r>
                    </a:p>
                  </a:txBody>
                  <a:tcPr marL="91440" marR="91440" marT="45720" marB="45720">
                    <a:solidFill>
                      <a:srgbClr val="FFFFFF"/>
                    </a:solidFill>
                  </a:tcPr>
                </a:tc>
                <a:tc>
                  <a:txBody>
                    <a:bodyPr/>
                    <a:lstStyle/>
                    <a:p>
                      <a:r>
                        <a:rPr sz="1425" b="0">
                          <a:solidFill>
                            <a:srgbClr val="183B32"/>
                          </a:solidFill>
                          <a:latin typeface="Noto Sans"/>
                          <a:ea typeface="Noto Sans"/>
                          <a:cs typeface="Noto Sans"/>
                        </a:rPr>
                        <a:t>0.092</a:t>
                      </a:r>
                    </a:p>
                  </a:txBody>
                  <a:tcPr marL="91440" marR="91440" marT="45720" marB="45720">
                    <a:solidFill>
                      <a:srgbClr val="FFFFFF"/>
                    </a:solidFill>
                  </a:tcPr>
                </a:tc>
                <a:tc>
                  <a:txBody>
                    <a:bodyPr/>
                    <a:lstStyle/>
                    <a:p>
                      <a:r>
                        <a:rPr sz="1425" b="0">
                          <a:solidFill>
                            <a:srgbClr val="183B32"/>
                          </a:solidFill>
                          <a:latin typeface="Noto Sans"/>
                          <a:ea typeface="Noto Sans"/>
                          <a:cs typeface="Noto Sans"/>
                        </a:rPr>
                        <a:t>0.093</a:t>
                      </a:r>
                    </a:p>
                  </a:txBody>
                  <a:tcPr marL="91440" marR="91440" marT="45720" marB="45720">
                    <a:solidFill>
                      <a:srgbClr val="FFFFFF"/>
                    </a:solidFill>
                  </a:tcPr>
                </a:tc>
                <a:tc>
                  <a:txBody>
                    <a:bodyPr/>
                    <a:lstStyle/>
                    <a:p>
                      <a:r>
                        <a:rPr sz="1425" b="0">
                          <a:solidFill>
                            <a:srgbClr val="183B32"/>
                          </a:solidFill>
                          <a:latin typeface="Noto Sans"/>
                          <a:ea typeface="Noto Sans"/>
                          <a:cs typeface="Noto Sans"/>
                        </a:rPr>
                        <a:t>0.03</a:t>
                      </a:r>
                    </a:p>
                  </a:txBody>
                  <a:tcPr marL="91440" marR="91440" marT="45720" marB="45720">
                    <a:solidFill>
                      <a:srgbClr val="FFFFFF"/>
                    </a:solidFill>
                  </a:tcPr>
                </a:tc>
              </a:tr>
              <a:tr h="356658">
                <a:tc>
                  <a:txBody>
                    <a:bodyPr/>
                    <a:lstStyle/>
                    <a:p>
                      <a:r>
                        <a:rPr sz="1425" b="0">
                          <a:solidFill>
                            <a:srgbClr val="183B32"/>
                          </a:solidFill>
                          <a:latin typeface="Noto Sans"/>
                          <a:ea typeface="Noto Sans"/>
                          <a:cs typeface="Noto Sans"/>
                        </a:rPr>
                        <a:t>PELT*</a:t>
                      </a:r>
                    </a:p>
                  </a:txBody>
                  <a:tcPr marL="91440" marR="91440" marT="45720" marB="45720">
                    <a:solidFill>
                      <a:srgbClr val="E5E8E7"/>
                    </a:solidFill>
                  </a:tcPr>
                </a:tc>
                <a:tc>
                  <a:txBody>
                    <a:bodyPr/>
                    <a:lstStyle/>
                    <a:p>
                      <a:r>
                        <a:rPr sz="1425" b="0">
                          <a:solidFill>
                            <a:srgbClr val="183B32"/>
                          </a:solidFill>
                          <a:latin typeface="Noto Sans"/>
                          <a:ea typeface="Noto Sans"/>
                          <a:cs typeface="Noto Sans"/>
                        </a:rPr>
                        <a:t>0.722</a:t>
                      </a:r>
                    </a:p>
                  </a:txBody>
                  <a:tcPr marL="91440" marR="91440" marT="45720" marB="45720">
                    <a:solidFill>
                      <a:srgbClr val="E5E8E7"/>
                    </a:solidFill>
                  </a:tcPr>
                </a:tc>
                <a:tc>
                  <a:txBody>
                    <a:bodyPr/>
                    <a:lstStyle/>
                    <a:p>
                      <a:r>
                        <a:rPr sz="1425" b="0">
                          <a:solidFill>
                            <a:srgbClr val="183B32"/>
                          </a:solidFill>
                          <a:latin typeface="Noto Sans"/>
                          <a:ea typeface="Noto Sans"/>
                          <a:cs typeface="Noto Sans"/>
                        </a:rPr>
                        <a:t>0.139</a:t>
                      </a:r>
                    </a:p>
                  </a:txBody>
                  <a:tcPr marL="91440" marR="91440" marT="45720" marB="45720">
                    <a:solidFill>
                      <a:srgbClr val="E5E8E7"/>
                    </a:solidFill>
                  </a:tcPr>
                </a:tc>
                <a:tc>
                  <a:txBody>
                    <a:bodyPr/>
                    <a:lstStyle/>
                    <a:p>
                      <a:r>
                        <a:rPr sz="1425" b="0">
                          <a:solidFill>
                            <a:srgbClr val="183B32"/>
                          </a:solidFill>
                          <a:latin typeface="Noto Sans"/>
                          <a:ea typeface="Noto Sans"/>
                          <a:cs typeface="Noto Sans"/>
                        </a:rPr>
                        <a:t>—</a:t>
                      </a:r>
                    </a:p>
                  </a:txBody>
                  <a:tcPr marL="91440" marR="91440" marT="45720" marB="45720">
                    <a:solidFill>
                      <a:srgbClr val="E5E8E7"/>
                    </a:solidFill>
                  </a:tcPr>
                </a:tc>
              </a:tr>
              <a:tr h="356658">
                <a:tc>
                  <a:txBody>
                    <a:bodyPr/>
                    <a:lstStyle/>
                    <a:p>
                      <a:r>
                        <a:rPr sz="1425" b="0">
                          <a:solidFill>
                            <a:srgbClr val="183B32"/>
                          </a:solidFill>
                          <a:latin typeface="Noto Sans"/>
                          <a:ea typeface="Noto Sans"/>
                          <a:cs typeface="Noto Sans"/>
                        </a:rPr>
                        <a:t>Kernel*</a:t>
                      </a:r>
                    </a:p>
                  </a:txBody>
                  <a:tcPr marL="91440" marR="91440" marT="45720" marB="45720">
                    <a:solidFill>
                      <a:srgbClr val="E5E8E7"/>
                    </a:solidFill>
                  </a:tcPr>
                </a:tc>
                <a:tc>
                  <a:txBody>
                    <a:bodyPr/>
                    <a:lstStyle/>
                    <a:p>
                      <a:r>
                        <a:rPr sz="1425" b="0">
                          <a:solidFill>
                            <a:srgbClr val="183B32"/>
                          </a:solidFill>
                          <a:latin typeface="Noto Sans"/>
                          <a:ea typeface="Noto Sans"/>
                          <a:cs typeface="Noto Sans"/>
                        </a:rPr>
                        <a:t>0.188</a:t>
                      </a:r>
                    </a:p>
                  </a:txBody>
                  <a:tcPr marL="91440" marR="91440" marT="45720" marB="45720">
                    <a:solidFill>
                      <a:srgbClr val="E5E8E7"/>
                    </a:solidFill>
                  </a:tcPr>
                </a:tc>
                <a:tc>
                  <a:txBody>
                    <a:bodyPr/>
                    <a:lstStyle/>
                    <a:p>
                      <a:r>
                        <a:rPr sz="1425" b="0">
                          <a:solidFill>
                            <a:srgbClr val="183B32"/>
                          </a:solidFill>
                          <a:latin typeface="Noto Sans"/>
                          <a:ea typeface="Noto Sans"/>
                          <a:cs typeface="Noto Sans"/>
                        </a:rPr>
                        <a:t>0.023</a:t>
                      </a:r>
                    </a:p>
                  </a:txBody>
                  <a:tcPr marL="91440" marR="91440" marT="45720" marB="45720">
                    <a:solidFill>
                      <a:srgbClr val="E5E8E7"/>
                    </a:solidFill>
                  </a:tcPr>
                </a:tc>
                <a:tc>
                  <a:txBody>
                    <a:bodyPr/>
                    <a:lstStyle/>
                    <a:p>
                      <a:r>
                        <a:rPr sz="1425" b="0">
                          <a:solidFill>
                            <a:srgbClr val="183B32"/>
                          </a:solidFill>
                          <a:latin typeface="Noto Sans"/>
                          <a:ea typeface="Noto Sans"/>
                          <a:cs typeface="Noto Sans"/>
                        </a:rPr>
                        <a:t>—</a:t>
                      </a:r>
                    </a:p>
                  </a:txBody>
                  <a:tcPr marL="91440" marR="91440" marT="45720" marB="45720">
                    <a:solidFill>
                      <a:srgbClr val="E5E8E7"/>
                    </a:solidFill>
                  </a:tcPr>
                </a:tc>
              </a:tr>
            </a:tbl>
          </a:graphicData>
        </a:graphic>
      </p:graphicFrame>
      <p:sp>
        <p:nvSpPr>
          <p:cNvPr id="6" name="">
            <a:extLst xmlns:a="http://schemas.openxmlformats.org/drawingml/2006/main">
              <a:ext uri="{FF2B5EF4-FFF2-40B4-BE49-F238E27FC236}">
                <a16:creationId xmlns:a16="http://schemas.microsoft.com/office/drawing/2014/main" id="{F61DA409-D24A-4395-B098-596343E42C05}"/>
              </a:ext>
            </a:extLst>
          </p:cNvPr>
          <p:cNvSpPr>
            <a:spLocks xmlns:a="http://schemas.openxmlformats.org/drawingml/2006/main" noGrp="1"/>
          </p:cNvSpPr>
          <p:nvPr/>
        </p:nvSpPr>
        <p:spPr>
          <a:xfrm xmlns:a="http://schemas.openxmlformats.org/drawingml/2006/main">
            <a:off x="7677150" y="5057775"/>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Серые ромбы и *: офлайн, используют будущий ряд</a:t>
            </a:r>
          </a:p>
        </p:txBody>
      </p:sp>
      <p:sp>
        <p:nvSpPr>
          <p:cNvPr id="7" name="">
            <a:extLst xmlns:a="http://schemas.openxmlformats.org/drawingml/2006/main">
              <a:ext uri="{FF2B5EF4-FFF2-40B4-BE49-F238E27FC236}">
                <a16:creationId xmlns:a16="http://schemas.microsoft.com/office/drawing/2014/main" id="{53BEC9D8-E7C1-4865-8864-02686829A095}"/>
              </a:ext>
            </a:extLst>
          </p:cNvPr>
          <p:cNvSpPr>
            <a:spLocks xmlns:a="http://schemas.openxmlformats.org/drawingml/2006/main" noGrp="1"/>
          </p:cNvSpPr>
          <p:nvPr/>
        </p:nvSpPr>
        <p:spPr>
          <a:xfrm xmlns:a="http://schemas.openxmlformats.org/drawingml/2006/main">
            <a:off x="609600" y="5248275"/>
            <a:ext cx="6877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0C825D"/>
                </a:solidFill>
                <a:latin typeface="Noto Sans"/>
                <a:ea typeface="Noto Sans"/>
                <a:cs typeface="Noto Sans"/>
              </a:defRPr>
            </a:pPr>
            <a:r>
              <a:rPr sz="1725" b="0">
                <a:solidFill>
                  <a:srgbClr val="0C825D"/>
                </a:solidFill>
                <a:latin typeface="Noto Sans"/>
                <a:ea typeface="Noto Sans"/>
                <a:cs typeface="Noto Sans"/>
              </a:rPr>
              <a:t>EWMA: F1 0,647 при FAR 0,046. Задержка 0,54 мес.</a:t>
            </a:r>
          </a:p>
          <a:p xmlns:a="http://schemas.openxmlformats.org/drawingml/2006/main">
            <a:pPr>
              <a:defRPr sz="1725" b="0">
                <a:solidFill>
                  <a:srgbClr val="0C825D"/>
                </a:solidFill>
                <a:latin typeface="Noto Sans"/>
                <a:ea typeface="Noto Sans"/>
                <a:cs typeface="Noto Sans"/>
              </a:defRPr>
            </a:pPr>
            <a:r>
              <a:rPr sz="1725" b="0">
                <a:solidFill>
                  <a:srgbClr val="0C825D"/>
                </a:solidFill>
                <a:latin typeface="Noto Sans"/>
                <a:ea typeface="Noto Sans"/>
                <a:cs typeface="Noto Sans"/>
              </a:rPr>
              <a:t>420 начал найдены, 300 пропущены.</a:t>
            </a:r>
          </a:p>
        </p:txBody>
      </p:sp>
    </p:spTree>
    <p:extLst>
      <p:ext uri="{BB962C8B-B14F-4D97-AF65-F5344CB8AC3E}">
        <p14:creationId xmlns:p14="http://schemas.microsoft.com/office/powerpoint/2010/main" val="730259725"/>
      </p:ext>
    </p:extLst>
  </p:cSld>
</p:sld>
</file>

<file path=ppt/slides/slide14.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77844E3-7A96-457E-9A72-7384BFDFFFCC}"/>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Региональный остаток выделяет локальный сигнал</a:t>
            </a:r>
          </a:p>
        </p:txBody>
      </p:sp>
      <p:sp>
        <p:nvSpPr>
          <p:cNvPr id="2" name="">
            <a:extLst xmlns:a="http://schemas.openxmlformats.org/drawingml/2006/main">
              <a:ext uri="{FF2B5EF4-FFF2-40B4-BE49-F238E27FC236}">
                <a16:creationId xmlns:a16="http://schemas.microsoft.com/office/drawing/2014/main" id="{EE459B12-53E5-45BE-B057-3EB842C49E1D}"/>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14 / 21</a:t>
            </a:r>
          </a:p>
        </p:txBody>
      </p:sp>
      <p:sp>
        <p:nvSpPr>
          <p:cNvPr id="3" name="">
            <a:extLst xmlns:a="http://schemas.openxmlformats.org/drawingml/2006/main">
              <a:ext uri="{FF2B5EF4-FFF2-40B4-BE49-F238E27FC236}">
                <a16:creationId xmlns:a16="http://schemas.microsoft.com/office/drawing/2014/main" id="{56346796-6855-4134-A142-A0A806A15D33}"/>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Весь доступный ряд сравнен с прежними порогами. Частота тревог — нагрузка мониторинга, не ложные срабатывания.</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0f9c29864032476f"/>
          <a:stretch xmlns:a="http://schemas.openxmlformats.org/drawingml/2006/main"/>
        </p:blipFill>
        <p:spPr>
          <a:xfrm xmlns:a="http://schemas.openxmlformats.org/drawingml/2006/main">
            <a:off x="1688856" y="1409700"/>
            <a:ext cx="8814288" cy="1000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637DC90-8D6C-4D26-8097-C1CC08495EDC}"/>
              </a:ext>
            </a:extLst>
          </p:cNvPr>
          <p:cNvSpPr>
            <a:spLocks xmlns:a="http://schemas.openxmlformats.org/drawingml/2006/main" noGrp="1"/>
          </p:cNvSpPr>
          <p:nvPr/>
        </p:nvSpPr>
        <p:spPr>
          <a:xfrm xmlns:a="http://schemas.openxmlformats.org/drawingml/2006/main">
            <a:off x="609600" y="2619375"/>
            <a:ext cx="10972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B32"/>
                </a:solidFill>
                <a:latin typeface="Noto Sans"/>
                <a:ea typeface="Noto Sans"/>
                <a:cs typeface="Noto Sans"/>
              </a:defRPr>
            </a:pPr>
            <a:r>
              <a:rPr sz="2100" b="0">
                <a:solidFill>
                  <a:srgbClr val="183B32"/>
                </a:solidFill>
                <a:latin typeface="Noto Sans"/>
                <a:ea typeface="Noto Sans"/>
                <a:cs typeface="Noto Sans"/>
              </a:rPr>
              <a:t>Только другие МО региона и факты того же доступного месяца</a:t>
            </a:r>
          </a:p>
          <a:p xmlns:a="http://schemas.openxmlformats.org/drawingml/2006/main">
            <a:pPr>
              <a:defRPr sz="2100" b="0">
                <a:solidFill>
                  <a:srgbClr val="183B32"/>
                </a:solidFill>
                <a:latin typeface="Noto Sans"/>
                <a:ea typeface="Noto Sans"/>
                <a:cs typeface="Noto Sans"/>
              </a:defRPr>
            </a:pPr>
            <a:r>
              <a:rPr sz="2100" b="0">
                <a:solidFill>
                  <a:srgbClr val="183B32"/>
                </a:solidFill>
                <a:latin typeface="Noto Sans"/>
                <a:ea typeface="Noto Sans"/>
                <a:cs typeface="Noto Sans"/>
              </a:rPr>
              <a:t>Не менее 5 соседей; пропуски остаются неизвестными</a:t>
            </a:r>
          </a:p>
        </p:txBody>
      </p:sp>
      <p:graphicFrame>
        <p:nvGraphicFramePr>
          <p:cNvPr id="12" name=""/>
          <p:cNvGraphicFramePr/>
          <p:nvPr/>
        </p:nvGraphicFramePr>
        <p:xfrm>
          <a:off xmlns:a="http://schemas.openxmlformats.org/drawingml/2006/main" x="609600" y="3790950"/>
          <a:ext xmlns:a="http://schemas.openxmlformats.org/drawingml/2006/main" cx="10972800" cy="1847850"/>
        </p:xfrm>
        <a:graphic xmlns:a="http://schemas.openxmlformats.org/drawingml/2006/main">
          <a:graphicData uri="http://schemas.openxmlformats.org/drawingml/2006/table">
            <a:tbl>
              <a:tblPr firstRow="1" bandRow="0"/>
              <a:tblGrid>
                <a:gridCol w="3714750"/>
                <a:gridCol w="2190750"/>
                <a:gridCol w="2571750"/>
                <a:gridCol w="2495550"/>
              </a:tblGrid>
              <a:tr h="615950">
                <a:tc>
                  <a:txBody>
                    <a:bodyPr/>
                    <a:lstStyle/>
                    <a:p>
                      <a:r>
                        <a:rPr sz="1800" b="1">
                          <a:solidFill>
                            <a:srgbClr val="FFFFFF"/>
                          </a:solidFill>
                          <a:latin typeface="Noto Sans"/>
                          <a:ea typeface="Noto Sans"/>
                          <a:cs typeface="Noto Sans"/>
                        </a:rPr>
                        <a:t>Остаток</a:t>
                      </a:r>
                    </a:p>
                  </a:txBody>
                  <a:tcPr marL="91440" marR="91440" marT="45720" marB="45720">
                    <a:solidFill>
                      <a:srgbClr val="183B32"/>
                    </a:solidFill>
                  </a:tcPr>
                </a:tc>
                <a:tc>
                  <a:txBody>
                    <a:bodyPr/>
                    <a:lstStyle/>
                    <a:p>
                      <a:r>
                        <a:rPr sz="1800" b="1">
                          <a:solidFill>
                            <a:srgbClr val="FFFFFF"/>
                          </a:solidFill>
                          <a:latin typeface="Noto Sans"/>
                          <a:ea typeface="Noto Sans"/>
                          <a:cs typeface="Noto Sans"/>
                        </a:rPr>
                        <a:t>МО-месяцы</a:t>
                      </a:r>
                    </a:p>
                  </a:txBody>
                  <a:tcPr marL="91440" marR="91440" marT="45720" marB="45720">
                    <a:solidFill>
                      <a:srgbClr val="183B32"/>
                    </a:solidFill>
                  </a:tcPr>
                </a:tc>
                <a:tc>
                  <a:txBody>
                    <a:bodyPr/>
                    <a:lstStyle/>
                    <a:p>
                      <a:r>
                        <a:rPr sz="1800" b="1">
                          <a:solidFill>
                            <a:srgbClr val="FFFFFF"/>
                          </a:solidFill>
                          <a:latin typeface="Noto Sans"/>
                          <a:ea typeface="Noto Sans"/>
                          <a:cs typeface="Noto Sans"/>
                        </a:rPr>
                        <a:t>Эпизоды EWMA</a:t>
                      </a:r>
                    </a:p>
                  </a:txBody>
                  <a:tcPr marL="91440" marR="91440" marT="45720" marB="45720">
                    <a:solidFill>
                      <a:srgbClr val="183B32"/>
                    </a:solidFill>
                  </a:tcPr>
                </a:tc>
                <a:tc>
                  <a:txBody>
                    <a:bodyPr/>
                    <a:lstStyle/>
                    <a:p>
                      <a:r>
                        <a:rPr sz="1800" b="1">
                          <a:solidFill>
                            <a:srgbClr val="FFFFFF"/>
                          </a:solidFill>
                          <a:latin typeface="Noto Sans"/>
                          <a:ea typeface="Noto Sans"/>
                          <a:cs typeface="Noto Sans"/>
                        </a:rPr>
                        <a:t>На 100 месяцев</a:t>
                      </a:r>
                    </a:p>
                  </a:txBody>
                  <a:tcPr marL="91440" marR="91440" marT="45720" marB="45720">
                    <a:solidFill>
                      <a:srgbClr val="183B32"/>
                    </a:solidFill>
                  </a:tcPr>
                </a:tc>
              </a:tr>
              <a:tr h="615950">
                <a:tc>
                  <a:txBody>
                    <a:bodyPr/>
                    <a:lstStyle/>
                    <a:p>
                      <a:r>
                        <a:rPr sz="1800" b="0">
                          <a:solidFill>
                            <a:srgbClr val="183B32"/>
                          </a:solidFill>
                          <a:latin typeface="Noto Sans"/>
                          <a:ea typeface="Noto Sans"/>
                          <a:cs typeface="Noto Sans"/>
                        </a:rPr>
                        <a:t>Собственный</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24 282</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145</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0.597</a:t>
                      </a:r>
                    </a:p>
                  </a:txBody>
                  <a:tcPr marL="91440" marR="91440" marT="45720" marB="45720">
                    <a:solidFill>
                      <a:srgbClr val="F0F6F1"/>
                    </a:solidFill>
                  </a:tcPr>
                </a:tc>
              </a:tr>
              <a:tr h="615950">
                <a:tc>
                  <a:txBody>
                    <a:bodyPr/>
                    <a:lstStyle/>
                    <a:p>
                      <a:r>
                        <a:rPr sz="1800" b="0">
                          <a:solidFill>
                            <a:srgbClr val="183B32"/>
                          </a:solidFill>
                          <a:latin typeface="Noto Sans"/>
                          <a:ea typeface="Noto Sans"/>
                          <a:cs typeface="Noto Sans"/>
                        </a:rPr>
                        <a:t>Относительно региона</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24 081</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18</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0.075</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475497104"/>
      </p:ext>
    </p:extLst>
  </p:cSld>
</p:sld>
</file>

<file path=ppt/slides/slide15.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5FC4A4D-7571-438C-BE56-AE4B037D5326}"/>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Орск: локальный сигнал на фоне региона</a:t>
            </a:r>
          </a:p>
        </p:txBody>
      </p:sp>
      <p:sp>
        <p:nvSpPr>
          <p:cNvPr id="2" name="">
            <a:extLst xmlns:a="http://schemas.openxmlformats.org/drawingml/2006/main">
              <a:ext uri="{FF2B5EF4-FFF2-40B4-BE49-F238E27FC236}">
                <a16:creationId xmlns:a16="http://schemas.microsoft.com/office/drawing/2014/main" id="{797B628F-BD8D-4D59-B0D1-62688F1D1639}"/>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15 / 21</a:t>
            </a:r>
          </a:p>
        </p:txBody>
      </p:sp>
      <p:sp>
        <p:nvSpPr>
          <p:cNvPr id="3" name="">
            <a:extLst xmlns:a="http://schemas.openxmlformats.org/drawingml/2006/main">
              <a:ext uri="{FF2B5EF4-FFF2-40B4-BE49-F238E27FC236}">
                <a16:creationId xmlns:a16="http://schemas.microsoft.com/office/drawing/2014/main" id="{948D1DFB-6ED6-460A-BF31-32FEAD5FECAE}"/>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Орск минус Оренбург, годовой рост: +7,18 п.п. в мае–июле. Выбранное описательное окно; причинный эффект не установлен.</a:t>
            </a:r>
          </a:p>
        </p:txBody>
      </p:sp>
      <p:graphicFrame>
        <p:nvGraphicFramePr>
          <p:cNvPr id="9" name="Chart"/>
          <p:cNvGraphicFramePr/>
          <p:nvPr/>
        </p:nvGraphicFramePr>
        <p:xfrm>
          <a:off xmlns:a="http://schemas.openxmlformats.org/drawingml/2006/main" x="609600" y="1543050"/>
          <a:ext xmlns:a="http://schemas.openxmlformats.org/drawingml/2006/main" cx="10972800" cy="3286125"/>
        </p:xfrm>
        <a:graphic xmlns:a="http://schemas.openxmlformats.org/drawingml/2006/main">
          <a:graphicData uri="http://schemas.openxmlformats.org/drawingml/2006/chart">
            <c:chart xmlns:r="http://schemas.openxmlformats.org/officeDocument/2006/relationships" xmlns:c="http://schemas.openxmlformats.org/drawingml/2006/chart" r:id="R60991e05db2b4b77"/>
          </a:graphicData>
        </a:graphic>
      </p:graphicFrame>
      <p:sp>
        <p:nvSpPr>
          <p:cNvPr id="5" name="">
            <a:extLst xmlns:a="http://schemas.openxmlformats.org/drawingml/2006/main">
              <a:ext uri="{FF2B5EF4-FFF2-40B4-BE49-F238E27FC236}">
                <a16:creationId xmlns:a16="http://schemas.microsoft.com/office/drawing/2014/main" id="{9621850F-9BE4-4B2E-8122-506844DB018A}"/>
              </a:ext>
            </a:extLst>
          </p:cNvPr>
          <p:cNvSpPr>
            <a:spLocks xmlns:a="http://schemas.openxmlformats.org/drawingml/2006/main" noGrp="1"/>
          </p:cNvSpPr>
          <p:nvPr/>
        </p:nvSpPr>
        <p:spPr>
          <a:xfrm xmlns:a="http://schemas.openxmlformats.org/drawingml/2006/main">
            <a:off x="609600" y="50292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0C825D"/>
                </a:solidFill>
                <a:latin typeface="Noto Sans"/>
                <a:ea typeface="Noto Sans"/>
                <a:cs typeface="Noto Sans"/>
              </a:defRPr>
            </a:pPr>
            <a:r>
              <a:rPr sz="2025" b="0">
                <a:solidFill>
                  <a:srgbClr val="0C825D"/>
                </a:solidFill>
                <a:latin typeface="Noto Sans"/>
                <a:ea typeface="Noto Sans"/>
                <a:cs typeface="Noto Sans"/>
              </a:rPr>
              <a:t>Май: положительный региональный остаток — 16-е место из 2012 МО</a:t>
            </a:r>
          </a:p>
          <a:p xmlns:a="http://schemas.openxmlformats.org/drawingml/2006/main">
            <a:pPr>
              <a:defRPr sz="2025" b="0">
                <a:solidFill>
                  <a:srgbClr val="0C825D"/>
                </a:solidFill>
                <a:latin typeface="Noto Sans"/>
                <a:ea typeface="Noto Sans"/>
                <a:cs typeface="Noto Sans"/>
              </a:defRPr>
            </a:pPr>
            <a:r>
              <a:rPr sz="2025" b="0">
                <a:solidFill>
                  <a:srgbClr val="0C825D"/>
                </a:solidFill>
                <a:latin typeface="Noto Sans"/>
                <a:ea typeface="Noto Sans"/>
                <a:cs typeface="Noto Sans"/>
              </a:rPr>
              <a:t>EWMA: 0,0345 &lt; порога 0,0743; автоматической тревоги нет</a:t>
            </a:r>
          </a:p>
        </p:txBody>
      </p:sp>
    </p:spTree>
    <p:extLst>
      <p:ext uri="{BB962C8B-B14F-4D97-AF65-F5344CB8AC3E}">
        <p14:creationId xmlns:p14="http://schemas.microsoft.com/office/powerpoint/2010/main" val="1962985092"/>
      </p:ext>
    </p:extLst>
  </p:cSld>
</p:sld>
</file>

<file path=ppt/slides/slide16.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6C79CC6-37C0-4A3D-A6F9-FBF36C0011F1}"/>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Новости входят в прогноз и поиск изменений</a:t>
            </a:r>
          </a:p>
        </p:txBody>
      </p:sp>
      <p:sp>
        <p:nvSpPr>
          <p:cNvPr id="2" name="">
            <a:extLst xmlns:a="http://schemas.openxmlformats.org/drawingml/2006/main">
              <a:ext uri="{FF2B5EF4-FFF2-40B4-BE49-F238E27FC236}">
                <a16:creationId xmlns:a16="http://schemas.microsoft.com/office/drawing/2014/main" id="{D1CAB4D8-AED9-4754-B2D5-B67AE8DD2EFF}"/>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16 / 21</a:t>
            </a:r>
          </a:p>
        </p:txBody>
      </p:sp>
      <p:sp>
        <p:nvSpPr>
          <p:cNvPr id="3" name="">
            <a:extLst xmlns:a="http://schemas.openxmlformats.org/drawingml/2006/main">
              <a:ext uri="{FF2B5EF4-FFF2-40B4-BE49-F238E27FC236}">
                <a16:creationId xmlns:a16="http://schemas.microsoft.com/office/drawing/2014/main" id="{9208AE32-1436-4217-B9BD-DF53E735A32C}"/>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Прогноз: исходный реестр; детекция: расширенный корпус. ×1,5 — гипотеза, не калиброванная по новостям.</a:t>
            </a:r>
          </a:p>
        </p:txBody>
      </p:sp>
      <p:sp>
        <p:nvSpPr>
          <p:cNvPr id="4" name="">
            <a:extLst xmlns:a="http://schemas.openxmlformats.org/drawingml/2006/main">
              <a:ext uri="{FF2B5EF4-FFF2-40B4-BE49-F238E27FC236}">
                <a16:creationId xmlns:a16="http://schemas.microsoft.com/office/drawing/2014/main" id="{7CBE7CB3-C609-4BAD-9BBB-819C3842FB27}"/>
              </a:ext>
            </a:extLst>
          </p:cNvPr>
          <p:cNvSpPr>
            <a:spLocks xmlns:a="http://schemas.openxmlformats.org/drawingml/2006/main" noGrp="1"/>
          </p:cNvSpPr>
          <p:nvPr/>
        </p:nvSpPr>
        <p:spPr>
          <a:xfrm xmlns:a="http://schemas.openxmlformats.org/drawingml/2006/main">
            <a:off x="609600" y="1476375"/>
            <a:ext cx="1971675" cy="838200"/>
          </a:xfrm>
          <a:prstGeom xmlns:a="http://schemas.openxmlformats.org/drawingml/2006/main" prst="rect">
            <a:avLst/>
          </a:prstGeom>
          <a:solidFill xmlns:a="http://schemas.openxmlformats.org/drawingml/2006/main">
            <a:srgbClr val="EDF3EE"/>
          </a:solidFill>
          <a:ln xmlns:a="http://schemas.openxmlformats.org/drawingml/2006/main" w="9525">
            <a:solidFill>
              <a:srgbClr val="A5C2B1"/>
            </a:solidFill>
          </a:ln>
        </p:spPr>
        <p:txBody>
          <a:bodyPr xmlns:a="http://schemas.openxmlformats.org/drawingml/2006/main">
            <a:noAutofit/>
          </a:bodyPr>
          <a:lstStyle xmlns:a="http://schemas.openxmlformats.org/drawingml/2006/main"/>
          <a:p xmlns:a="http://schemas.openxmlformats.org/drawingml/2006/main">
            <a:pPr>
              <a:defRPr sz="1650" b="1">
                <a:solidFill>
                  <a:srgbClr val="183B32"/>
                </a:solidFill>
                <a:latin typeface="Noto Sans"/>
                <a:ea typeface="Noto Sans"/>
                <a:cs typeface="Noto Sans"/>
              </a:defRPr>
            </a:pPr>
            <a:r>
              <a:rPr sz="1650" b="1">
                <a:solidFill>
                  <a:srgbClr val="183B32"/>
                </a:solidFill>
                <a:latin typeface="Noto Sans"/>
                <a:ea typeface="Noto Sans"/>
                <a:cs typeface="Noto Sans"/>
              </a:rPr>
              <a:t>Официальный</a:t>
            </a:r>
          </a:p>
          <a:p xmlns:a="http://schemas.openxmlformats.org/drawingml/2006/main">
            <a:pPr>
              <a:defRPr sz="1650" b="1">
                <a:solidFill>
                  <a:srgbClr val="183B32"/>
                </a:solidFill>
                <a:latin typeface="Noto Sans"/>
                <a:ea typeface="Noto Sans"/>
                <a:cs typeface="Noto Sans"/>
              </a:defRPr>
            </a:pPr>
            <a:r>
              <a:rPr sz="1650" b="1">
                <a:solidFill>
                  <a:srgbClr val="183B32"/>
                </a:solidFill>
                <a:latin typeface="Noto Sans"/>
                <a:ea typeface="Noto Sans"/>
                <a:cs typeface="Noto Sans"/>
              </a:rPr>
              <a:t>текст</a:t>
            </a:r>
          </a:p>
        </p:txBody>
      </p:sp>
      <p:sp>
        <p:nvSpPr>
          <p:cNvPr id="5" name="">
            <a:extLst xmlns:a="http://schemas.openxmlformats.org/drawingml/2006/main">
              <a:ext uri="{FF2B5EF4-FFF2-40B4-BE49-F238E27FC236}">
                <a16:creationId xmlns:a16="http://schemas.microsoft.com/office/drawing/2014/main" id="{A127BFAA-D26F-4469-BE71-4B3D8EDF1D69}"/>
              </a:ext>
            </a:extLst>
          </p:cNvPr>
          <p:cNvSpPr>
            <a:spLocks xmlns:a="http://schemas.openxmlformats.org/drawingml/2006/main" noGrp="1"/>
          </p:cNvSpPr>
          <p:nvPr/>
        </p:nvSpPr>
        <p:spPr>
          <a:xfrm xmlns:a="http://schemas.openxmlformats.org/drawingml/2006/main">
            <a:off x="2609850" y="1809750"/>
            <a:ext cx="228600" cy="152400"/>
          </a:xfrm>
          <a:prstGeom xmlns:a="http://schemas.openxmlformats.org/drawingml/2006/main" prst="rightArrow">
            <a:avLst/>
          </a:prstGeom>
          <a:solidFill xmlns:a="http://schemas.openxmlformats.org/drawingml/2006/main">
            <a:srgbClr val="0C825D"/>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F4E04B8-8081-487D-B06F-7F347A427151}"/>
              </a:ext>
            </a:extLst>
          </p:cNvPr>
          <p:cNvSpPr>
            <a:spLocks xmlns:a="http://schemas.openxmlformats.org/drawingml/2006/main" noGrp="1"/>
          </p:cNvSpPr>
          <p:nvPr/>
        </p:nvSpPr>
        <p:spPr>
          <a:xfrm xmlns:a="http://schemas.openxmlformats.org/drawingml/2006/main">
            <a:off x="2857500" y="1476375"/>
            <a:ext cx="1971675" cy="838200"/>
          </a:xfrm>
          <a:prstGeom xmlns:a="http://schemas.openxmlformats.org/drawingml/2006/main" prst="rect">
            <a:avLst/>
          </a:prstGeom>
          <a:solidFill xmlns:a="http://schemas.openxmlformats.org/drawingml/2006/main">
            <a:srgbClr val="EDF3EE"/>
          </a:solidFill>
          <a:ln xmlns:a="http://schemas.openxmlformats.org/drawingml/2006/main" w="9525">
            <a:solidFill>
              <a:srgbClr val="A5C2B1"/>
            </a:solidFill>
          </a:ln>
        </p:spPr>
        <p:txBody>
          <a:bodyPr xmlns:a="http://schemas.openxmlformats.org/drawingml/2006/main">
            <a:noAutofit/>
          </a:bodyPr>
          <a:lstStyle xmlns:a="http://schemas.openxmlformats.org/drawingml/2006/main"/>
          <a:p xmlns:a="http://schemas.openxmlformats.org/drawingml/2006/main">
            <a:pPr>
              <a:defRPr sz="1650" b="1">
                <a:solidFill>
                  <a:srgbClr val="183B32"/>
                </a:solidFill>
                <a:latin typeface="Noto Sans"/>
                <a:ea typeface="Noto Sans"/>
                <a:cs typeface="Noto Sans"/>
              </a:defRPr>
            </a:pPr>
            <a:r>
              <a:rPr sz="1650" b="1">
                <a:solidFill>
                  <a:srgbClr val="183B32"/>
                </a:solidFill>
                <a:latin typeface="Noto Sans"/>
                <a:ea typeface="Noto Sans"/>
                <a:cs typeface="Noto Sans"/>
              </a:rPr>
              <a:t>Qwen</a:t>
            </a:r>
          </a:p>
          <a:p xmlns:a="http://schemas.openxmlformats.org/drawingml/2006/main">
            <a:pPr>
              <a:defRPr sz="1650" b="1">
                <a:solidFill>
                  <a:srgbClr val="183B32"/>
                </a:solidFill>
                <a:latin typeface="Noto Sans"/>
                <a:ea typeface="Noto Sans"/>
                <a:cs typeface="Noto Sans"/>
              </a:defRPr>
            </a:pPr>
            <a:r>
              <a:rPr sz="1650" b="1">
                <a:solidFill>
                  <a:srgbClr val="183B32"/>
                </a:solidFill>
                <a:latin typeface="Noto Sans"/>
                <a:ea typeface="Noto Sans"/>
                <a:cs typeface="Noto Sans"/>
              </a:rPr>
              <a:t>JSON события</a:t>
            </a:r>
          </a:p>
        </p:txBody>
      </p:sp>
      <p:sp>
        <p:nvSpPr>
          <p:cNvPr id="7" name="">
            <a:extLst xmlns:a="http://schemas.openxmlformats.org/drawingml/2006/main">
              <a:ext uri="{FF2B5EF4-FFF2-40B4-BE49-F238E27FC236}">
                <a16:creationId xmlns:a16="http://schemas.microsoft.com/office/drawing/2014/main" id="{032EFA28-1145-4F25-98CB-87FB3C20873D}"/>
              </a:ext>
            </a:extLst>
          </p:cNvPr>
          <p:cNvSpPr>
            <a:spLocks xmlns:a="http://schemas.openxmlformats.org/drawingml/2006/main" noGrp="1"/>
          </p:cNvSpPr>
          <p:nvPr/>
        </p:nvSpPr>
        <p:spPr>
          <a:xfrm xmlns:a="http://schemas.openxmlformats.org/drawingml/2006/main">
            <a:off x="4857750" y="1809750"/>
            <a:ext cx="228600" cy="152400"/>
          </a:xfrm>
          <a:prstGeom xmlns:a="http://schemas.openxmlformats.org/drawingml/2006/main" prst="rightArrow">
            <a:avLst/>
          </a:prstGeom>
          <a:solidFill xmlns:a="http://schemas.openxmlformats.org/drawingml/2006/main">
            <a:srgbClr val="0C825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EAE3695-BC69-42D4-9558-F0C66511F33B}"/>
              </a:ext>
            </a:extLst>
          </p:cNvPr>
          <p:cNvSpPr>
            <a:spLocks xmlns:a="http://schemas.openxmlformats.org/drawingml/2006/main" noGrp="1"/>
          </p:cNvSpPr>
          <p:nvPr/>
        </p:nvSpPr>
        <p:spPr>
          <a:xfrm xmlns:a="http://schemas.openxmlformats.org/drawingml/2006/main">
            <a:off x="5105400" y="1476375"/>
            <a:ext cx="1971675" cy="838200"/>
          </a:xfrm>
          <a:prstGeom xmlns:a="http://schemas.openxmlformats.org/drawingml/2006/main" prst="rect">
            <a:avLst/>
          </a:prstGeom>
          <a:solidFill xmlns:a="http://schemas.openxmlformats.org/drawingml/2006/main">
            <a:srgbClr val="EDF3EE"/>
          </a:solidFill>
          <a:ln xmlns:a="http://schemas.openxmlformats.org/drawingml/2006/main" w="9525">
            <a:solidFill>
              <a:srgbClr val="A5C2B1"/>
            </a:solidFill>
          </a:ln>
        </p:spPr>
        <p:txBody>
          <a:bodyPr xmlns:a="http://schemas.openxmlformats.org/drawingml/2006/main">
            <a:noAutofit/>
          </a:bodyPr>
          <a:lstStyle xmlns:a="http://schemas.openxmlformats.org/drawingml/2006/main"/>
          <a:p xmlns:a="http://schemas.openxmlformats.org/drawingml/2006/main">
            <a:pPr>
              <a:defRPr sz="1650" b="1">
                <a:solidFill>
                  <a:srgbClr val="183B32"/>
                </a:solidFill>
                <a:latin typeface="Noto Sans"/>
                <a:ea typeface="Noto Sans"/>
                <a:cs typeface="Noto Sans"/>
              </a:defRPr>
            </a:pPr>
            <a:r>
              <a:rPr sz="1650" b="1">
                <a:solidFill>
                  <a:srgbClr val="183B32"/>
                </a:solidFill>
                <a:latin typeface="Noto Sans"/>
                <a:ea typeface="Noto Sans"/>
                <a:cs typeface="Noto Sans"/>
              </a:rPr>
              <a:t>Проверка</a:t>
            </a:r>
          </a:p>
          <a:p xmlns:a="http://schemas.openxmlformats.org/drawingml/2006/main">
            <a:pPr>
              <a:defRPr sz="1650" b="1">
                <a:solidFill>
                  <a:srgbClr val="183B32"/>
                </a:solidFill>
                <a:latin typeface="Noto Sans"/>
                <a:ea typeface="Noto Sans"/>
                <a:cs typeface="Noto Sans"/>
              </a:defRPr>
            </a:pPr>
            <a:r>
              <a:rPr sz="1650" b="1">
                <a:solidFill>
                  <a:srgbClr val="183B32"/>
                </a:solidFill>
                <a:latin typeface="Noto Sans"/>
                <a:ea typeface="Noto Sans"/>
                <a:cs typeface="Noto Sans"/>
              </a:rPr>
              <a:t>точной цитаты</a:t>
            </a:r>
          </a:p>
        </p:txBody>
      </p:sp>
      <p:sp>
        <p:nvSpPr>
          <p:cNvPr id="9" name="">
            <a:extLst xmlns:a="http://schemas.openxmlformats.org/drawingml/2006/main">
              <a:ext uri="{FF2B5EF4-FFF2-40B4-BE49-F238E27FC236}">
                <a16:creationId xmlns:a16="http://schemas.microsoft.com/office/drawing/2014/main" id="{A0870624-F081-41F4-A7FA-D403FF434B4A}"/>
              </a:ext>
            </a:extLst>
          </p:cNvPr>
          <p:cNvSpPr>
            <a:spLocks xmlns:a="http://schemas.openxmlformats.org/drawingml/2006/main" noGrp="1"/>
          </p:cNvSpPr>
          <p:nvPr/>
        </p:nvSpPr>
        <p:spPr>
          <a:xfrm xmlns:a="http://schemas.openxmlformats.org/drawingml/2006/main">
            <a:off x="7105650" y="1809750"/>
            <a:ext cx="228600" cy="152400"/>
          </a:xfrm>
          <a:prstGeom xmlns:a="http://schemas.openxmlformats.org/drawingml/2006/main" prst="rightArrow">
            <a:avLst/>
          </a:prstGeom>
          <a:solidFill xmlns:a="http://schemas.openxmlformats.org/drawingml/2006/main">
            <a:srgbClr val="0C825D"/>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45AD593-2D6E-4B3D-8C0F-E0875FE29CA2}"/>
              </a:ext>
            </a:extLst>
          </p:cNvPr>
          <p:cNvSpPr>
            <a:spLocks xmlns:a="http://schemas.openxmlformats.org/drawingml/2006/main" noGrp="1"/>
          </p:cNvSpPr>
          <p:nvPr/>
        </p:nvSpPr>
        <p:spPr>
          <a:xfrm xmlns:a="http://schemas.openxmlformats.org/drawingml/2006/main">
            <a:off x="7353300" y="1476375"/>
            <a:ext cx="1971675" cy="838200"/>
          </a:xfrm>
          <a:prstGeom xmlns:a="http://schemas.openxmlformats.org/drawingml/2006/main" prst="rect">
            <a:avLst/>
          </a:prstGeom>
          <a:solidFill xmlns:a="http://schemas.openxmlformats.org/drawingml/2006/main">
            <a:srgbClr val="EDF3EE"/>
          </a:solidFill>
          <a:ln xmlns:a="http://schemas.openxmlformats.org/drawingml/2006/main" w="9525">
            <a:solidFill>
              <a:srgbClr val="A5C2B1"/>
            </a:solidFill>
          </a:ln>
        </p:spPr>
        <p:txBody>
          <a:bodyPr xmlns:a="http://schemas.openxmlformats.org/drawingml/2006/main">
            <a:noAutofit/>
          </a:bodyPr>
          <a:lstStyle xmlns:a="http://schemas.openxmlformats.org/drawingml/2006/main"/>
          <a:p xmlns:a="http://schemas.openxmlformats.org/drawingml/2006/main">
            <a:pPr>
              <a:defRPr sz="1650" b="1">
                <a:solidFill>
                  <a:srgbClr val="183B32"/>
                </a:solidFill>
                <a:latin typeface="Noto Sans"/>
                <a:ea typeface="Noto Sans"/>
                <a:cs typeface="Noto Sans"/>
              </a:defRPr>
            </a:pPr>
            <a:r>
              <a:rPr sz="1650" b="1">
                <a:solidFill>
                  <a:srgbClr val="183B32"/>
                </a:solidFill>
                <a:latin typeface="Noto Sans"/>
                <a:ea typeface="Noto Sans"/>
                <a:cs typeface="Noto Sans"/>
              </a:rPr>
              <a:t>Территория</a:t>
            </a:r>
          </a:p>
          <a:p xmlns:a="http://schemas.openxmlformats.org/drawingml/2006/main">
            <a:pPr>
              <a:defRPr sz="1650" b="1">
                <a:solidFill>
                  <a:srgbClr val="183B32"/>
                </a:solidFill>
                <a:latin typeface="Noto Sans"/>
                <a:ea typeface="Noto Sans"/>
                <a:cs typeface="Noto Sans"/>
              </a:defRPr>
            </a:pPr>
            <a:r>
              <a:rPr sz="1650" b="1">
                <a:solidFill>
                  <a:srgbClr val="183B32"/>
                </a:solidFill>
                <a:latin typeface="Noto Sans"/>
                <a:ea typeface="Noto Sans"/>
                <a:cs typeface="Noto Sans"/>
              </a:rPr>
              <a:t>ID / регион</a:t>
            </a:r>
          </a:p>
        </p:txBody>
      </p:sp>
      <p:sp>
        <p:nvSpPr>
          <p:cNvPr id="11" name="">
            <a:extLst xmlns:a="http://schemas.openxmlformats.org/drawingml/2006/main">
              <a:ext uri="{FF2B5EF4-FFF2-40B4-BE49-F238E27FC236}">
                <a16:creationId xmlns:a16="http://schemas.microsoft.com/office/drawing/2014/main" id="{CFA0D8BE-3F4B-4709-976C-469ED01EF02B}"/>
              </a:ext>
            </a:extLst>
          </p:cNvPr>
          <p:cNvSpPr>
            <a:spLocks xmlns:a="http://schemas.openxmlformats.org/drawingml/2006/main" noGrp="1"/>
          </p:cNvSpPr>
          <p:nvPr/>
        </p:nvSpPr>
        <p:spPr>
          <a:xfrm xmlns:a="http://schemas.openxmlformats.org/drawingml/2006/main">
            <a:off x="9353550" y="1809750"/>
            <a:ext cx="228600" cy="152400"/>
          </a:xfrm>
          <a:prstGeom xmlns:a="http://schemas.openxmlformats.org/drawingml/2006/main" prst="rightArrow">
            <a:avLst/>
          </a:prstGeom>
          <a:solidFill xmlns:a="http://schemas.openxmlformats.org/drawingml/2006/main">
            <a:srgbClr val="0C825D"/>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FE77E10-2570-4177-BBD4-0BCC31F0AFD5}"/>
              </a:ext>
            </a:extLst>
          </p:cNvPr>
          <p:cNvSpPr>
            <a:spLocks xmlns:a="http://schemas.openxmlformats.org/drawingml/2006/main" noGrp="1"/>
          </p:cNvSpPr>
          <p:nvPr/>
        </p:nvSpPr>
        <p:spPr>
          <a:xfrm xmlns:a="http://schemas.openxmlformats.org/drawingml/2006/main">
            <a:off x="9601200" y="1476375"/>
            <a:ext cx="1971675" cy="838200"/>
          </a:xfrm>
          <a:prstGeom xmlns:a="http://schemas.openxmlformats.org/drawingml/2006/main" prst="rect">
            <a:avLst/>
          </a:prstGeom>
          <a:solidFill xmlns:a="http://schemas.openxmlformats.org/drawingml/2006/main">
            <a:srgbClr val="EDF3EE"/>
          </a:solidFill>
          <a:ln xmlns:a="http://schemas.openxmlformats.org/drawingml/2006/main" w="9525">
            <a:solidFill>
              <a:srgbClr val="A5C2B1"/>
            </a:solidFill>
          </a:ln>
        </p:spPr>
        <p:txBody>
          <a:bodyPr xmlns:a="http://schemas.openxmlformats.org/drawingml/2006/main">
            <a:noAutofit/>
          </a:bodyPr>
          <a:lstStyle xmlns:a="http://schemas.openxmlformats.org/drawingml/2006/main"/>
          <a:p xmlns:a="http://schemas.openxmlformats.org/drawingml/2006/main">
            <a:pPr>
              <a:defRPr sz="1650" b="1">
                <a:solidFill>
                  <a:srgbClr val="183B32"/>
                </a:solidFill>
                <a:latin typeface="Noto Sans"/>
                <a:ea typeface="Noto Sans"/>
                <a:cs typeface="Noto Sans"/>
              </a:defRPr>
            </a:pPr>
            <a:r>
              <a:rPr sz="1650" b="1">
                <a:solidFill>
                  <a:srgbClr val="183B32"/>
                </a:solidFill>
                <a:latin typeface="Noto Sans"/>
                <a:ea typeface="Noto Sans"/>
                <a:cs typeface="Noto Sans"/>
              </a:rPr>
              <a:t>Доступность</a:t>
            </a:r>
          </a:p>
          <a:p xmlns:a="http://schemas.openxmlformats.org/drawingml/2006/main">
            <a:pPr>
              <a:defRPr sz="1650" b="1">
                <a:solidFill>
                  <a:srgbClr val="183B32"/>
                </a:solidFill>
                <a:latin typeface="Noto Sans"/>
                <a:ea typeface="Noto Sans"/>
                <a:cs typeface="Noto Sans"/>
              </a:defRPr>
            </a:pPr>
            <a:r>
              <a:rPr sz="1650" b="1">
                <a:solidFill>
                  <a:srgbClr val="183B32"/>
                </a:solidFill>
                <a:latin typeface="Noto Sans"/>
                <a:ea typeface="Noto Sans"/>
                <a:cs typeface="Noto Sans"/>
              </a:rPr>
              <a:t>публикация +1</a:t>
            </a:r>
          </a:p>
        </p:txBody>
      </p:sp>
      <p:sp>
        <p:nvSpPr>
          <p:cNvPr id="13" name="">
            <a:extLst xmlns:a="http://schemas.openxmlformats.org/drawingml/2006/main">
              <a:ext uri="{FF2B5EF4-FFF2-40B4-BE49-F238E27FC236}">
                <a16:creationId xmlns:a16="http://schemas.microsoft.com/office/drawing/2014/main" id="{9F1AC702-63FA-444F-94FC-C8D2F7204E1D}"/>
              </a:ext>
            </a:extLst>
          </p:cNvPr>
          <p:cNvSpPr>
            <a:spLocks xmlns:a="http://schemas.openxmlformats.org/drawingml/2006/main" noGrp="1"/>
          </p:cNvSpPr>
          <p:nvPr/>
        </p:nvSpPr>
        <p:spPr>
          <a:xfrm xmlns:a="http://schemas.openxmlformats.org/drawingml/2006/main">
            <a:off x="609600" y="2486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C825D"/>
                </a:solidFill>
                <a:latin typeface="Noto Sans"/>
                <a:ea typeface="Noto Sans"/>
                <a:cs typeface="Noto Sans"/>
              </a:defRPr>
            </a:pPr>
            <a:r>
              <a:rPr sz="2025" b="1">
                <a:solidFill>
                  <a:srgbClr val="0C825D"/>
                </a:solidFill>
                <a:latin typeface="Noto Sans"/>
                <a:ea typeface="Noto Sans"/>
                <a:cs typeface="Noto Sans"/>
              </a:rPr>
              <a:t>103 текстов; 12 фрагментов с цитатой; 3 ID МО</a:t>
            </a:r>
          </a:p>
        </p:txBody>
      </p:sp>
      <p:sp>
        <p:nvSpPr>
          <p:cNvPr id="14" name="">
            <a:extLst xmlns:a="http://schemas.openxmlformats.org/drawingml/2006/main">
              <a:ext uri="{FF2B5EF4-FFF2-40B4-BE49-F238E27FC236}">
                <a16:creationId xmlns:a16="http://schemas.microsoft.com/office/drawing/2014/main" id="{836EB8C4-2C56-45B9-BA37-21C8D7CE738B}"/>
              </a:ext>
            </a:extLst>
          </p:cNvPr>
          <p:cNvSpPr>
            <a:spLocks xmlns:a="http://schemas.openxmlformats.org/drawingml/2006/main" noGrp="1"/>
          </p:cNvSpPr>
          <p:nvPr/>
        </p:nvSpPr>
        <p:spPr>
          <a:xfrm xmlns:a="http://schemas.openxmlformats.org/drawingml/2006/main">
            <a:off x="609600" y="3133725"/>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3B32"/>
                </a:solidFill>
                <a:latin typeface="Noto Sans"/>
                <a:ea typeface="Noto Sans"/>
                <a:cs typeface="Noto Sans"/>
              </a:defRPr>
            </a:pPr>
            <a:r>
              <a:rPr sz="2175" b="1">
                <a:solidFill>
                  <a:srgbClr val="183B32"/>
                </a:solidFill>
                <a:latin typeface="Noto Sans"/>
                <a:ea typeface="Noto Sans"/>
                <a:cs typeface="Noto Sans"/>
              </a:rPr>
              <a:t>Новости в прогнозе</a:t>
            </a:r>
          </a:p>
        </p:txBody>
      </p:sp>
      <p:sp>
        <p:nvSpPr>
          <p:cNvPr id="15" name="">
            <a:extLst xmlns:a="http://schemas.openxmlformats.org/drawingml/2006/main">
              <a:ext uri="{FF2B5EF4-FFF2-40B4-BE49-F238E27FC236}">
                <a16:creationId xmlns:a16="http://schemas.microsoft.com/office/drawing/2014/main" id="{AB72FEAD-F3B5-4791-B120-2D86A41E46E5}"/>
              </a:ext>
            </a:extLst>
          </p:cNvPr>
          <p:cNvSpPr>
            <a:spLocks xmlns:a="http://schemas.openxmlformats.org/drawingml/2006/main" noGrp="1"/>
          </p:cNvSpPr>
          <p:nvPr/>
        </p:nvSpPr>
        <p:spPr>
          <a:xfrm xmlns:a="http://schemas.openxmlformats.org/drawingml/2006/main">
            <a:off x="609600" y="3600450"/>
            <a:ext cx="5381625"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183B32"/>
                </a:solidFill>
                <a:latin typeface="Noto Sans"/>
                <a:ea typeface="Noto Sans"/>
                <a:cs typeface="Noto Sans"/>
              </a:defRPr>
            </a:pPr>
            <a:r>
              <a:rPr sz="1650" b="0">
                <a:solidFill>
                  <a:srgbClr val="183B32"/>
                </a:solidFill>
                <a:latin typeface="Noto Sans"/>
                <a:ea typeface="Noto Sans"/>
                <a:cs typeface="Noto Sans"/>
              </a:rPr>
              <a:t>Новость известна к дате прогноза</a:t>
            </a:r>
          </a:p>
          <a:p xmlns:a="http://schemas.openxmlformats.org/drawingml/2006/main">
            <a:pPr>
              <a:defRPr sz="1650" b="0">
                <a:solidFill>
                  <a:srgbClr val="183B32"/>
                </a:solidFill>
                <a:latin typeface="Noto Sans"/>
                <a:ea typeface="Noto Sans"/>
                <a:cs typeface="Noto Sans"/>
              </a:defRPr>
            </a:pPr>
            <a:r>
              <a:rPr sz="1650" b="0">
                <a:solidFill>
                  <a:srgbClr val="183B32"/>
                </a:solidFill>
                <a:latin typeface="Noto Sans"/>
                <a:ea typeface="Noto Sans"/>
                <a:cs typeface="Noto Sans"/>
              </a:rPr>
              <a:t>Точка прежняя; радиус интервала ×1,5</a:t>
            </a:r>
          </a:p>
          <a:p xmlns:a="http://schemas.openxmlformats.org/drawingml/2006/main">
            <a:pPr>
              <a:defRPr sz="1650" b="0">
                <a:solidFill>
                  <a:srgbClr val="183B32"/>
                </a:solidFill>
                <a:latin typeface="Noto Sans"/>
                <a:ea typeface="Noto Sans"/>
                <a:cs typeface="Noto Sans"/>
              </a:defRPr>
            </a:pPr>
            <a:r>
              <a:rPr sz="1650" b="0">
                <a:solidFill>
                  <a:srgbClr val="183B32"/>
                </a:solidFill>
                <a:latin typeface="Noto Sans"/>
                <a:ea typeface="Noto Sans"/>
                <a:cs typeface="Noto Sans"/>
              </a:rPr>
              <a:t>Покрытие: 17/18 → 17/18 (94,4%)</a:t>
            </a:r>
          </a:p>
          <a:p xmlns:a="http://schemas.openxmlformats.org/drawingml/2006/main">
            <a:pPr>
              <a:defRPr sz="1650" b="0">
                <a:solidFill>
                  <a:srgbClr val="183B32"/>
                </a:solidFill>
                <a:latin typeface="Noto Sans"/>
                <a:ea typeface="Noto Sans"/>
                <a:cs typeface="Noto Sans"/>
              </a:defRPr>
            </a:pPr>
            <a:r>
              <a:rPr sz="1650" b="0">
                <a:solidFill>
                  <a:srgbClr val="183B32"/>
                </a:solidFill>
                <a:latin typeface="Noto Sans"/>
                <a:ea typeface="Noto Sans"/>
                <a:cs typeface="Noto Sans"/>
              </a:rPr>
              <a:t>Ширина: 2 852 → 4 278 руб.</a:t>
            </a:r>
          </a:p>
          <a:p xmlns:a="http://schemas.openxmlformats.org/drawingml/2006/main">
            <a:pPr>
              <a:defRPr sz="1650" b="0">
                <a:solidFill>
                  <a:srgbClr val="183B32"/>
                </a:solidFill>
                <a:latin typeface="Noto Sans"/>
                <a:ea typeface="Noto Sans"/>
                <a:cs typeface="Noto Sans"/>
              </a:defRPr>
            </a:pPr>
            <a:r>
              <a:rPr sz="1650" b="0">
                <a:solidFill>
                  <a:srgbClr val="183B32"/>
                </a:solidFill>
                <a:latin typeface="Noto Sans"/>
                <a:ea typeface="Noto Sans"/>
                <a:cs typeface="Noto Sans"/>
              </a:rPr>
              <a:t>Штраф IS: 3 237 → 4 362 руб.</a:t>
            </a:r>
          </a:p>
          <a:p xmlns:a="http://schemas.openxmlformats.org/drawingml/2006/main">
            <a:pPr>
              <a:defRPr sz="1650" b="0">
                <a:solidFill>
                  <a:srgbClr val="183B32"/>
                </a:solidFill>
                <a:latin typeface="Noto Sans"/>
                <a:ea typeface="Noto Sans"/>
                <a:cs typeface="Noto Sans"/>
              </a:defRPr>
            </a:pPr>
            <a:r>
              <a:rPr sz="1650" b="0">
                <a:solidFill>
                  <a:srgbClr val="183B32"/>
                </a:solidFill>
                <a:latin typeface="Noto Sans"/>
                <a:ea typeface="Noto Sans"/>
                <a:cs typeface="Noto Sans"/>
              </a:rPr>
              <a:t>Выигрыша нет; 18 пар, 6 дат</a:t>
            </a:r>
          </a:p>
        </p:txBody>
      </p:sp>
      <p:sp>
        <p:nvSpPr>
          <p:cNvPr id="16" name="">
            <a:extLst xmlns:a="http://schemas.openxmlformats.org/drawingml/2006/main">
              <a:ext uri="{FF2B5EF4-FFF2-40B4-BE49-F238E27FC236}">
                <a16:creationId xmlns:a16="http://schemas.microsoft.com/office/drawing/2014/main" id="{D2C6682B-D7AA-4217-9E88-0AAE2FE37189}"/>
              </a:ext>
            </a:extLst>
          </p:cNvPr>
          <p:cNvSpPr>
            <a:spLocks xmlns:a="http://schemas.openxmlformats.org/drawingml/2006/main" noGrp="1"/>
          </p:cNvSpPr>
          <p:nvPr/>
        </p:nvSpPr>
        <p:spPr>
          <a:xfrm xmlns:a="http://schemas.openxmlformats.org/drawingml/2006/main">
            <a:off x="6334125" y="3133725"/>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83B32"/>
                </a:solidFill>
                <a:latin typeface="Noto Sans"/>
                <a:ea typeface="Noto Sans"/>
                <a:cs typeface="Noto Sans"/>
              </a:defRPr>
            </a:pPr>
            <a:r>
              <a:rPr sz="2175" b="1">
                <a:solidFill>
                  <a:srgbClr val="183B32"/>
                </a:solidFill>
                <a:latin typeface="Noto Sans"/>
                <a:ea typeface="Noto Sans"/>
                <a:cs typeface="Noto Sans"/>
              </a:rPr>
              <a:t>Новости в детекторе</a:t>
            </a:r>
          </a:p>
        </p:txBody>
      </p:sp>
      <p:sp>
        <p:nvSpPr>
          <p:cNvPr id="17" name="">
            <a:extLst xmlns:a="http://schemas.openxmlformats.org/drawingml/2006/main">
              <a:ext uri="{FF2B5EF4-FFF2-40B4-BE49-F238E27FC236}">
                <a16:creationId xmlns:a16="http://schemas.microsoft.com/office/drawing/2014/main" id="{3D81F8E1-BB8A-4D89-BF4A-CA73C225DB2E}"/>
              </a:ext>
            </a:extLst>
          </p:cNvPr>
          <p:cNvSpPr>
            <a:spLocks xmlns:a="http://schemas.openxmlformats.org/drawingml/2006/main" noGrp="1"/>
          </p:cNvSpPr>
          <p:nvPr/>
        </p:nvSpPr>
        <p:spPr>
          <a:xfrm xmlns:a="http://schemas.openxmlformats.org/drawingml/2006/main">
            <a:off x="6334125" y="3638550"/>
            <a:ext cx="5238750"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B32"/>
                </a:solidFill>
                <a:latin typeface="Noto Sans"/>
                <a:ea typeface="Noto Sans"/>
                <a:cs typeface="Noto Sans"/>
              </a:defRPr>
            </a:pPr>
            <a:r>
              <a:rPr sz="1725" b="0">
                <a:solidFill>
                  <a:srgbClr val="183B32"/>
                </a:solidFill>
                <a:latin typeface="Noto Sans"/>
                <a:ea typeface="Noto Sans"/>
                <a:cs typeface="Noto Sans"/>
              </a:rPr>
              <a:t>Только явно названные МО</a:t>
            </a:r>
          </a:p>
          <a:p xmlns:a="http://schemas.openxmlformats.org/drawingml/2006/main">
            <a:pPr>
              <a:defRPr sz="1725" b="0">
                <a:solidFill>
                  <a:srgbClr val="183B32"/>
                </a:solidFill>
                <a:latin typeface="Noto Sans"/>
                <a:ea typeface="Noto Sans"/>
                <a:cs typeface="Noto Sans"/>
              </a:defRPr>
            </a:pPr>
            <a:r>
              <a:rPr sz="1725" b="0">
                <a:solidFill>
                  <a:srgbClr val="183B32"/>
                </a:solidFill>
                <a:latin typeface="Noto Sans"/>
                <a:ea typeface="Noto Sans"/>
                <a:cs typeface="Noto Sans"/>
              </a:rPr>
              <a:t>Порог × 0,75 на два месяца</a:t>
            </a:r>
          </a:p>
          <a:p xmlns:a="http://schemas.openxmlformats.org/drawingml/2006/main">
            <a:pPr>
              <a:defRPr sz="1725" b="0">
                <a:solidFill>
                  <a:srgbClr val="183B32"/>
                </a:solidFill>
                <a:latin typeface="Noto Sans"/>
                <a:ea typeface="Noto Sans"/>
                <a:cs typeface="Noto Sans"/>
              </a:defRPr>
            </a:pPr>
            <a:r>
              <a:rPr sz="1725" b="0">
                <a:solidFill>
                  <a:srgbClr val="183B32"/>
                </a:solidFill>
                <a:latin typeface="Noto Sans"/>
                <a:ea typeface="Noto Sans"/>
                <a:cs typeface="Noto Sans"/>
              </a:rPr>
              <a:t>145 → 145 эпизодов; 2 МО в панели</a:t>
            </a:r>
          </a:p>
          <a:p xmlns:a="http://schemas.openxmlformats.org/drawingml/2006/main">
            <a:pPr>
              <a:defRPr sz="1725" b="0">
                <a:solidFill>
                  <a:srgbClr val="183B32"/>
                </a:solidFill>
                <a:latin typeface="Noto Sans"/>
                <a:ea typeface="Noto Sans"/>
                <a:cs typeface="Noto Sans"/>
              </a:defRPr>
            </a:pPr>
            <a:r>
              <a:rPr sz="1725" b="0">
                <a:solidFill>
                  <a:srgbClr val="183B32"/>
                </a:solidFill>
                <a:latin typeface="Noto Sans"/>
                <a:ea typeface="Noto Sans"/>
                <a:cs typeface="Noto Sans"/>
              </a:rPr>
              <a:t>Сравнение с прежним порогом</a:t>
            </a:r>
          </a:p>
          <a:p xmlns:a="http://schemas.openxmlformats.org/drawingml/2006/main">
            <a:pPr>
              <a:defRPr sz="1725" b="0">
                <a:solidFill>
                  <a:srgbClr val="183B32"/>
                </a:solidFill>
                <a:latin typeface="Noto Sans"/>
                <a:ea typeface="Noto Sans"/>
                <a:cs typeface="Noto Sans"/>
              </a:defRPr>
            </a:pPr>
            <a:r>
              <a:rPr sz="1725" b="0">
                <a:solidFill>
                  <a:srgbClr val="183B32"/>
                </a:solidFill>
                <a:latin typeface="Noto Sans"/>
                <a:ea typeface="Noto Sans"/>
                <a:cs typeface="Noto Sans"/>
              </a:rPr>
              <a:t>Упоминание события не доказывает шок</a:t>
            </a:r>
          </a:p>
        </p:txBody>
      </p:sp>
      <p:sp>
        <p:nvSpPr>
          <p:cNvPr id="18" name="">
            <a:extLst xmlns:a="http://schemas.openxmlformats.org/drawingml/2006/main">
              <a:ext uri="{FF2B5EF4-FFF2-40B4-BE49-F238E27FC236}">
                <a16:creationId xmlns:a16="http://schemas.microsoft.com/office/drawing/2014/main" id="{2CB41325-3DEE-423B-A9A6-830E1AA0C70B}"/>
              </a:ext>
            </a:extLst>
          </p:cNvPr>
          <p:cNvSpPr>
            <a:spLocks xmlns:a="http://schemas.openxmlformats.org/drawingml/2006/main" noGrp="1"/>
          </p:cNvSpPr>
          <p:nvPr/>
        </p:nvSpPr>
        <p:spPr>
          <a:xfrm xmlns:a="http://schemas.openxmlformats.org/drawingml/2006/main">
            <a:off x="609600" y="527685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0C825D"/>
                </a:solidFill>
                <a:latin typeface="Noto Sans"/>
                <a:ea typeface="Noto Sans"/>
                <a:cs typeface="Noto Sans"/>
              </a:defRPr>
            </a:pPr>
            <a:r>
              <a:rPr sz="1350" b="0">
                <a:solidFill>
                  <a:srgbClr val="0C825D"/>
                </a:solidFill>
                <a:latin typeface="Noto Sans"/>
                <a:ea typeface="Noto Sans"/>
                <a:cs typeface="Noto Sans"/>
              </a:rPr>
              <a:t>Прогноз: python -m sberindex.external.news_interval_review</a:t>
            </a:r>
          </a:p>
        </p:txBody>
      </p:sp>
      <p:sp>
        <p:nvSpPr>
          <p:cNvPr id="19" name="">
            <a:extLst xmlns:a="http://schemas.openxmlformats.org/drawingml/2006/main">
              <a:ext uri="{FF2B5EF4-FFF2-40B4-BE49-F238E27FC236}">
                <a16:creationId xmlns:a16="http://schemas.microsoft.com/office/drawing/2014/main" id="{6CF6B053-F9CF-4CD4-8E42-F29E5B8E9AAA}"/>
              </a:ext>
            </a:extLst>
          </p:cNvPr>
          <p:cNvSpPr>
            <a:spLocks xmlns:a="http://schemas.openxmlformats.org/drawingml/2006/main" noGrp="1"/>
          </p:cNvSpPr>
          <p:nvPr/>
        </p:nvSpPr>
        <p:spPr>
          <a:xfrm xmlns:a="http://schemas.openxmlformats.org/drawingml/2006/main">
            <a:off x="609600" y="558165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0C825D"/>
                </a:solidFill>
                <a:latin typeface="Noto Sans"/>
                <a:ea typeface="Noto Sans"/>
                <a:cs typeface="Noto Sans"/>
              </a:defRPr>
            </a:pPr>
            <a:r>
              <a:rPr sz="1350" b="0">
                <a:solidFill>
                  <a:srgbClr val="0C825D"/>
                </a:solidFill>
                <a:latin typeface="Noto Sans"/>
                <a:ea typeface="Noto Sans"/>
                <a:cs typeface="Noto Sans"/>
              </a:rPr>
              <a:t>Детекция: python -m sberindex.external.news_body_recovery</a:t>
            </a:r>
          </a:p>
        </p:txBody>
      </p:sp>
    </p:spTree>
    <p:extLst>
      <p:ext uri="{BB962C8B-B14F-4D97-AF65-F5344CB8AC3E}">
        <p14:creationId xmlns:p14="http://schemas.microsoft.com/office/powerpoint/2010/main" val="244062213"/>
      </p:ext>
    </p:extLst>
  </p:cSld>
</p:sld>
</file>

<file path=ppt/slides/slide17.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444AC3B-FA01-4286-A214-F4E564F19B97}"/>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Архитектура решения</a:t>
            </a:r>
          </a:p>
        </p:txBody>
      </p:sp>
      <p:sp>
        <p:nvSpPr>
          <p:cNvPr id="2" name="">
            <a:extLst xmlns:a="http://schemas.openxmlformats.org/drawingml/2006/main">
              <a:ext uri="{FF2B5EF4-FFF2-40B4-BE49-F238E27FC236}">
                <a16:creationId xmlns:a16="http://schemas.microsoft.com/office/drawing/2014/main" id="{8C2D687A-A95C-48DA-B835-251174FACC6A}"/>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17 / 21</a:t>
            </a:r>
          </a:p>
        </p:txBody>
      </p:sp>
      <p:sp>
        <p:nvSpPr>
          <p:cNvPr id="3" name="">
            <a:extLst xmlns:a="http://schemas.openxmlformats.org/drawingml/2006/main">
              <a:ext uri="{FF2B5EF4-FFF2-40B4-BE49-F238E27FC236}">
                <a16:creationId xmlns:a16="http://schemas.microsoft.com/office/drawing/2014/main" id="{9C8F9AF4-1048-4C22-A85D-F18513A3346B}"/>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Конфигурации, исходные снимки и индивидуальные результаты сохранены вместе с происхождением и SHA256.</a:t>
            </a:r>
          </a:p>
        </p:txBody>
      </p:sp>
      <p:sp>
        <p:nvSpPr>
          <p:cNvPr id="4" name="">
            <a:extLst xmlns:a="http://schemas.openxmlformats.org/drawingml/2006/main">
              <a:ext uri="{FF2B5EF4-FFF2-40B4-BE49-F238E27FC236}">
                <a16:creationId xmlns:a16="http://schemas.microsoft.com/office/drawing/2014/main" id="{867E47AE-764D-469F-9BCB-2658AB437545}"/>
              </a:ext>
            </a:extLst>
          </p:cNvPr>
          <p:cNvSpPr>
            <a:spLocks xmlns:a="http://schemas.openxmlformats.org/drawingml/2006/main" noGrp="1"/>
          </p:cNvSpPr>
          <p:nvPr/>
        </p:nvSpPr>
        <p:spPr>
          <a:xfrm xmlns:a="http://schemas.openxmlformats.org/drawingml/2006/main">
            <a:off x="609600" y="1733550"/>
            <a:ext cx="1971675" cy="1066800"/>
          </a:xfrm>
          <a:prstGeom xmlns:a="http://schemas.openxmlformats.org/drawingml/2006/main" prst="rect">
            <a:avLst/>
          </a:prstGeom>
          <a:solidFill xmlns:a="http://schemas.openxmlformats.org/drawingml/2006/main">
            <a:srgbClr val="EDF3EE"/>
          </a:solidFill>
          <a:ln xmlns:a="http://schemas.openxmlformats.org/drawingml/2006/main" w="9525">
            <a:solidFill>
              <a:srgbClr val="A5C2B1"/>
            </a:solidFill>
          </a:ln>
        </p:spPr>
        <p:txBody>
          <a:bodyPr xmlns:a="http://schemas.openxmlformats.org/drawingml/2006/main">
            <a:noAutofit/>
          </a:bodyPr>
          <a:lstStyle xmlns:a="http://schemas.openxmlformats.org/drawingml/2006/main"/>
          <a:p xmlns:a="http://schemas.openxmlformats.org/drawingml/2006/main">
            <a:pPr>
              <a:defRPr sz="1800" b="1">
                <a:solidFill>
                  <a:srgbClr val="183B32"/>
                </a:solidFill>
                <a:latin typeface="Noto Sans"/>
                <a:ea typeface="Noto Sans"/>
                <a:cs typeface="Noto Sans"/>
              </a:defRPr>
            </a:pPr>
            <a:r>
              <a:rPr sz="1800" b="1">
                <a:solidFill>
                  <a:srgbClr val="183B32"/>
                </a:solidFill>
                <a:latin typeface="Noto Sans"/>
                <a:ea typeface="Noto Sans"/>
                <a:cs typeface="Noto Sans"/>
              </a:rPr>
              <a:t>Данные</a:t>
            </a:r>
          </a:p>
          <a:p xmlns:a="http://schemas.openxmlformats.org/drawingml/2006/main">
            <a:pPr>
              <a:defRPr sz="1800" b="1">
                <a:solidFill>
                  <a:srgbClr val="183B32"/>
                </a:solidFill>
                <a:latin typeface="Noto Sans"/>
                <a:ea typeface="Noto Sans"/>
                <a:cs typeface="Noto Sans"/>
              </a:defRPr>
            </a:pPr>
            <a:r>
              <a:rPr sz="1800" b="1">
                <a:solidFill>
                  <a:srgbClr val="183B32"/>
                </a:solidFill>
                <a:latin typeface="Noto Sans"/>
                <a:ea typeface="Noto Sans"/>
                <a:cs typeface="Noto Sans"/>
              </a:rPr>
              <a:t>и версии</a:t>
            </a:r>
          </a:p>
        </p:txBody>
      </p:sp>
      <p:sp>
        <p:nvSpPr>
          <p:cNvPr id="5" name="">
            <a:extLst xmlns:a="http://schemas.openxmlformats.org/drawingml/2006/main">
              <a:ext uri="{FF2B5EF4-FFF2-40B4-BE49-F238E27FC236}">
                <a16:creationId xmlns:a16="http://schemas.microsoft.com/office/drawing/2014/main" id="{7A817C4F-71BC-4D08-BFB9-263BC7CFFA86}"/>
              </a:ext>
            </a:extLst>
          </p:cNvPr>
          <p:cNvSpPr>
            <a:spLocks xmlns:a="http://schemas.openxmlformats.org/drawingml/2006/main" noGrp="1"/>
          </p:cNvSpPr>
          <p:nvPr/>
        </p:nvSpPr>
        <p:spPr>
          <a:xfrm xmlns:a="http://schemas.openxmlformats.org/drawingml/2006/main">
            <a:off x="2609850" y="2200275"/>
            <a:ext cx="228600" cy="152400"/>
          </a:xfrm>
          <a:prstGeom xmlns:a="http://schemas.openxmlformats.org/drawingml/2006/main" prst="rightArrow">
            <a:avLst/>
          </a:prstGeom>
          <a:solidFill xmlns:a="http://schemas.openxmlformats.org/drawingml/2006/main">
            <a:srgbClr val="0C825D"/>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B255CFB-CDA4-443E-BA22-85402995FDD0}"/>
              </a:ext>
            </a:extLst>
          </p:cNvPr>
          <p:cNvSpPr>
            <a:spLocks xmlns:a="http://schemas.openxmlformats.org/drawingml/2006/main" noGrp="1"/>
          </p:cNvSpPr>
          <p:nvPr/>
        </p:nvSpPr>
        <p:spPr>
          <a:xfrm xmlns:a="http://schemas.openxmlformats.org/drawingml/2006/main">
            <a:off x="2857500" y="1733550"/>
            <a:ext cx="1971675" cy="1066800"/>
          </a:xfrm>
          <a:prstGeom xmlns:a="http://schemas.openxmlformats.org/drawingml/2006/main" prst="rect">
            <a:avLst/>
          </a:prstGeom>
          <a:solidFill xmlns:a="http://schemas.openxmlformats.org/drawingml/2006/main">
            <a:srgbClr val="EDF3EE"/>
          </a:solidFill>
          <a:ln xmlns:a="http://schemas.openxmlformats.org/drawingml/2006/main" w="9525">
            <a:solidFill>
              <a:srgbClr val="A5C2B1"/>
            </a:solidFill>
          </a:ln>
        </p:spPr>
        <p:txBody>
          <a:bodyPr xmlns:a="http://schemas.openxmlformats.org/drawingml/2006/main">
            <a:noAutofit/>
          </a:bodyPr>
          <a:lstStyle xmlns:a="http://schemas.openxmlformats.org/drawingml/2006/main"/>
          <a:p xmlns:a="http://schemas.openxmlformats.org/drawingml/2006/main">
            <a:pPr>
              <a:defRPr sz="1800" b="1">
                <a:solidFill>
                  <a:srgbClr val="183B32"/>
                </a:solidFill>
                <a:latin typeface="Noto Sans"/>
                <a:ea typeface="Noto Sans"/>
                <a:cs typeface="Noto Sans"/>
              </a:defRPr>
            </a:pPr>
            <a:r>
              <a:rPr sz="1800" b="1">
                <a:solidFill>
                  <a:srgbClr val="183B32"/>
                </a:solidFill>
                <a:latin typeface="Noto Sans"/>
                <a:ea typeface="Noto Sans"/>
                <a:cs typeface="Noto Sans"/>
              </a:rPr>
              <a:t>Признаки</a:t>
            </a:r>
          </a:p>
          <a:p xmlns:a="http://schemas.openxmlformats.org/drawingml/2006/main">
            <a:pPr>
              <a:defRPr sz="1800" b="1">
                <a:solidFill>
                  <a:srgbClr val="183B32"/>
                </a:solidFill>
                <a:latin typeface="Noto Sans"/>
                <a:ea typeface="Noto Sans"/>
                <a:cs typeface="Noto Sans"/>
              </a:defRPr>
            </a:pPr>
            <a:r>
              <a:rPr sz="1800" b="1">
                <a:solidFill>
                  <a:srgbClr val="183B32"/>
                </a:solidFill>
                <a:latin typeface="Noto Sans"/>
                <a:ea typeface="Noto Sans"/>
                <a:cs typeface="Noto Sans"/>
              </a:rPr>
              <a:t>сезонность / рост</a:t>
            </a:r>
          </a:p>
        </p:txBody>
      </p:sp>
      <p:sp>
        <p:nvSpPr>
          <p:cNvPr id="7" name="">
            <a:extLst xmlns:a="http://schemas.openxmlformats.org/drawingml/2006/main">
              <a:ext uri="{FF2B5EF4-FFF2-40B4-BE49-F238E27FC236}">
                <a16:creationId xmlns:a16="http://schemas.microsoft.com/office/drawing/2014/main" id="{7C1C9CFA-55B9-45BF-9977-80DF61363982}"/>
              </a:ext>
            </a:extLst>
          </p:cNvPr>
          <p:cNvSpPr>
            <a:spLocks xmlns:a="http://schemas.openxmlformats.org/drawingml/2006/main" noGrp="1"/>
          </p:cNvSpPr>
          <p:nvPr/>
        </p:nvSpPr>
        <p:spPr>
          <a:xfrm xmlns:a="http://schemas.openxmlformats.org/drawingml/2006/main">
            <a:off x="4857750" y="2200275"/>
            <a:ext cx="228600" cy="152400"/>
          </a:xfrm>
          <a:prstGeom xmlns:a="http://schemas.openxmlformats.org/drawingml/2006/main" prst="rightArrow">
            <a:avLst/>
          </a:prstGeom>
          <a:solidFill xmlns:a="http://schemas.openxmlformats.org/drawingml/2006/main">
            <a:srgbClr val="0C825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8A1F677-A5FD-4B9F-9233-D7370A72E497}"/>
              </a:ext>
            </a:extLst>
          </p:cNvPr>
          <p:cNvSpPr>
            <a:spLocks xmlns:a="http://schemas.openxmlformats.org/drawingml/2006/main" noGrp="1"/>
          </p:cNvSpPr>
          <p:nvPr/>
        </p:nvSpPr>
        <p:spPr>
          <a:xfrm xmlns:a="http://schemas.openxmlformats.org/drawingml/2006/main">
            <a:off x="5105400" y="1733550"/>
            <a:ext cx="1971675" cy="1066800"/>
          </a:xfrm>
          <a:prstGeom xmlns:a="http://schemas.openxmlformats.org/drawingml/2006/main" prst="rect">
            <a:avLst/>
          </a:prstGeom>
          <a:solidFill xmlns:a="http://schemas.openxmlformats.org/drawingml/2006/main">
            <a:srgbClr val="EDF3EE"/>
          </a:solidFill>
          <a:ln xmlns:a="http://schemas.openxmlformats.org/drawingml/2006/main" w="9525">
            <a:solidFill>
              <a:srgbClr val="A5C2B1"/>
            </a:solidFill>
          </a:ln>
        </p:spPr>
        <p:txBody>
          <a:bodyPr xmlns:a="http://schemas.openxmlformats.org/drawingml/2006/main">
            <a:noAutofit/>
          </a:bodyPr>
          <a:lstStyle xmlns:a="http://schemas.openxmlformats.org/drawingml/2006/main"/>
          <a:p xmlns:a="http://schemas.openxmlformats.org/drawingml/2006/main">
            <a:pPr>
              <a:defRPr sz="1800" b="1">
                <a:solidFill>
                  <a:srgbClr val="183B32"/>
                </a:solidFill>
                <a:latin typeface="Noto Sans"/>
                <a:ea typeface="Noto Sans"/>
                <a:cs typeface="Noto Sans"/>
              </a:defRPr>
            </a:pPr>
            <a:r>
              <a:rPr sz="1800" b="1">
                <a:solidFill>
                  <a:srgbClr val="183B32"/>
                </a:solidFill>
                <a:latin typeface="Noto Sans"/>
                <a:ea typeface="Noto Sans"/>
                <a:cs typeface="Noto Sans"/>
              </a:rPr>
              <a:t>Модель</a:t>
            </a:r>
          </a:p>
          <a:p xmlns:a="http://schemas.openxmlformats.org/drawingml/2006/main">
            <a:pPr>
              <a:defRPr sz="1800" b="1">
                <a:solidFill>
                  <a:srgbClr val="183B32"/>
                </a:solidFill>
                <a:latin typeface="Noto Sans"/>
                <a:ea typeface="Noto Sans"/>
                <a:cs typeface="Noto Sans"/>
              </a:defRPr>
            </a:pPr>
            <a:r>
              <a:rPr sz="1800" b="1">
                <a:solidFill>
                  <a:srgbClr val="183B32"/>
                </a:solidFill>
                <a:latin typeface="Noto Sans"/>
                <a:ea typeface="Noto Sans"/>
                <a:cs typeface="Noto Sans"/>
              </a:rPr>
              <a:t>4 горизонта</a:t>
            </a:r>
          </a:p>
        </p:txBody>
      </p:sp>
      <p:sp>
        <p:nvSpPr>
          <p:cNvPr id="9" name="">
            <a:extLst xmlns:a="http://schemas.openxmlformats.org/drawingml/2006/main">
              <a:ext uri="{FF2B5EF4-FFF2-40B4-BE49-F238E27FC236}">
                <a16:creationId xmlns:a16="http://schemas.microsoft.com/office/drawing/2014/main" id="{3C662AA1-5705-4AAC-AE3C-ABFF28AD38BD}"/>
              </a:ext>
            </a:extLst>
          </p:cNvPr>
          <p:cNvSpPr>
            <a:spLocks xmlns:a="http://schemas.openxmlformats.org/drawingml/2006/main" noGrp="1"/>
          </p:cNvSpPr>
          <p:nvPr/>
        </p:nvSpPr>
        <p:spPr>
          <a:xfrm xmlns:a="http://schemas.openxmlformats.org/drawingml/2006/main">
            <a:off x="7105650" y="2200275"/>
            <a:ext cx="228600" cy="152400"/>
          </a:xfrm>
          <a:prstGeom xmlns:a="http://schemas.openxmlformats.org/drawingml/2006/main" prst="rightArrow">
            <a:avLst/>
          </a:prstGeom>
          <a:solidFill xmlns:a="http://schemas.openxmlformats.org/drawingml/2006/main">
            <a:srgbClr val="0C825D"/>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02CDE52-6E7A-47DB-96AE-0ACD48E41B13}"/>
              </a:ext>
            </a:extLst>
          </p:cNvPr>
          <p:cNvSpPr>
            <a:spLocks xmlns:a="http://schemas.openxmlformats.org/drawingml/2006/main" noGrp="1"/>
          </p:cNvSpPr>
          <p:nvPr/>
        </p:nvSpPr>
        <p:spPr>
          <a:xfrm xmlns:a="http://schemas.openxmlformats.org/drawingml/2006/main">
            <a:off x="7353300" y="1733550"/>
            <a:ext cx="1971675" cy="1066800"/>
          </a:xfrm>
          <a:prstGeom xmlns:a="http://schemas.openxmlformats.org/drawingml/2006/main" prst="rect">
            <a:avLst/>
          </a:prstGeom>
          <a:solidFill xmlns:a="http://schemas.openxmlformats.org/drawingml/2006/main">
            <a:srgbClr val="EDF3EE"/>
          </a:solidFill>
          <a:ln xmlns:a="http://schemas.openxmlformats.org/drawingml/2006/main" w="9525">
            <a:solidFill>
              <a:srgbClr val="A5C2B1"/>
            </a:solidFill>
          </a:ln>
        </p:spPr>
        <p:txBody>
          <a:bodyPr xmlns:a="http://schemas.openxmlformats.org/drawingml/2006/main">
            <a:noAutofit/>
          </a:bodyPr>
          <a:lstStyle xmlns:a="http://schemas.openxmlformats.org/drawingml/2006/main"/>
          <a:p xmlns:a="http://schemas.openxmlformats.org/drawingml/2006/main">
            <a:pPr>
              <a:defRPr sz="1800" b="1">
                <a:solidFill>
                  <a:srgbClr val="183B32"/>
                </a:solidFill>
                <a:latin typeface="Noto Sans"/>
                <a:ea typeface="Noto Sans"/>
                <a:cs typeface="Noto Sans"/>
              </a:defRPr>
            </a:pPr>
            <a:r>
              <a:rPr sz="1800" b="1">
                <a:solidFill>
                  <a:srgbClr val="183B32"/>
                </a:solidFill>
                <a:latin typeface="Noto Sans"/>
                <a:ea typeface="Noto Sans"/>
                <a:cs typeface="Noto Sans"/>
              </a:rPr>
              <a:t>Детектор</a:t>
            </a:r>
          </a:p>
          <a:p xmlns:a="http://schemas.openxmlformats.org/drawingml/2006/main">
            <a:pPr>
              <a:defRPr sz="1800" b="1">
                <a:solidFill>
                  <a:srgbClr val="183B32"/>
                </a:solidFill>
                <a:latin typeface="Noto Sans"/>
                <a:ea typeface="Noto Sans"/>
                <a:cs typeface="Noto Sans"/>
              </a:defRPr>
            </a:pPr>
            <a:r>
              <a:rPr sz="1800" b="1">
                <a:solidFill>
                  <a:srgbClr val="183B32"/>
                </a:solidFill>
                <a:latin typeface="Noto Sans"/>
                <a:ea typeface="Noto Sans"/>
                <a:cs typeface="Noto Sans"/>
              </a:rPr>
              <a:t>МО / регион</a:t>
            </a:r>
          </a:p>
        </p:txBody>
      </p:sp>
      <p:sp>
        <p:nvSpPr>
          <p:cNvPr id="11" name="">
            <a:extLst xmlns:a="http://schemas.openxmlformats.org/drawingml/2006/main">
              <a:ext uri="{FF2B5EF4-FFF2-40B4-BE49-F238E27FC236}">
                <a16:creationId xmlns:a16="http://schemas.microsoft.com/office/drawing/2014/main" id="{93A89D4C-8185-4214-8921-01B7BF44139D}"/>
              </a:ext>
            </a:extLst>
          </p:cNvPr>
          <p:cNvSpPr>
            <a:spLocks xmlns:a="http://schemas.openxmlformats.org/drawingml/2006/main" noGrp="1"/>
          </p:cNvSpPr>
          <p:nvPr/>
        </p:nvSpPr>
        <p:spPr>
          <a:xfrm xmlns:a="http://schemas.openxmlformats.org/drawingml/2006/main">
            <a:off x="9353550" y="2200275"/>
            <a:ext cx="228600" cy="152400"/>
          </a:xfrm>
          <a:prstGeom xmlns:a="http://schemas.openxmlformats.org/drawingml/2006/main" prst="rightArrow">
            <a:avLst/>
          </a:prstGeom>
          <a:solidFill xmlns:a="http://schemas.openxmlformats.org/drawingml/2006/main">
            <a:srgbClr val="0C825D"/>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C99AB67-1483-4B4C-BC07-EE9844DC2DC9}"/>
              </a:ext>
            </a:extLst>
          </p:cNvPr>
          <p:cNvSpPr>
            <a:spLocks xmlns:a="http://schemas.openxmlformats.org/drawingml/2006/main" noGrp="1"/>
          </p:cNvSpPr>
          <p:nvPr/>
        </p:nvSpPr>
        <p:spPr>
          <a:xfrm xmlns:a="http://schemas.openxmlformats.org/drawingml/2006/main">
            <a:off x="9601200" y="1733550"/>
            <a:ext cx="1971675" cy="1066800"/>
          </a:xfrm>
          <a:prstGeom xmlns:a="http://schemas.openxmlformats.org/drawingml/2006/main" prst="rect">
            <a:avLst/>
          </a:prstGeom>
          <a:solidFill xmlns:a="http://schemas.openxmlformats.org/drawingml/2006/main">
            <a:srgbClr val="D9EEE2"/>
          </a:solidFill>
          <a:ln xmlns:a="http://schemas.openxmlformats.org/drawingml/2006/main" w="9525">
            <a:solidFill>
              <a:srgbClr val="A5C2B1"/>
            </a:solidFill>
          </a:ln>
        </p:spPr>
        <p:txBody>
          <a:bodyPr xmlns:a="http://schemas.openxmlformats.org/drawingml/2006/main">
            <a:noAutofit/>
          </a:bodyPr>
          <a:lstStyle xmlns:a="http://schemas.openxmlformats.org/drawingml/2006/main"/>
          <a:p xmlns:a="http://schemas.openxmlformats.org/drawingml/2006/main">
            <a:pPr>
              <a:defRPr sz="1800" b="1">
                <a:solidFill>
                  <a:srgbClr val="183B32"/>
                </a:solidFill>
                <a:latin typeface="Noto Sans"/>
                <a:ea typeface="Noto Sans"/>
                <a:cs typeface="Noto Sans"/>
              </a:defRPr>
            </a:pPr>
            <a:r>
              <a:rPr sz="1800" b="1">
                <a:solidFill>
                  <a:srgbClr val="183B32"/>
                </a:solidFill>
                <a:latin typeface="Noto Sans"/>
                <a:ea typeface="Noto Sans"/>
                <a:cs typeface="Noto Sans"/>
              </a:rPr>
              <a:t>Аналитик</a:t>
            </a:r>
          </a:p>
          <a:p xmlns:a="http://schemas.openxmlformats.org/drawingml/2006/main">
            <a:pPr>
              <a:defRPr sz="1800" b="1">
                <a:solidFill>
                  <a:srgbClr val="183B32"/>
                </a:solidFill>
                <a:latin typeface="Noto Sans"/>
                <a:ea typeface="Noto Sans"/>
                <a:cs typeface="Noto Sans"/>
              </a:defRPr>
            </a:pPr>
            <a:r>
              <a:rPr sz="1800" b="1">
                <a:solidFill>
                  <a:srgbClr val="183B32"/>
                </a:solidFill>
                <a:latin typeface="Noto Sans"/>
                <a:ea typeface="Noto Sans"/>
                <a:cs typeface="Noto Sans"/>
              </a:rPr>
              <a:t>проверка сигнала</a:t>
            </a:r>
          </a:p>
        </p:txBody>
      </p:sp>
      <p:sp>
        <p:nvSpPr>
          <p:cNvPr id="13" name="">
            <a:extLst xmlns:a="http://schemas.openxmlformats.org/drawingml/2006/main">
              <a:ext uri="{FF2B5EF4-FFF2-40B4-BE49-F238E27FC236}">
                <a16:creationId xmlns:a16="http://schemas.microsoft.com/office/drawing/2014/main" id="{5D3ECB07-F1CD-45F8-BB2F-949E26A61464}"/>
              </a:ext>
            </a:extLst>
          </p:cNvPr>
          <p:cNvSpPr>
            <a:spLocks xmlns:a="http://schemas.openxmlformats.org/drawingml/2006/main" noGrp="1"/>
          </p:cNvSpPr>
          <p:nvPr/>
        </p:nvSpPr>
        <p:spPr>
          <a:xfrm xmlns:a="http://schemas.openxmlformats.org/drawingml/2006/main">
            <a:off x="609600" y="3476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0C825D"/>
                </a:solidFill>
                <a:latin typeface="Noto Sans"/>
                <a:ea typeface="Noto Sans"/>
                <a:cs typeface="Noto Sans"/>
              </a:defRPr>
            </a:pPr>
            <a:r>
              <a:rPr sz="2325" b="0">
                <a:solidFill>
                  <a:srgbClr val="0C825D"/>
                </a:solidFill>
                <a:latin typeface="Noto Sans"/>
                <a:ea typeface="Noto Sans"/>
                <a:cs typeface="Noto Sans"/>
              </a:rPr>
              <a:t>Новости → доступность и территория → контекст для аналитика</a:t>
            </a:r>
          </a:p>
        </p:txBody>
      </p:sp>
      <p:sp>
        <p:nvSpPr>
          <p:cNvPr id="14" name="">
            <a:extLst xmlns:a="http://schemas.openxmlformats.org/drawingml/2006/main">
              <a:ext uri="{FF2B5EF4-FFF2-40B4-BE49-F238E27FC236}">
                <a16:creationId xmlns:a16="http://schemas.microsoft.com/office/drawing/2014/main" id="{590896BC-7DA3-43A0-9152-5450B9D5FBE0}"/>
              </a:ext>
            </a:extLst>
          </p:cNvPr>
          <p:cNvSpPr>
            <a:spLocks xmlns:a="http://schemas.openxmlformats.org/drawingml/2006/main" noGrp="1"/>
          </p:cNvSpPr>
          <p:nvPr/>
        </p:nvSpPr>
        <p:spPr>
          <a:xfrm xmlns:a="http://schemas.openxmlformats.org/drawingml/2006/main">
            <a:off x="609600" y="44291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83B32"/>
                </a:solidFill>
                <a:latin typeface="Noto Sans"/>
                <a:ea typeface="Noto Sans"/>
                <a:cs typeface="Noto Sans"/>
              </a:defRPr>
            </a:pPr>
            <a:r>
              <a:rPr sz="2250" b="1">
                <a:solidFill>
                  <a:srgbClr val="183B32"/>
                </a:solidFill>
                <a:latin typeface="Noto Sans"/>
                <a:ea typeface="Noto Sans"/>
                <a:cs typeface="Noto Sans"/>
              </a:rPr>
              <a:t>Что получает аналитик</a:t>
            </a:r>
          </a:p>
        </p:txBody>
      </p:sp>
      <p:sp>
        <p:nvSpPr>
          <p:cNvPr id="15" name="">
            <a:extLst xmlns:a="http://schemas.openxmlformats.org/drawingml/2006/main">
              <a:ext uri="{FF2B5EF4-FFF2-40B4-BE49-F238E27FC236}">
                <a16:creationId xmlns:a16="http://schemas.microsoft.com/office/drawing/2014/main" id="{DB8197E3-B833-4DEB-9BD1-74642633CFA7}"/>
              </a:ext>
            </a:extLst>
          </p:cNvPr>
          <p:cNvSpPr>
            <a:spLocks xmlns:a="http://schemas.openxmlformats.org/drawingml/2006/main" noGrp="1"/>
          </p:cNvSpPr>
          <p:nvPr/>
        </p:nvSpPr>
        <p:spPr>
          <a:xfrm xmlns:a="http://schemas.openxmlformats.org/drawingml/2006/main">
            <a:off x="609600" y="5029200"/>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83B32"/>
                </a:solidFill>
                <a:latin typeface="Noto Sans"/>
                <a:ea typeface="Noto Sans"/>
                <a:cs typeface="Noto Sans"/>
              </a:defRPr>
            </a:pPr>
            <a:r>
              <a:rPr sz="1950" b="0">
                <a:solidFill>
                  <a:srgbClr val="183B32"/>
                </a:solidFill>
                <a:latin typeface="Noto Sans"/>
                <a:ea typeface="Noto Sans"/>
                <a:cs typeface="Noto Sans"/>
              </a:rPr>
              <a:t>Прогноз расходов · величина отклонения · подтверждающие источники</a:t>
            </a:r>
          </a:p>
          <a:p xmlns:a="http://schemas.openxmlformats.org/drawingml/2006/main">
            <a:pPr>
              <a:defRPr sz="1950" b="0">
                <a:solidFill>
                  <a:srgbClr val="183B32"/>
                </a:solidFill>
                <a:latin typeface="Noto Sans"/>
                <a:ea typeface="Noto Sans"/>
                <a:cs typeface="Noto Sans"/>
              </a:defRPr>
            </a:pPr>
            <a:r>
              <a:rPr sz="1950" b="0">
                <a:solidFill>
                  <a:srgbClr val="183B32"/>
                </a:solidFill>
                <a:latin typeface="Noto Sans"/>
                <a:ea typeface="Noto Sans"/>
                <a:cs typeface="Noto Sans"/>
              </a:rPr>
              <a:t>Очередь эпизодов для проверки; интерфейс показывает сохранённые результаты</a:t>
            </a:r>
          </a:p>
        </p:txBody>
      </p:sp>
    </p:spTree>
    <p:extLst>
      <p:ext uri="{BB962C8B-B14F-4D97-AF65-F5344CB8AC3E}">
        <p14:creationId xmlns:p14="http://schemas.microsoft.com/office/powerpoint/2010/main" val="802223194"/>
      </p:ext>
    </p:extLst>
  </p:cSld>
</p:sld>
</file>

<file path=ppt/slides/slide18.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5600D97-4F39-4161-A6DF-1BF633A88A62}"/>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2025: две версии роста сохранены для проверки</a:t>
            </a:r>
          </a:p>
        </p:txBody>
      </p:sp>
      <p:sp>
        <p:nvSpPr>
          <p:cNvPr id="2" name="">
            <a:extLst xmlns:a="http://schemas.openxmlformats.org/drawingml/2006/main">
              <a:ext uri="{FF2B5EF4-FFF2-40B4-BE49-F238E27FC236}">
                <a16:creationId xmlns:a16="http://schemas.microsoft.com/office/drawing/2014/main" id="{ADC1D3A5-3F25-4DA5-AF84-69F5E3E8F9DC}"/>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18 / 21</a:t>
            </a:r>
          </a:p>
        </p:txBody>
      </p:sp>
      <p:sp>
        <p:nvSpPr>
          <p:cNvPr id="3" name="">
            <a:extLst xmlns:a="http://schemas.openxmlformats.org/drawingml/2006/main">
              <a:ext uri="{FF2B5EF4-FFF2-40B4-BE49-F238E27FC236}">
                <a16:creationId xmlns:a16="http://schemas.microsoft.com/office/drawing/2014/main" id="{21CB0E3E-BAB1-43FC-9A00-09C22A43C391}"/>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Расчёт 07.10.2026 без муниципальных фактов 2025. Правило предложено после изучения 2024 и сообщения об агрегате 2025.</a:t>
            </a:r>
          </a:p>
        </p:txBody>
      </p:sp>
      <p:sp>
        <p:nvSpPr>
          <p:cNvPr id="4" name="">
            <a:extLst xmlns:a="http://schemas.openxmlformats.org/drawingml/2006/main">
              <a:ext uri="{FF2B5EF4-FFF2-40B4-BE49-F238E27FC236}">
                <a16:creationId xmlns:a16="http://schemas.microsoft.com/office/drawing/2014/main" id="{F227DF82-F9FD-443D-88D1-D5BCC33817BC}"/>
              </a:ext>
            </a:extLst>
          </p:cNvPr>
          <p:cNvSpPr>
            <a:spLocks xmlns:a="http://schemas.openxmlformats.org/drawingml/2006/main" noGrp="1"/>
          </p:cNvSpPr>
          <p:nvPr/>
        </p:nvSpPr>
        <p:spPr>
          <a:xfrm xmlns:a="http://schemas.openxmlformats.org/drawingml/2006/main">
            <a:off x="609600" y="15430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C825D"/>
                </a:solidFill>
                <a:latin typeface="Noto Sans"/>
                <a:ea typeface="Noto Sans"/>
                <a:cs typeface="Noto Sans"/>
              </a:defRPr>
            </a:pPr>
            <a:r>
              <a:rPr sz="2325" b="1">
                <a:solidFill>
                  <a:srgbClr val="0C825D"/>
                </a:solidFill>
                <a:latin typeface="Noto Sans"/>
                <a:ea typeface="Noto Sans"/>
                <a:cs typeface="Noto Sans"/>
              </a:rPr>
              <a:t>В каждом файле: 8 092 прогноза · 2 023 одинаковых МО</a:t>
            </a:r>
          </a:p>
        </p:txBody>
      </p:sp>
      <p:graphicFrame>
        <p:nvGraphicFramePr>
          <p:cNvPr id="12" name=""/>
          <p:cNvGraphicFramePr/>
          <p:nvPr/>
        </p:nvGraphicFramePr>
        <p:xfrm>
          <a:off xmlns:a="http://schemas.openxmlformats.org/drawingml/2006/main" x="609600" y="2428875"/>
          <a:ext xmlns:a="http://schemas.openxmlformats.org/drawingml/2006/main" cx="10972800" cy="1524000"/>
        </p:xfrm>
        <a:graphic xmlns:a="http://schemas.openxmlformats.org/drawingml/2006/main">
          <a:graphicData uri="http://schemas.openxmlformats.org/drawingml/2006/table">
            <a:tbl>
              <a:tblPr firstRow="1" bandRow="0"/>
              <a:tblGrid>
                <a:gridCol w="2286000"/>
                <a:gridCol w="6619875"/>
                <a:gridCol w="2066925"/>
              </a:tblGrid>
              <a:tr h="508000">
                <a:tc>
                  <a:txBody>
                    <a:bodyPr/>
                    <a:lstStyle/>
                    <a:p>
                      <a:r>
                        <a:rPr sz="1800" b="1">
                          <a:solidFill>
                            <a:srgbClr val="FFFFFF"/>
                          </a:solidFill>
                          <a:latin typeface="Noto Sans"/>
                          <a:ea typeface="Noto Sans"/>
                          <a:cs typeface="Noto Sans"/>
                        </a:rPr>
                        <a:t>Версия</a:t>
                      </a:r>
                    </a:p>
                  </a:txBody>
                  <a:tcPr marL="91440" marR="91440" marT="45720" marB="45720">
                    <a:solidFill>
                      <a:srgbClr val="183B32"/>
                    </a:solidFill>
                  </a:tcPr>
                </a:tc>
                <a:tc>
                  <a:txBody>
                    <a:bodyPr/>
                    <a:lstStyle/>
                    <a:p>
                      <a:r>
                        <a:rPr sz="1800" b="1">
                          <a:solidFill>
                            <a:srgbClr val="FFFFFF"/>
                          </a:solidFill>
                          <a:latin typeface="Noto Sans"/>
                          <a:ea typeface="Noto Sans"/>
                          <a:cs typeface="Noto Sans"/>
                        </a:rPr>
                        <a:t>Правило роста</a:t>
                      </a:r>
                    </a:p>
                  </a:txBody>
                  <a:tcPr marL="91440" marR="91440" marT="45720" marB="45720">
                    <a:solidFill>
                      <a:srgbClr val="183B32"/>
                    </a:solidFill>
                  </a:tcPr>
                </a:tc>
                <a:tc>
                  <a:txBody>
                    <a:bodyPr/>
                    <a:lstStyle/>
                    <a:p>
                      <a:r>
                        <a:rPr sz="1800" b="1">
                          <a:solidFill>
                            <a:srgbClr val="FFFFFF"/>
                          </a:solidFill>
                          <a:latin typeface="Noto Sans"/>
                          <a:ea typeface="Noto Sans"/>
                          <a:cs typeface="Noto Sans"/>
                        </a:rPr>
                        <a:t>Рост (медиана)</a:t>
                      </a:r>
                    </a:p>
                  </a:txBody>
                  <a:tcPr marL="91440" marR="91440" marT="45720" marB="45720">
                    <a:solidFill>
                      <a:srgbClr val="183B32"/>
                    </a:solidFill>
                  </a:tcPr>
                </a:tc>
              </a:tr>
              <a:tr h="508000">
                <a:tc>
                  <a:txBody>
                    <a:bodyPr/>
                    <a:lstStyle/>
                    <a:p>
                      <a:r>
                        <a:rPr sz="1800" b="0">
                          <a:solidFill>
                            <a:srgbClr val="183B32"/>
                          </a:solidFill>
                          <a:latin typeface="Noto Sans"/>
                          <a:ea typeface="Noto Sans"/>
                          <a:cs typeface="Noto Sans"/>
                        </a:rPr>
                        <a:t>Исходная</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Рост зарплат Росстата</a:t>
                      </a:r>
                    </a:p>
                  </a:txBody>
                  <a:tcPr marL="91440" marR="91440" marT="45720" marB="45720">
                    <a:solidFill>
                      <a:srgbClr val="F0F6F1"/>
                    </a:solidFill>
                  </a:tcPr>
                </a:tc>
                <a:tc>
                  <a:txBody>
                    <a:bodyPr/>
                    <a:lstStyle/>
                    <a:p>
                      <a:r>
                        <a:rPr sz="1800" b="0">
                          <a:solidFill>
                            <a:srgbClr val="183B32"/>
                          </a:solidFill>
                          <a:latin typeface="Noto Sans"/>
                          <a:ea typeface="Noto Sans"/>
                          <a:cs typeface="Noto Sans"/>
                        </a:rPr>
                        <a:t>17,2%</a:t>
                      </a:r>
                    </a:p>
                  </a:txBody>
                  <a:tcPr marL="91440" marR="91440" marT="45720" marB="45720">
                    <a:solidFill>
                      <a:srgbClr val="F0F6F1"/>
                    </a:solidFill>
                  </a:tcPr>
                </a:tc>
              </a:tr>
              <a:tr h="508000">
                <a:tc>
                  <a:txBody>
                    <a:bodyPr/>
                    <a:lstStyle/>
                    <a:p>
                      <a:r>
                        <a:rPr sz="1800" b="0">
                          <a:solidFill>
                            <a:srgbClr val="183B32"/>
                          </a:solidFill>
                          <a:latin typeface="Noto Sans"/>
                          <a:ea typeface="Noto Sans"/>
                          <a:cs typeface="Noto Sans"/>
                        </a:rPr>
                        <a:t>Новый кандидат</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Медиана годового роста региона за 3 месяца</a:t>
                      </a:r>
                    </a:p>
                  </a:txBody>
                  <a:tcPr marL="91440" marR="91440" marT="45720" marB="45720">
                    <a:solidFill>
                      <a:srgbClr val="FFFFFF"/>
                    </a:solidFill>
                  </a:tcPr>
                </a:tc>
                <a:tc>
                  <a:txBody>
                    <a:bodyPr/>
                    <a:lstStyle/>
                    <a:p>
                      <a:r>
                        <a:rPr sz="1800" b="0">
                          <a:solidFill>
                            <a:srgbClr val="183B32"/>
                          </a:solidFill>
                          <a:latin typeface="Noto Sans"/>
                          <a:ea typeface="Noto Sans"/>
                          <a:cs typeface="Noto Sans"/>
                        </a:rPr>
                        <a:t>14,79%</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2AC94CB7-EAF4-4AAC-8E33-A0D6AFCDA8C4}"/>
              </a:ext>
            </a:extLst>
          </p:cNvPr>
          <p:cNvSpPr>
            <a:spLocks xmlns:a="http://schemas.openxmlformats.org/drawingml/2006/main" noGrp="1"/>
          </p:cNvSpPr>
          <p:nvPr/>
        </p:nvSpPr>
        <p:spPr>
          <a:xfrm xmlns:a="http://schemas.openxmlformats.org/drawingml/2006/main">
            <a:off x="609600" y="42481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3B32"/>
                </a:solidFill>
                <a:latin typeface="Noto Sans"/>
                <a:ea typeface="Noto Sans"/>
                <a:cs typeface="Noto Sans"/>
              </a:defRPr>
            </a:pPr>
            <a:r>
              <a:rPr sz="1875" b="0">
                <a:solidFill>
                  <a:srgbClr val="183B32"/>
                </a:solidFill>
                <a:latin typeface="Noto Sans"/>
                <a:ea typeface="Noto Sans"/>
                <a:cs typeface="Noto Sans"/>
              </a:rPr>
              <a:t>Недостаточно годовой истории → документированный макроисточник</a:t>
            </a:r>
          </a:p>
          <a:p xmlns:a="http://schemas.openxmlformats.org/drawingml/2006/main">
            <a:pPr>
              <a:defRPr sz="1875" b="0">
                <a:solidFill>
                  <a:srgbClr val="183B32"/>
                </a:solidFill>
                <a:latin typeface="Noto Sans"/>
                <a:ea typeface="Noto Sans"/>
                <a:cs typeface="Noto Sans"/>
              </a:defRPr>
            </a:pPr>
            <a:r>
              <a:rPr sz="1875" b="0">
                <a:solidFill>
                  <a:srgbClr val="183B32"/>
                </a:solidFill>
                <a:latin typeface="Noto Sans"/>
                <a:ea typeface="Noto Sans"/>
                <a:cs typeface="Noto Sans"/>
              </a:rPr>
              <a:t>Медианный прогноз кандидата ниже на 2,05%; диапазон −6,01…+3,16%</a:t>
            </a:r>
          </a:p>
        </p:txBody>
      </p:sp>
      <p:sp>
        <p:nvSpPr>
          <p:cNvPr id="7" name="">
            <a:extLst xmlns:a="http://schemas.openxmlformats.org/drawingml/2006/main">
              <a:ext uri="{FF2B5EF4-FFF2-40B4-BE49-F238E27FC236}">
                <a16:creationId xmlns:a16="http://schemas.microsoft.com/office/drawing/2014/main" id="{36FB4D07-45A7-47C4-B04C-CA3AA90AA390}"/>
              </a:ext>
            </a:extLst>
          </p:cNvPr>
          <p:cNvSpPr>
            <a:spLocks xmlns:a="http://schemas.openxmlformats.org/drawingml/2006/main" noGrp="1"/>
          </p:cNvSpPr>
          <p:nvPr/>
        </p:nvSpPr>
        <p:spPr>
          <a:xfrm xmlns:a="http://schemas.openxmlformats.org/drawingml/2006/main">
            <a:off x="609600" y="52006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0C825D"/>
                </a:solidFill>
                <a:latin typeface="Noto Sans"/>
                <a:ea typeface="Noto Sans"/>
                <a:cs typeface="Noto Sans"/>
              </a:defRPr>
            </a:pPr>
            <a:r>
              <a:rPr sz="1875" b="1">
                <a:solidFill>
                  <a:srgbClr val="0C825D"/>
                </a:solidFill>
                <a:latin typeface="Noto Sans"/>
                <a:ea typeface="Noto Sans"/>
                <a:cs typeface="Noto Sans"/>
              </a:rPr>
              <a:t>2025: проверка покажет поведение при замедлении роста</a:t>
            </a:r>
          </a:p>
          <a:p xmlns:a="http://schemas.openxmlformats.org/drawingml/2006/main">
            <a:pPr>
              <a:defRPr sz="1875" b="1">
                <a:solidFill>
                  <a:srgbClr val="0C825D"/>
                </a:solidFill>
                <a:latin typeface="Noto Sans"/>
                <a:ea typeface="Noto Sans"/>
                <a:cs typeface="Noto Sans"/>
              </a:defRPr>
            </a:pPr>
            <a:r>
              <a:rPr sz="1875" b="1">
                <a:solidFill>
                  <a:srgbClr val="0C825D"/>
                </a:solidFill>
                <a:latin typeface="Noto Sans"/>
                <a:ea typeface="Noto Sans"/>
                <a:cs typeface="Noto Sans"/>
              </a:rPr>
              <a:t>Оба файла, входы и код имеют SHA256; прежний ансамбль также сохранён</a:t>
            </a:r>
          </a:p>
        </p:txBody>
      </p:sp>
    </p:spTree>
    <p:extLst>
      <p:ext uri="{BB962C8B-B14F-4D97-AF65-F5344CB8AC3E}">
        <p14:creationId xmlns:p14="http://schemas.microsoft.com/office/powerpoint/2010/main" val="1933995683"/>
      </p:ext>
    </p:extLst>
  </p:cSld>
</p:sld>
</file>

<file path=ppt/slides/slide19.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3BCB76C-7AA4-474B-B874-6F01D5F2D316}"/>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Границы доверия к результатам</a:t>
            </a:r>
          </a:p>
        </p:txBody>
      </p:sp>
      <p:sp>
        <p:nvSpPr>
          <p:cNvPr id="2" name="">
            <a:extLst xmlns:a="http://schemas.openxmlformats.org/drawingml/2006/main">
              <a:ext uri="{FF2B5EF4-FFF2-40B4-BE49-F238E27FC236}">
                <a16:creationId xmlns:a16="http://schemas.microsoft.com/office/drawing/2014/main" id="{443DDA62-9309-4F82-A866-AAF6DABCC6D1}"/>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19 / 21</a:t>
            </a:r>
          </a:p>
        </p:txBody>
      </p:sp>
      <p:sp>
        <p:nvSpPr>
          <p:cNvPr id="3" name="">
            <a:extLst xmlns:a="http://schemas.openxmlformats.org/drawingml/2006/main">
              <a:ext uri="{FF2B5EF4-FFF2-40B4-BE49-F238E27FC236}">
                <a16:creationId xmlns:a16="http://schemas.microsoft.com/office/drawing/2014/main" id="{A12C429C-CAC9-4E90-93D7-CB93AE05ABB9}"/>
              </a:ext>
            </a:extLst>
          </p:cNvPr>
          <p:cNvSpPr>
            <a:spLocks xmlns:a="http://schemas.openxmlformats.org/drawingml/2006/main" noGrp="1"/>
          </p:cNvSpPr>
          <p:nvPr/>
        </p:nvSpPr>
        <p:spPr>
          <a:xfrm xmlns:a="http://schemas.openxmlformats.org/drawingml/2006/main">
            <a:off x="609600" y="16192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83B32"/>
                </a:solidFill>
                <a:latin typeface="Noto Sans"/>
                <a:ea typeface="Noto Sans"/>
                <a:cs typeface="Noto Sans"/>
              </a:defRPr>
            </a:pPr>
            <a:r>
              <a:rPr sz="2250" b="1">
                <a:solidFill>
                  <a:srgbClr val="183B32"/>
                </a:solidFill>
                <a:latin typeface="Noto Sans"/>
                <a:ea typeface="Noto Sans"/>
                <a:cs typeface="Noto Sans"/>
              </a:rPr>
              <a:t>Архив 2024 многократно изучен</a:t>
            </a:r>
          </a:p>
        </p:txBody>
      </p:sp>
      <p:sp>
        <p:nvSpPr>
          <p:cNvPr id="4" name="">
            <a:extLst xmlns:a="http://schemas.openxmlformats.org/drawingml/2006/main">
              <a:ext uri="{FF2B5EF4-FFF2-40B4-BE49-F238E27FC236}">
                <a16:creationId xmlns:a16="http://schemas.microsoft.com/office/drawing/2014/main" id="{D74A7DB8-2138-4507-B140-3328429C45B1}"/>
              </a:ext>
            </a:extLst>
          </p:cNvPr>
          <p:cNvSpPr>
            <a:spLocks xmlns:a="http://schemas.openxmlformats.org/drawingml/2006/main" noGrp="1"/>
          </p:cNvSpPr>
          <p:nvPr/>
        </p:nvSpPr>
        <p:spPr>
          <a:xfrm xmlns:a="http://schemas.openxmlformats.org/drawingml/2006/main">
            <a:off x="609600" y="22479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83B32"/>
                </a:solidFill>
                <a:latin typeface="Noto Sans"/>
                <a:ea typeface="Noto Sans"/>
                <a:cs typeface="Noto Sans"/>
              </a:defRPr>
            </a:pPr>
            <a:r>
              <a:rPr sz="2025" b="0">
                <a:solidFill>
                  <a:srgbClr val="183B32"/>
                </a:solidFill>
                <a:latin typeface="Noto Sans"/>
                <a:ea typeface="Noto Sans"/>
                <a:cs typeface="Noto Sans"/>
              </a:rPr>
              <a:t>Независимого временного теста нет. На h12 одна целевая дата.</a:t>
            </a:r>
          </a:p>
          <a:p xmlns:a="http://schemas.openxmlformats.org/drawingml/2006/main">
            <a:pPr>
              <a:defRPr sz="2025" b="0">
                <a:solidFill>
                  <a:srgbClr val="183B32"/>
                </a:solidFill>
                <a:latin typeface="Noto Sans"/>
                <a:ea typeface="Noto Sans"/>
                <a:cs typeface="Noto Sans"/>
              </a:defRPr>
            </a:pPr>
            <a:r>
              <a:rPr sz="2025" b="0">
                <a:solidFill>
                  <a:srgbClr val="183B32"/>
                </a:solidFill>
                <a:latin typeface="Noto Sans"/>
                <a:ea typeface="Noto Sans"/>
                <a:cs typeface="Noto Sans"/>
              </a:rPr>
              <a:t>Интервалы по регионам условны на этих данных.</a:t>
            </a:r>
          </a:p>
        </p:txBody>
      </p:sp>
      <p:sp>
        <p:nvSpPr>
          <p:cNvPr id="5" name="">
            <a:extLst xmlns:a="http://schemas.openxmlformats.org/drawingml/2006/main">
              <a:ext uri="{FF2B5EF4-FFF2-40B4-BE49-F238E27FC236}">
                <a16:creationId xmlns:a16="http://schemas.microsoft.com/office/drawing/2014/main" id="{C095524A-C5D4-4288-ADBC-9D36EB368ABA}"/>
              </a:ext>
            </a:extLst>
          </p:cNvPr>
          <p:cNvSpPr>
            <a:spLocks xmlns:a="http://schemas.openxmlformats.org/drawingml/2006/main" noGrp="1"/>
          </p:cNvSpPr>
          <p:nvPr/>
        </p:nvSpPr>
        <p:spPr>
          <a:xfrm xmlns:a="http://schemas.openxmlformats.org/drawingml/2006/main">
            <a:off x="609600" y="3486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83B32"/>
                </a:solidFill>
                <a:latin typeface="Noto Sans"/>
                <a:ea typeface="Noto Sans"/>
                <a:cs typeface="Noto Sans"/>
              </a:defRPr>
            </a:pPr>
            <a:r>
              <a:rPr sz="2250" b="1">
                <a:solidFill>
                  <a:srgbClr val="183B32"/>
                </a:solidFill>
                <a:latin typeface="Noto Sans"/>
                <a:ea typeface="Noto Sans"/>
                <a:cs typeface="Noto Sans"/>
              </a:rPr>
              <a:t>Ограничения детекции и внешних источников</a:t>
            </a:r>
          </a:p>
        </p:txBody>
      </p:sp>
      <p:sp>
        <p:nvSpPr>
          <p:cNvPr id="6" name="">
            <a:extLst xmlns:a="http://schemas.openxmlformats.org/drawingml/2006/main">
              <a:ext uri="{FF2B5EF4-FFF2-40B4-BE49-F238E27FC236}">
                <a16:creationId xmlns:a16="http://schemas.microsoft.com/office/drawing/2014/main" id="{4FAB9B74-4E52-4F48-8FF5-6239F27943A0}"/>
              </a:ext>
            </a:extLst>
          </p:cNvPr>
          <p:cNvSpPr>
            <a:spLocks xmlns:a="http://schemas.openxmlformats.org/drawingml/2006/main" noGrp="1"/>
          </p:cNvSpPr>
          <p:nvPr/>
        </p:nvSpPr>
        <p:spPr>
          <a:xfrm xmlns:a="http://schemas.openxmlformats.org/drawingml/2006/main">
            <a:off x="609600" y="4133850"/>
            <a:ext cx="109728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2706C"/>
                </a:solidFill>
                <a:latin typeface="Noto Sans"/>
                <a:ea typeface="Noto Sans"/>
                <a:cs typeface="Noto Sans"/>
              </a:defRPr>
            </a:pPr>
            <a:r>
              <a:rPr sz="1875" b="0">
                <a:solidFill>
                  <a:srgbClr val="62706C"/>
                </a:solidFill>
                <a:latin typeface="Noto Sans"/>
                <a:ea typeface="Noto Sans"/>
                <a:cs typeface="Noto Sans"/>
              </a:rPr>
              <a:t>В реальной панели шоки не размечены; частота ложных тревог неизвестна.</a:t>
            </a:r>
          </a:p>
          <a:p xmlns:a="http://schemas.openxmlformats.org/drawingml/2006/main">
            <a:pPr>
              <a:defRPr sz="1875" b="0">
                <a:solidFill>
                  <a:srgbClr val="62706C"/>
                </a:solidFill>
                <a:latin typeface="Noto Sans"/>
                <a:ea typeface="Noto Sans"/>
                <a:cs typeface="Noto Sans"/>
              </a:defRPr>
            </a:pPr>
            <a:r>
              <a:rPr sz="1875" b="0">
                <a:solidFill>
                  <a:srgbClr val="62706C"/>
                </a:solidFill>
                <a:latin typeface="Noto Sans"/>
                <a:ea typeface="Noto Sans"/>
                <a:cs typeface="Noto Sans"/>
              </a:rPr>
              <a:t>Расходные интервалы примеров иллюстративны.</a:t>
            </a:r>
          </a:p>
          <a:p xmlns:a="http://schemas.openxmlformats.org/drawingml/2006/main">
            <a:pPr>
              <a:defRPr sz="1875" b="0">
                <a:solidFill>
                  <a:srgbClr val="62706C"/>
                </a:solidFill>
                <a:latin typeface="Noto Sans"/>
                <a:ea typeface="Noto Sans"/>
                <a:cs typeface="Noto Sans"/>
              </a:defRPr>
            </a:pPr>
            <a:r>
              <a:rPr sz="1875" b="0">
                <a:solidFill>
                  <a:srgbClr val="62706C"/>
                </a:solidFill>
                <a:latin typeface="Noto Sans"/>
                <a:ea typeface="Noto Sans"/>
                <a:cs typeface="Noto Sans"/>
              </a:rPr>
              <a:t>Историческая доступность источников не подтверждена.</a:t>
            </a:r>
          </a:p>
          <a:p xmlns:a="http://schemas.openxmlformats.org/drawingml/2006/main">
            <a:pPr>
              <a:defRPr sz="1875" b="0">
                <a:solidFill>
                  <a:srgbClr val="62706C"/>
                </a:solidFill>
                <a:latin typeface="Noto Sans"/>
                <a:ea typeface="Noto Sans"/>
                <a:cs typeface="Noto Sans"/>
              </a:defRPr>
            </a:pPr>
            <a:r>
              <a:rPr sz="1875" b="0">
                <a:solidFill>
                  <a:srgbClr val="62706C"/>
                </a:solidFill>
                <a:latin typeface="Noto Sans"/>
                <a:ea typeface="Noto Sans"/>
                <a:cs typeface="Noto Sans"/>
              </a:rPr>
              <a:t>Предсказание будущих реальных шоков не доказано.</a:t>
            </a:r>
          </a:p>
        </p:txBody>
      </p:sp>
    </p:spTree>
    <p:extLst>
      <p:ext uri="{BB962C8B-B14F-4D97-AF65-F5344CB8AC3E}">
        <p14:creationId xmlns:p14="http://schemas.microsoft.com/office/powerpoint/2010/main" val="1875752549"/>
      </p:ext>
    </p:extLst>
  </p:cSld>
</p:sld>
</file>

<file path=ppt/slides/slide20.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61F4F13-E108-4EF4-8DB1-E5222868AFEE}"/>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Практические выводы из исследования</a:t>
            </a:r>
          </a:p>
        </p:txBody>
      </p:sp>
      <p:sp>
        <p:nvSpPr>
          <p:cNvPr id="2" name="">
            <a:extLst xmlns:a="http://schemas.openxmlformats.org/drawingml/2006/main">
              <a:ext uri="{FF2B5EF4-FFF2-40B4-BE49-F238E27FC236}">
                <a16:creationId xmlns:a16="http://schemas.microsoft.com/office/drawing/2014/main" id="{3A3B9257-C33B-46B7-B715-A72BC46B06D1}"/>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20 / 21</a:t>
            </a:r>
          </a:p>
        </p:txBody>
      </p:sp>
      <p:sp>
        <p:nvSpPr>
          <p:cNvPr id="3" name="">
            <a:extLst xmlns:a="http://schemas.openxmlformats.org/drawingml/2006/main">
              <a:ext uri="{FF2B5EF4-FFF2-40B4-BE49-F238E27FC236}">
                <a16:creationId xmlns:a16="http://schemas.microsoft.com/office/drawing/2014/main" id="{924B5FD0-2DB6-4121-AB72-869538552E39}"/>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Результаты относятся к изученному архиву 2024. Полные условия и ограничения — в отчёте.</a:t>
            </a:r>
          </a:p>
        </p:txBody>
      </p:sp>
      <p:sp>
        <p:nvSpPr>
          <p:cNvPr id="4" name="">
            <a:extLst xmlns:a="http://schemas.openxmlformats.org/drawingml/2006/main">
              <a:ext uri="{FF2B5EF4-FFF2-40B4-BE49-F238E27FC236}">
                <a16:creationId xmlns:a16="http://schemas.microsoft.com/office/drawing/2014/main" id="{0786F892-9B85-4E89-AC97-F1E3E94FB4E9}"/>
              </a:ext>
            </a:extLst>
          </p:cNvPr>
          <p:cNvSpPr>
            <a:spLocks xmlns:a="http://schemas.openxmlformats.org/drawingml/2006/main" noGrp="1"/>
          </p:cNvSpPr>
          <p:nvPr/>
        </p:nvSpPr>
        <p:spPr>
          <a:xfrm xmlns:a="http://schemas.openxmlformats.org/drawingml/2006/main">
            <a:off x="609600" y="15049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C825D"/>
                </a:solidFill>
                <a:latin typeface="Noto Sans"/>
                <a:ea typeface="Noto Sans"/>
                <a:cs typeface="Noto Sans"/>
              </a:defRPr>
            </a:pPr>
            <a:r>
              <a:rPr sz="2100" b="1">
                <a:solidFill>
                  <a:srgbClr val="0C825D"/>
                </a:solidFill>
                <a:latin typeface="Noto Sans"/>
                <a:ea typeface="Noto Sans"/>
                <a:cs typeface="Noto Sans"/>
              </a:rPr>
              <a:t>Сезонный профиль задаёт сильный ориентир</a:t>
            </a:r>
          </a:p>
        </p:txBody>
      </p:sp>
      <p:sp>
        <p:nvSpPr>
          <p:cNvPr id="5" name="">
            <a:extLst xmlns:a="http://schemas.openxmlformats.org/drawingml/2006/main">
              <a:ext uri="{FF2B5EF4-FFF2-40B4-BE49-F238E27FC236}">
                <a16:creationId xmlns:a16="http://schemas.microsoft.com/office/drawing/2014/main" id="{8F9168BD-1838-486C-8136-0656CAC7279A}"/>
              </a:ext>
            </a:extLst>
          </p:cNvPr>
          <p:cNvSpPr>
            <a:spLocks xmlns:a="http://schemas.openxmlformats.org/drawingml/2006/main" noGrp="1"/>
          </p:cNvSpPr>
          <p:nvPr/>
        </p:nvSpPr>
        <p:spPr>
          <a:xfrm xmlns:a="http://schemas.openxmlformats.org/drawingml/2006/main">
            <a:off x="609600" y="19145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B32"/>
                </a:solidFill>
                <a:latin typeface="Noto Sans"/>
                <a:ea typeface="Noto Sans"/>
                <a:cs typeface="Noto Sans"/>
              </a:defRPr>
            </a:pPr>
            <a:r>
              <a:rPr sz="1725" b="0">
                <a:solidFill>
                  <a:srgbClr val="183B32"/>
                </a:solidFill>
                <a:latin typeface="Noto Sans"/>
                <a:ea typeface="Noto Sans"/>
                <a:cs typeface="Noto Sans"/>
              </a:rPr>
              <a:t>На всех горизонтах ошибка в 1,3–2,3 раза ниже Prophet с профилем на архиве 2024.</a:t>
            </a:r>
          </a:p>
        </p:txBody>
      </p:sp>
      <p:sp>
        <p:nvSpPr>
          <p:cNvPr id="6" name="">
            <a:extLst xmlns:a="http://schemas.openxmlformats.org/drawingml/2006/main">
              <a:ext uri="{FF2B5EF4-FFF2-40B4-BE49-F238E27FC236}">
                <a16:creationId xmlns:a16="http://schemas.microsoft.com/office/drawing/2014/main" id="{53DF27B1-70F0-4779-8DD8-403D0C20BBC2}"/>
              </a:ext>
            </a:extLst>
          </p:cNvPr>
          <p:cNvSpPr>
            <a:spLocks xmlns:a="http://schemas.openxmlformats.org/drawingml/2006/main" noGrp="1"/>
          </p:cNvSpPr>
          <p:nvPr/>
        </p:nvSpPr>
        <p:spPr>
          <a:xfrm xmlns:a="http://schemas.openxmlformats.org/drawingml/2006/main">
            <a:off x="609600" y="25146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C825D"/>
                </a:solidFill>
                <a:latin typeface="Noto Sans"/>
                <a:ea typeface="Noto Sans"/>
                <a:cs typeface="Noto Sans"/>
              </a:defRPr>
            </a:pPr>
            <a:r>
              <a:rPr sz="2100" b="1">
                <a:solidFill>
                  <a:srgbClr val="0C825D"/>
                </a:solidFill>
                <a:latin typeface="Noto Sans"/>
                <a:ea typeface="Noto Sans"/>
                <a:cs typeface="Noto Sans"/>
              </a:rPr>
              <a:t>Региональный остаток уменьшает очередь проверки</a:t>
            </a:r>
          </a:p>
        </p:txBody>
      </p:sp>
      <p:sp>
        <p:nvSpPr>
          <p:cNvPr id="7" name="">
            <a:extLst xmlns:a="http://schemas.openxmlformats.org/drawingml/2006/main">
              <a:ext uri="{FF2B5EF4-FFF2-40B4-BE49-F238E27FC236}">
                <a16:creationId xmlns:a16="http://schemas.microsoft.com/office/drawing/2014/main" id="{664C36A6-DFE3-4A82-B5E9-DB798AB9F61C}"/>
              </a:ext>
            </a:extLst>
          </p:cNvPr>
          <p:cNvSpPr>
            <a:spLocks xmlns:a="http://schemas.openxmlformats.org/drawingml/2006/main" noGrp="1"/>
          </p:cNvSpPr>
          <p:nvPr/>
        </p:nvSpPr>
        <p:spPr>
          <a:xfrm xmlns:a="http://schemas.openxmlformats.org/drawingml/2006/main">
            <a:off x="609600" y="29241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B32"/>
                </a:solidFill>
                <a:latin typeface="Noto Sans"/>
                <a:ea typeface="Noto Sans"/>
                <a:cs typeface="Noto Sans"/>
              </a:defRPr>
            </a:pPr>
            <a:r>
              <a:rPr sz="1725" b="0">
                <a:solidFill>
                  <a:srgbClr val="183B32"/>
                </a:solidFill>
                <a:latin typeface="Noto Sans"/>
                <a:ea typeface="Noto Sans"/>
                <a:cs typeface="Noto Sans"/>
              </a:rPr>
              <a:t>0,597 → 0,075 эпизода / 100 МО-месяцев. Орск: 16-е место из 2012, без тревоги.</a:t>
            </a:r>
          </a:p>
        </p:txBody>
      </p:sp>
      <p:sp>
        <p:nvSpPr>
          <p:cNvPr id="8" name="">
            <a:extLst xmlns:a="http://schemas.openxmlformats.org/drawingml/2006/main">
              <a:ext uri="{FF2B5EF4-FFF2-40B4-BE49-F238E27FC236}">
                <a16:creationId xmlns:a16="http://schemas.microsoft.com/office/drawing/2014/main" id="{5397F54C-E8B0-4A3D-A23B-040EFBA5793B}"/>
              </a:ext>
            </a:extLst>
          </p:cNvPr>
          <p:cNvSpPr>
            <a:spLocks xmlns:a="http://schemas.openxmlformats.org/drawingml/2006/main" noGrp="1"/>
          </p:cNvSpPr>
          <p:nvPr/>
        </p:nvSpPr>
        <p:spPr>
          <a:xfrm xmlns:a="http://schemas.openxmlformats.org/drawingml/2006/main">
            <a:off x="609600" y="3524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C825D"/>
                </a:solidFill>
                <a:latin typeface="Noto Sans"/>
                <a:ea typeface="Noto Sans"/>
                <a:cs typeface="Noto Sans"/>
              </a:defRPr>
            </a:pPr>
            <a:r>
              <a:rPr sz="2100" b="1">
                <a:solidFill>
                  <a:srgbClr val="0C825D"/>
                </a:solidFill>
                <a:latin typeface="Noto Sans"/>
                <a:ea typeface="Noto Sans"/>
                <a:cs typeface="Noto Sans"/>
              </a:rPr>
              <a:t>Foundation-моделям помогает сезонное отношение</a:t>
            </a:r>
          </a:p>
        </p:txBody>
      </p:sp>
      <p:sp>
        <p:nvSpPr>
          <p:cNvPr id="9" name="">
            <a:extLst xmlns:a="http://schemas.openxmlformats.org/drawingml/2006/main">
              <a:ext uri="{FF2B5EF4-FFF2-40B4-BE49-F238E27FC236}">
                <a16:creationId xmlns:a16="http://schemas.microsoft.com/office/drawing/2014/main" id="{B6BC158A-D639-40E7-8BE8-F4252F818B05}"/>
              </a:ext>
            </a:extLst>
          </p:cNvPr>
          <p:cNvSpPr>
            <a:spLocks xmlns:a="http://schemas.openxmlformats.org/drawingml/2006/main" noGrp="1"/>
          </p:cNvSpPr>
          <p:nvPr/>
        </p:nvSpPr>
        <p:spPr>
          <a:xfrm xmlns:a="http://schemas.openxmlformats.org/drawingml/2006/main">
            <a:off x="609600" y="3933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B32"/>
                </a:solidFill>
                <a:latin typeface="Noto Sans"/>
                <a:ea typeface="Noto Sans"/>
                <a:cs typeface="Noto Sans"/>
              </a:defRPr>
            </a:pPr>
            <a:r>
              <a:rPr sz="1725" b="0">
                <a:solidFill>
                  <a:srgbClr val="183B32"/>
                </a:solidFill>
                <a:latin typeface="Noto Sans"/>
                <a:ea typeface="Noto Sans"/>
                <a:cs typeface="Noto Sans"/>
              </a:rPr>
              <a:t>TimesFM h1: −45% к zero-shot, но выбранная модель остаётся точнее.</a:t>
            </a:r>
          </a:p>
        </p:txBody>
      </p:sp>
      <p:sp>
        <p:nvSpPr>
          <p:cNvPr id="10" name="">
            <a:extLst xmlns:a="http://schemas.openxmlformats.org/drawingml/2006/main">
              <a:ext uri="{FF2B5EF4-FFF2-40B4-BE49-F238E27FC236}">
                <a16:creationId xmlns:a16="http://schemas.microsoft.com/office/drawing/2014/main" id="{411BDE14-F524-4B6C-B1B2-5E8AB01E17CD}"/>
              </a:ext>
            </a:extLst>
          </p:cNvPr>
          <p:cNvSpPr>
            <a:spLocks xmlns:a="http://schemas.openxmlformats.org/drawingml/2006/main" noGrp="1"/>
          </p:cNvSpPr>
          <p:nvPr/>
        </p:nvSpPr>
        <p:spPr>
          <a:xfrm xmlns:a="http://schemas.openxmlformats.org/drawingml/2006/main">
            <a:off x="609600" y="45339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C825D"/>
                </a:solidFill>
                <a:latin typeface="Noto Sans"/>
                <a:ea typeface="Noto Sans"/>
                <a:cs typeface="Noto Sans"/>
              </a:defRPr>
            </a:pPr>
            <a:r>
              <a:rPr sz="2100" b="1">
                <a:solidFill>
                  <a:srgbClr val="0C825D"/>
                </a:solidFill>
                <a:latin typeface="Noto Sans"/>
                <a:ea typeface="Noto Sans"/>
                <a:cs typeface="Noto Sans"/>
              </a:rPr>
              <a:t>Рост следует проверять отдельно по категориям</a:t>
            </a:r>
          </a:p>
        </p:txBody>
      </p:sp>
      <p:sp>
        <p:nvSpPr>
          <p:cNvPr id="11" name="">
            <a:extLst xmlns:a="http://schemas.openxmlformats.org/drawingml/2006/main">
              <a:ext uri="{FF2B5EF4-FFF2-40B4-BE49-F238E27FC236}">
                <a16:creationId xmlns:a16="http://schemas.microsoft.com/office/drawing/2014/main" id="{C4B0B57F-876F-4E34-8DFE-793AD382D064}"/>
              </a:ext>
            </a:extLst>
          </p:cNvPr>
          <p:cNvSpPr>
            <a:spLocks xmlns:a="http://schemas.openxmlformats.org/drawingml/2006/main" noGrp="1"/>
          </p:cNvSpPr>
          <p:nvPr/>
        </p:nvSpPr>
        <p:spPr>
          <a:xfrm xmlns:a="http://schemas.openxmlformats.org/drawingml/2006/main">
            <a:off x="609600" y="49434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3B32"/>
                </a:solidFill>
                <a:latin typeface="Noto Sans"/>
                <a:ea typeface="Noto Sans"/>
                <a:cs typeface="Noto Sans"/>
              </a:defRPr>
            </a:pPr>
            <a:r>
              <a:rPr sz="1725" b="0">
                <a:solidFill>
                  <a:srgbClr val="183B32"/>
                </a:solidFill>
                <a:latin typeface="Noto Sans"/>
                <a:ea typeface="Noto Sans"/>
                <a:cs typeface="Noto Sans"/>
              </a:rPr>
              <a:t>Маркетплейсы: общая формула проигрывает на h3 / h6 / h12.</a:t>
            </a:r>
          </a:p>
        </p:txBody>
      </p:sp>
      <p:sp>
        <p:nvSpPr>
          <p:cNvPr id="12" name="">
            <a:extLst xmlns:a="http://schemas.openxmlformats.org/drawingml/2006/main">
              <a:ext uri="{FF2B5EF4-FFF2-40B4-BE49-F238E27FC236}">
                <a16:creationId xmlns:a16="http://schemas.microsoft.com/office/drawing/2014/main" id="{AC7A821E-482B-46AF-BCD7-9D1954536683}"/>
              </a:ext>
            </a:extLst>
          </p:cNvPr>
          <p:cNvSpPr>
            <a:spLocks xmlns:a="http://schemas.openxmlformats.org/drawingml/2006/main" noGrp="1"/>
          </p:cNvSpPr>
          <p:nvPr/>
        </p:nvSpPr>
        <p:spPr>
          <a:xfrm xmlns:a="http://schemas.openxmlformats.org/drawingml/2006/main">
            <a:off x="609600" y="561022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2706C"/>
                </a:solidFill>
                <a:latin typeface="Noto Sans"/>
                <a:ea typeface="Noto Sans"/>
                <a:cs typeface="Noto Sans"/>
              </a:defRPr>
            </a:pPr>
            <a:r>
              <a:rPr sz="1500" b="0">
                <a:solidFill>
                  <a:srgbClr val="62706C"/>
                </a:solidFill>
                <a:latin typeface="Noto Sans"/>
                <a:ea typeface="Noto Sans"/>
                <a:cs typeface="Noto Sans"/>
              </a:rPr>
              <a:t>Начать: README → критерий → доказательство → python3.12 run_review.py --mode verify</a:t>
            </a:r>
          </a:p>
        </p:txBody>
      </p:sp>
    </p:spTree>
    <p:extLst>
      <p:ext uri="{BB962C8B-B14F-4D97-AF65-F5344CB8AC3E}">
        <p14:creationId xmlns:p14="http://schemas.microsoft.com/office/powerpoint/2010/main" val="1862473702"/>
      </p:ext>
    </p:extLst>
  </p:cSld>
</p:sld>
</file>

<file path=ppt/slides/slide21.xml><?xml version="1.0" encoding="utf-8"?>
<p:sld xmlns:p="http://schemas.openxmlformats.org/presentationml/2006/main">
  <p:cSld>
    <p:bg>
      <p:bgPr>
        <a:solidFill xmlns:a="http://schemas.openxmlformats.org/drawingml/2006/main">
          <a:srgbClr val="FAFC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AC57EE7-86C0-45FC-BD8C-CB68CB1E61E5}"/>
              </a:ext>
            </a:extLst>
          </p:cNvPr>
          <p:cNvSpPr>
            <a:spLocks xmlns:a="http://schemas.openxmlformats.org/drawingml/2006/main" noGrp="1"/>
          </p:cNvSpPr>
          <p:nvPr/>
        </p:nvSpPr>
        <p:spPr>
          <a:xfrm xmlns:a="http://schemas.openxmlformats.org/drawingml/2006/main">
            <a:off x="609600" y="381000"/>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83B32"/>
                </a:solidFill>
                <a:latin typeface="Noto Sans"/>
                <a:ea typeface="Noto Sans"/>
                <a:cs typeface="Noto Sans"/>
              </a:defRPr>
            </a:pPr>
            <a:r>
              <a:rPr sz="3300" b="1">
                <a:solidFill>
                  <a:srgbClr val="183B32"/>
                </a:solidFill>
                <a:latin typeface="Noto Sans"/>
                <a:ea typeface="Noto Sans"/>
                <a:cs typeface="Noto Sans"/>
              </a:rPr>
              <a:t>Приложение: накопительный сигнал</a:t>
            </a:r>
          </a:p>
        </p:txBody>
      </p:sp>
      <p:sp>
        <p:nvSpPr>
          <p:cNvPr id="2" name="">
            <a:extLst xmlns:a="http://schemas.openxmlformats.org/drawingml/2006/main">
              <a:ext uri="{FF2B5EF4-FFF2-40B4-BE49-F238E27FC236}">
                <a16:creationId xmlns:a16="http://schemas.microsoft.com/office/drawing/2014/main" id="{C3E881ED-2C7D-4A41-80A2-0FA23E68B377}"/>
              </a:ext>
            </a:extLst>
          </p:cNvPr>
          <p:cNvSpPr>
            <a:spLocks xmlns:a="http://schemas.openxmlformats.org/drawingml/2006/main" noGrp="1"/>
          </p:cNvSpPr>
          <p:nvPr/>
        </p:nvSpPr>
        <p:spPr>
          <a:xfrm xmlns:a="http://schemas.openxmlformats.org/drawingml/2006/main">
            <a:off x="10763250" y="6362700"/>
            <a:ext cx="819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06C"/>
                </a:solidFill>
                <a:latin typeface="Noto Sans"/>
                <a:ea typeface="Noto Sans"/>
                <a:cs typeface="Noto Sans"/>
              </a:defRPr>
            </a:pPr>
            <a:r>
              <a:rPr sz="1275" b="0">
                <a:solidFill>
                  <a:srgbClr val="62706C"/>
                </a:solidFill>
                <a:latin typeface="Noto Sans"/>
                <a:ea typeface="Noto Sans"/>
                <a:cs typeface="Noto Sans"/>
              </a:rPr>
              <a:t>21 / 21</a:t>
            </a:r>
          </a:p>
        </p:txBody>
      </p:sp>
      <p:sp>
        <p:nvSpPr>
          <p:cNvPr id="3" name="">
            <a:extLst xmlns:a="http://schemas.openxmlformats.org/drawingml/2006/main">
              <a:ext uri="{FF2B5EF4-FFF2-40B4-BE49-F238E27FC236}">
                <a16:creationId xmlns:a16="http://schemas.microsoft.com/office/drawing/2014/main" id="{33B8B9D6-1B71-4DA0-8D04-9E96A68F5992}"/>
              </a:ext>
            </a:extLst>
          </p:cNvPr>
          <p:cNvSpPr>
            <a:spLocks xmlns:a="http://schemas.openxmlformats.org/drawingml/2006/main" noGrp="1"/>
          </p:cNvSpPr>
          <p:nvPr/>
        </p:nvSpPr>
        <p:spPr>
          <a:xfrm xmlns:a="http://schemas.openxmlformats.org/drawingml/2006/main">
            <a:off x="609600" y="5895975"/>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06C"/>
                </a:solidFill>
                <a:latin typeface="Noto Sans"/>
                <a:ea typeface="Noto Sans"/>
                <a:cs typeface="Noto Sans"/>
              </a:defRPr>
            </a:pPr>
            <a:r>
              <a:rPr sz="1425" b="0">
                <a:solidFill>
                  <a:srgbClr val="62706C"/>
                </a:solidFill>
                <a:latin typeface="Noto Sans"/>
                <a:ea typeface="Noto Sans"/>
                <a:cs typeface="Noto Sans"/>
              </a:rPr>
              <a:t>Апрель–декабрь 2024. Центр и порог по январю–марту; случаи уже были известны при разработке гипотезы.</a:t>
            </a:r>
          </a:p>
        </p:txBody>
      </p:sp>
      <p:graphicFrame>
        <p:nvGraphicFramePr>
          <p:cNvPr id="10" name=""/>
          <p:cNvGraphicFramePr/>
          <p:nvPr/>
        </p:nvGraphicFramePr>
        <p:xfrm>
          <a:off xmlns:a="http://schemas.openxmlformats.org/drawingml/2006/main" x="609600" y="1619250"/>
          <a:ext xmlns:a="http://schemas.openxmlformats.org/drawingml/2006/main" cx="10972800" cy="2047875"/>
        </p:xfrm>
        <a:graphic xmlns:a="http://schemas.openxmlformats.org/drawingml/2006/main">
          <a:graphicData uri="http://schemas.openxmlformats.org/drawingml/2006/table">
            <a:tbl>
              <a:tblPr firstRow="1" bandRow="0"/>
              <a:tblGrid>
                <a:gridCol w="3333750"/>
                <a:gridCol w="2333625"/>
                <a:gridCol w="3048000"/>
                <a:gridCol w="2257425"/>
              </a:tblGrid>
              <a:tr h="682625">
                <a:tc>
                  <a:txBody>
                    <a:bodyPr/>
                    <a:lstStyle/>
                    <a:p>
                      <a:r>
                        <a:rPr sz="2025" b="1">
                          <a:solidFill>
                            <a:srgbClr val="FFFFFF"/>
                          </a:solidFill>
                          <a:latin typeface="Noto Sans"/>
                          <a:ea typeface="Noto Sans"/>
                          <a:cs typeface="Noto Sans"/>
                        </a:rPr>
                        <a:t>Метод</a:t>
                      </a:r>
                    </a:p>
                  </a:txBody>
                  <a:tcPr marL="91440" marR="91440" marT="45720" marB="45720">
                    <a:solidFill>
                      <a:srgbClr val="183B32"/>
                    </a:solidFill>
                  </a:tcPr>
                </a:tc>
                <a:tc>
                  <a:txBody>
                    <a:bodyPr/>
                    <a:lstStyle/>
                    <a:p>
                      <a:r>
                        <a:rPr sz="2025" b="1">
                          <a:solidFill>
                            <a:srgbClr val="FFFFFF"/>
                          </a:solidFill>
                          <a:latin typeface="Noto Sans"/>
                          <a:ea typeface="Noto Sans"/>
                          <a:cs typeface="Noto Sans"/>
                        </a:rPr>
                        <a:t>МО-месяцы</a:t>
                      </a:r>
                    </a:p>
                  </a:txBody>
                  <a:tcPr marL="91440" marR="91440" marT="45720" marB="45720">
                    <a:solidFill>
                      <a:srgbClr val="183B32"/>
                    </a:solidFill>
                  </a:tcPr>
                </a:tc>
                <a:tc>
                  <a:txBody>
                    <a:bodyPr/>
                    <a:lstStyle/>
                    <a:p>
                      <a:r>
                        <a:rPr sz="2025" b="1">
                          <a:solidFill>
                            <a:srgbClr val="FFFFFF"/>
                          </a:solidFill>
                          <a:latin typeface="Noto Sans"/>
                          <a:ea typeface="Noto Sans"/>
                          <a:cs typeface="Noto Sans"/>
                        </a:rPr>
                        <a:t>Тревожные месяцы</a:t>
                      </a:r>
                    </a:p>
                  </a:txBody>
                  <a:tcPr marL="91440" marR="91440" marT="45720" marB="45720">
                    <a:solidFill>
                      <a:srgbClr val="183B32"/>
                    </a:solidFill>
                  </a:tcPr>
                </a:tc>
                <a:tc>
                  <a:txBody>
                    <a:bodyPr/>
                    <a:lstStyle/>
                    <a:p>
                      <a:r>
                        <a:rPr sz="2025" b="1">
                          <a:solidFill>
                            <a:srgbClr val="FFFFFF"/>
                          </a:solidFill>
                          <a:latin typeface="Noto Sans"/>
                          <a:ea typeface="Noto Sans"/>
                          <a:cs typeface="Noto Sans"/>
                        </a:rPr>
                        <a:t>Доля, %</a:t>
                      </a:r>
                    </a:p>
                  </a:txBody>
                  <a:tcPr marL="91440" marR="91440" marT="45720" marB="45720">
                    <a:solidFill>
                      <a:srgbClr val="183B32"/>
                    </a:solidFill>
                  </a:tcPr>
                </a:tc>
              </a:tr>
              <a:tr h="682625">
                <a:tc>
                  <a:txBody>
                    <a:bodyPr/>
                    <a:lstStyle/>
                    <a:p>
                      <a:r>
                        <a:rPr sz="2025" b="0">
                          <a:solidFill>
                            <a:srgbClr val="183B32"/>
                          </a:solidFill>
                          <a:latin typeface="Noto Sans"/>
                          <a:ea typeface="Noto Sans"/>
                          <a:cs typeface="Noto Sans"/>
                        </a:rPr>
                        <a:t>CUSUM</a:t>
                      </a:r>
                    </a:p>
                  </a:txBody>
                  <a:tcPr marL="91440" marR="91440" marT="45720" marB="45720">
                    <a:solidFill>
                      <a:srgbClr val="F0F6F1"/>
                    </a:solidFill>
                  </a:tcPr>
                </a:tc>
                <a:tc>
                  <a:txBody>
                    <a:bodyPr/>
                    <a:lstStyle/>
                    <a:p>
                      <a:r>
                        <a:rPr sz="2025" b="0">
                          <a:solidFill>
                            <a:srgbClr val="183B32"/>
                          </a:solidFill>
                          <a:latin typeface="Noto Sans"/>
                          <a:ea typeface="Noto Sans"/>
                          <a:cs typeface="Noto Sans"/>
                        </a:rPr>
                        <a:t>18 201</a:t>
                      </a:r>
                    </a:p>
                  </a:txBody>
                  <a:tcPr marL="91440" marR="91440" marT="45720" marB="45720">
                    <a:solidFill>
                      <a:srgbClr val="F0F6F1"/>
                    </a:solidFill>
                  </a:tcPr>
                </a:tc>
                <a:tc>
                  <a:txBody>
                    <a:bodyPr/>
                    <a:lstStyle/>
                    <a:p>
                      <a:r>
                        <a:rPr sz="2025" b="0">
                          <a:solidFill>
                            <a:srgbClr val="183B32"/>
                          </a:solidFill>
                          <a:latin typeface="Noto Sans"/>
                          <a:ea typeface="Noto Sans"/>
                          <a:cs typeface="Noto Sans"/>
                        </a:rPr>
                        <a:t>8 819</a:t>
                      </a:r>
                    </a:p>
                  </a:txBody>
                  <a:tcPr marL="91440" marR="91440" marT="45720" marB="45720">
                    <a:solidFill>
                      <a:srgbClr val="F0F6F1"/>
                    </a:solidFill>
                  </a:tcPr>
                </a:tc>
                <a:tc>
                  <a:txBody>
                    <a:bodyPr/>
                    <a:lstStyle/>
                    <a:p>
                      <a:r>
                        <a:rPr sz="2025" b="0">
                          <a:solidFill>
                            <a:srgbClr val="183B32"/>
                          </a:solidFill>
                          <a:latin typeface="Noto Sans"/>
                          <a:ea typeface="Noto Sans"/>
                          <a:cs typeface="Noto Sans"/>
                        </a:rPr>
                        <a:t>48.45</a:t>
                      </a:r>
                    </a:p>
                  </a:txBody>
                  <a:tcPr marL="91440" marR="91440" marT="45720" marB="45720">
                    <a:solidFill>
                      <a:srgbClr val="F0F6F1"/>
                    </a:solidFill>
                  </a:tcPr>
                </a:tc>
              </a:tr>
              <a:tr h="682625">
                <a:tc>
                  <a:txBody>
                    <a:bodyPr/>
                    <a:lstStyle/>
                    <a:p>
                      <a:r>
                        <a:rPr sz="2025" b="0">
                          <a:solidFill>
                            <a:srgbClr val="183B32"/>
                          </a:solidFill>
                          <a:latin typeface="Noto Sans"/>
                          <a:ea typeface="Noto Sans"/>
                          <a:cs typeface="Noto Sans"/>
                        </a:rPr>
                        <a:t>EWMA</a:t>
                      </a:r>
                    </a:p>
                  </a:txBody>
                  <a:tcPr marL="91440" marR="91440" marT="45720" marB="45720">
                    <a:solidFill>
                      <a:srgbClr val="FFFFFF"/>
                    </a:solidFill>
                  </a:tcPr>
                </a:tc>
                <a:tc>
                  <a:txBody>
                    <a:bodyPr/>
                    <a:lstStyle/>
                    <a:p>
                      <a:r>
                        <a:rPr sz="2025" b="0">
                          <a:solidFill>
                            <a:srgbClr val="183B32"/>
                          </a:solidFill>
                          <a:latin typeface="Noto Sans"/>
                          <a:ea typeface="Noto Sans"/>
                          <a:cs typeface="Noto Sans"/>
                        </a:rPr>
                        <a:t>18 201</a:t>
                      </a:r>
                    </a:p>
                  </a:txBody>
                  <a:tcPr marL="91440" marR="91440" marT="45720" marB="45720">
                    <a:solidFill>
                      <a:srgbClr val="FFFFFF"/>
                    </a:solidFill>
                  </a:tcPr>
                </a:tc>
                <a:tc>
                  <a:txBody>
                    <a:bodyPr/>
                    <a:lstStyle/>
                    <a:p>
                      <a:r>
                        <a:rPr sz="2025" b="0">
                          <a:solidFill>
                            <a:srgbClr val="183B32"/>
                          </a:solidFill>
                          <a:latin typeface="Noto Sans"/>
                          <a:ea typeface="Noto Sans"/>
                          <a:cs typeface="Noto Sans"/>
                        </a:rPr>
                        <a:t>6 656</a:t>
                      </a:r>
                    </a:p>
                  </a:txBody>
                  <a:tcPr marL="91440" marR="91440" marT="45720" marB="45720">
                    <a:solidFill>
                      <a:srgbClr val="FFFFFF"/>
                    </a:solidFill>
                  </a:tcPr>
                </a:tc>
                <a:tc>
                  <a:txBody>
                    <a:bodyPr/>
                    <a:lstStyle/>
                    <a:p>
                      <a:r>
                        <a:rPr sz="2025" b="0">
                          <a:solidFill>
                            <a:srgbClr val="183B32"/>
                          </a:solidFill>
                          <a:latin typeface="Noto Sans"/>
                          <a:ea typeface="Noto Sans"/>
                          <a:cs typeface="Noto Sans"/>
                        </a:rPr>
                        <a:t>36.57</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9BA61B4-B235-4F4A-9885-9A44927FCF91}"/>
              </a:ext>
            </a:extLst>
          </p:cNvPr>
          <p:cNvSpPr>
            <a:spLocks xmlns:a="http://schemas.openxmlformats.org/drawingml/2006/main" noGrp="1"/>
          </p:cNvSpPr>
          <p:nvPr/>
        </p:nvSpPr>
        <p:spPr>
          <a:xfrm xmlns:a="http://schemas.openxmlformats.org/drawingml/2006/main">
            <a:off x="609600" y="4095750"/>
            <a:ext cx="10972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C825D"/>
                </a:solidFill>
                <a:latin typeface="Noto Sans"/>
                <a:ea typeface="Noto Sans"/>
                <a:cs typeface="Noto Sans"/>
              </a:defRPr>
            </a:pPr>
            <a:r>
              <a:rPr sz="2100" b="1">
                <a:solidFill>
                  <a:srgbClr val="0C825D"/>
                </a:solidFill>
                <a:latin typeface="Noto Sans"/>
                <a:ea typeface="Noto Sans"/>
                <a:cs typeface="Noto Sans"/>
              </a:rPr>
              <a:t>Сигнал: годовой рост МО относительно других МО региона</a:t>
            </a:r>
          </a:p>
          <a:p xmlns:a="http://schemas.openxmlformats.org/drawingml/2006/main">
            <a:pPr>
              <a:defRPr sz="2100" b="1">
                <a:solidFill>
                  <a:srgbClr val="0C825D"/>
                </a:solidFill>
                <a:latin typeface="Noto Sans"/>
                <a:ea typeface="Noto Sans"/>
                <a:cs typeface="Noto Sans"/>
              </a:defRPr>
            </a:pPr>
            <a:r>
              <a:rPr sz="2100" b="1">
                <a:solidFill>
                  <a:srgbClr val="0C825D"/>
                </a:solidFill>
                <a:latin typeface="Noto Sans"/>
                <a:ea typeface="Noto Sans"/>
                <a:cs typeface="Noto Sans"/>
              </a:rPr>
              <a:t>Слишком высокая нагрузка для замены основного детектора</a:t>
            </a:r>
          </a:p>
        </p:txBody>
      </p:sp>
      <p:sp>
        <p:nvSpPr>
          <p:cNvPr id="6" name="">
            <a:extLst xmlns:a="http://schemas.openxmlformats.org/drawingml/2006/main">
              <a:ext uri="{FF2B5EF4-FFF2-40B4-BE49-F238E27FC236}">
                <a16:creationId xmlns:a16="http://schemas.microsoft.com/office/drawing/2014/main" id="{8D900C55-A55A-4444-895D-66E8F8EC73A8}"/>
              </a:ext>
            </a:extLst>
          </p:cNvPr>
          <p:cNvSpPr>
            <a:spLocks xmlns:a="http://schemas.openxmlformats.org/drawingml/2006/main" noGrp="1"/>
          </p:cNvSpPr>
          <p:nvPr/>
        </p:nvSpPr>
        <p:spPr>
          <a:xfrm xmlns:a="http://schemas.openxmlformats.org/drawingml/2006/main">
            <a:off x="609600" y="52387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83B32"/>
                </a:solidFill>
                <a:latin typeface="Noto Sans"/>
                <a:ea typeface="Noto Sans"/>
                <a:cs typeface="Noto Sans"/>
              </a:defRPr>
            </a:pPr>
            <a:r>
              <a:rPr sz="2025" b="0">
                <a:solidFill>
                  <a:srgbClr val="183B32"/>
                </a:solidFill>
                <a:latin typeface="Noto Sans"/>
                <a:ea typeface="Noto Sans"/>
                <a:cs typeface="Noto Sans"/>
              </a:rPr>
              <a:t>Для проверки отдельных МО готов локальный интерфейс</a:t>
            </a:r>
          </a:p>
          <a:p xmlns:a="http://schemas.openxmlformats.org/drawingml/2006/main">
            <a:pPr>
              <a:defRPr sz="2025" b="0">
                <a:solidFill>
                  <a:srgbClr val="183B32"/>
                </a:solidFill>
                <a:latin typeface="Noto Sans"/>
                <a:ea typeface="Noto Sans"/>
                <a:cs typeface="Noto Sans"/>
              </a:defRPr>
            </a:pPr>
            <a:r>
              <a:rPr sz="2025" b="0">
                <a:solidFill>
                  <a:srgbClr val="183B32"/>
                </a:solidFill>
                <a:latin typeface="Noto Sans"/>
                <a:ea typeface="Noto Sans"/>
                <a:cs typeface="Noto Sans"/>
              </a:rPr>
              <a:t>Расходы, прогноз, интервалы, очередь тревог и источники</a:t>
            </a:r>
          </a:p>
        </p:txBody>
      </p:sp>
    </p:spTree>
    <p:extLst>
      <p:ext uri="{BB962C8B-B14F-4D97-AF65-F5344CB8AC3E}">
        <p14:creationId xmlns:p14="http://schemas.microsoft.com/office/powerpoint/2010/main" val="20837662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2026-10-08T16:55:41.2380000Z</dcterms:created>
  <dcterms:modified xsi:type="dcterms:W3CDTF">2026-10-08T16:55:41.2380000Z</dcterms:modified>
</coreProperties>
</file>